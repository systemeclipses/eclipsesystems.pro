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18"/>
  </p:notesMasterIdLst>
  <p:sldIdLst>
    <p:sldId id="270" r:id="rId5"/>
    <p:sldId id="257" r:id="rId6"/>
    <p:sldId id="261" r:id="rId7"/>
    <p:sldId id="258" r:id="rId8"/>
    <p:sldId id="268" r:id="rId9"/>
    <p:sldId id="262" r:id="rId10"/>
    <p:sldId id="266" r:id="rId11"/>
    <p:sldId id="263" r:id="rId12"/>
    <p:sldId id="267" r:id="rId13"/>
    <p:sldId id="259" r:id="rId14"/>
    <p:sldId id="265" r:id="rId15"/>
    <p:sldId id="269"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CCED"/>
    <a:srgbClr val="005791"/>
    <a:srgbClr val="FFD106"/>
    <a:srgbClr val="FFB600"/>
    <a:srgbClr val="63ADF2"/>
    <a:srgbClr val="000000"/>
    <a:srgbClr val="95A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19EA48-B423-440B-BF58-00F8A3D33E6C}" v="1" dt="2026-04-21T17:59:35.6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214" autoAdjust="0"/>
    <p:restoredTop sz="96247" autoAdjust="0"/>
  </p:normalViewPr>
  <p:slideViewPr>
    <p:cSldViewPr snapToGrid="0">
      <p:cViewPr varScale="1">
        <p:scale>
          <a:sx n="111" d="100"/>
          <a:sy n="111" d="100"/>
        </p:scale>
        <p:origin x="612" y="96"/>
      </p:cViewPr>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rett  Helmers" userId="ce2b81df-11ff-4384-9693-a7a9574e39e8" providerId="ADAL" clId="{60D94A44-5AFF-43D6-B6DC-59C35EE6C422}"/>
    <pc:docChg chg="custSel modSld">
      <pc:chgData name="Garrett  Helmers" userId="ce2b81df-11ff-4384-9693-a7a9574e39e8" providerId="ADAL" clId="{60D94A44-5AFF-43D6-B6DC-59C35EE6C422}" dt="2026-04-21T17:59:38.104" v="4" actId="478"/>
      <pc:docMkLst>
        <pc:docMk/>
      </pc:docMkLst>
      <pc:sldChg chg="modSp mod">
        <pc:chgData name="Garrett  Helmers" userId="ce2b81df-11ff-4384-9693-a7a9574e39e8" providerId="ADAL" clId="{60D94A44-5AFF-43D6-B6DC-59C35EE6C422}" dt="2026-04-21T16:30:27.778" v="0" actId="207"/>
        <pc:sldMkLst>
          <pc:docMk/>
          <pc:sldMk cId="32370956" sldId="258"/>
        </pc:sldMkLst>
        <pc:spChg chg="mod">
          <ac:chgData name="Garrett  Helmers" userId="ce2b81df-11ff-4384-9693-a7a9574e39e8" providerId="ADAL" clId="{60D94A44-5AFF-43D6-B6DC-59C35EE6C422}" dt="2026-04-21T16:30:27.778" v="0" actId="207"/>
          <ac:spMkLst>
            <pc:docMk/>
            <pc:sldMk cId="32370956" sldId="258"/>
            <ac:spMk id="95" creationId="{0057934A-5D89-A139-B852-F689003606A1}"/>
          </ac:spMkLst>
        </pc:spChg>
      </pc:sldChg>
      <pc:sldChg chg="delSp modSp mod">
        <pc:chgData name="Garrett  Helmers" userId="ce2b81df-11ff-4384-9693-a7a9574e39e8" providerId="ADAL" clId="{60D94A44-5AFF-43D6-B6DC-59C35EE6C422}" dt="2026-04-21T17:59:38.104" v="4" actId="478"/>
        <pc:sldMkLst>
          <pc:docMk/>
          <pc:sldMk cId="809941635" sldId="265"/>
        </pc:sldMkLst>
        <pc:spChg chg="mod">
          <ac:chgData name="Garrett  Helmers" userId="ce2b81df-11ff-4384-9693-a7a9574e39e8" providerId="ADAL" clId="{60D94A44-5AFF-43D6-B6DC-59C35EE6C422}" dt="2026-04-21T17:51:55.805" v="2" actId="13926"/>
          <ac:spMkLst>
            <pc:docMk/>
            <pc:sldMk cId="809941635" sldId="265"/>
            <ac:spMk id="9" creationId="{A5221553-F5F4-270F-85D8-7CA0FD5D08CE}"/>
          </ac:spMkLst>
        </pc:spChg>
        <pc:grpChg chg="del">
          <ac:chgData name="Garrett  Helmers" userId="ce2b81df-11ff-4384-9693-a7a9574e39e8" providerId="ADAL" clId="{60D94A44-5AFF-43D6-B6DC-59C35EE6C422}" dt="2026-04-21T17:59:35.614" v="3" actId="165"/>
          <ac:grpSpMkLst>
            <pc:docMk/>
            <pc:sldMk cId="809941635" sldId="265"/>
            <ac:grpSpMk id="6" creationId="{9A9E069D-98AE-D506-9923-6F8AB0733F44}"/>
          </ac:grpSpMkLst>
        </pc:grpChg>
        <pc:picChg chg="mod topLvl">
          <ac:chgData name="Garrett  Helmers" userId="ce2b81df-11ff-4384-9693-a7a9574e39e8" providerId="ADAL" clId="{60D94A44-5AFF-43D6-B6DC-59C35EE6C422}" dt="2026-04-21T17:59:35.614" v="3" actId="165"/>
          <ac:picMkLst>
            <pc:docMk/>
            <pc:sldMk cId="809941635" sldId="265"/>
            <ac:picMk id="7" creationId="{E812D01E-1F50-03EA-D037-A72E21DCFF23}"/>
          </ac:picMkLst>
        </pc:picChg>
        <pc:picChg chg="del mod topLvl">
          <ac:chgData name="Garrett  Helmers" userId="ce2b81df-11ff-4384-9693-a7a9574e39e8" providerId="ADAL" clId="{60D94A44-5AFF-43D6-B6DC-59C35EE6C422}" dt="2026-04-21T17:59:38.104" v="4" actId="478"/>
          <ac:picMkLst>
            <pc:docMk/>
            <pc:sldMk cId="809941635" sldId="265"/>
            <ac:picMk id="8" creationId="{1718CB2D-895D-25D8-F318-A6300E4117C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B7458A-1596-4DD4-9090-F23FD00DB840}"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E1E7C5-AC97-438D-A469-EF2D0A680C53}" type="slidenum">
              <a:rPr lang="en-US" smtClean="0"/>
              <a:t>‹#›</a:t>
            </a:fld>
            <a:endParaRPr lang="en-US"/>
          </a:p>
        </p:txBody>
      </p:sp>
    </p:spTree>
    <p:extLst>
      <p:ext uri="{BB962C8B-B14F-4D97-AF65-F5344CB8AC3E}">
        <p14:creationId xmlns:p14="http://schemas.microsoft.com/office/powerpoint/2010/main" val="2861380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1E7C5-AC97-438D-A469-EF2D0A680C53}" type="slidenum">
              <a:rPr lang="en-US" smtClean="0"/>
              <a:t>1</a:t>
            </a:fld>
            <a:endParaRPr lang="en-US"/>
          </a:p>
        </p:txBody>
      </p:sp>
    </p:spTree>
    <p:extLst>
      <p:ext uri="{BB962C8B-B14F-4D97-AF65-F5344CB8AC3E}">
        <p14:creationId xmlns:p14="http://schemas.microsoft.com/office/powerpoint/2010/main" val="3198657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1E7C5-AC97-438D-A469-EF2D0A680C53}" type="slidenum">
              <a:rPr lang="en-US" smtClean="0"/>
              <a:t>2</a:t>
            </a:fld>
            <a:endParaRPr lang="en-US"/>
          </a:p>
        </p:txBody>
      </p:sp>
    </p:spTree>
    <p:extLst>
      <p:ext uri="{BB962C8B-B14F-4D97-AF65-F5344CB8AC3E}">
        <p14:creationId xmlns:p14="http://schemas.microsoft.com/office/powerpoint/2010/main" val="3132291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1E7C5-AC97-438D-A469-EF2D0A680C53}" type="slidenum">
              <a:rPr lang="en-US" smtClean="0"/>
              <a:t>3</a:t>
            </a:fld>
            <a:endParaRPr lang="en-US"/>
          </a:p>
        </p:txBody>
      </p:sp>
    </p:spTree>
    <p:extLst>
      <p:ext uri="{BB962C8B-B14F-4D97-AF65-F5344CB8AC3E}">
        <p14:creationId xmlns:p14="http://schemas.microsoft.com/office/powerpoint/2010/main" val="1481660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1E7C5-AC97-438D-A469-EF2D0A680C53}" type="slidenum">
              <a:rPr lang="en-US" smtClean="0"/>
              <a:t>5</a:t>
            </a:fld>
            <a:endParaRPr lang="en-US"/>
          </a:p>
        </p:txBody>
      </p:sp>
    </p:spTree>
    <p:extLst>
      <p:ext uri="{BB962C8B-B14F-4D97-AF65-F5344CB8AC3E}">
        <p14:creationId xmlns:p14="http://schemas.microsoft.com/office/powerpoint/2010/main" val="1260465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1E7C5-AC97-438D-A469-EF2D0A680C53}" type="slidenum">
              <a:rPr lang="en-US" smtClean="0"/>
              <a:t>7</a:t>
            </a:fld>
            <a:endParaRPr lang="en-US"/>
          </a:p>
        </p:txBody>
      </p:sp>
    </p:spTree>
    <p:extLst>
      <p:ext uri="{BB962C8B-B14F-4D97-AF65-F5344CB8AC3E}">
        <p14:creationId xmlns:p14="http://schemas.microsoft.com/office/powerpoint/2010/main" val="2504909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1E7C5-AC97-438D-A469-EF2D0A680C53}" type="slidenum">
              <a:rPr lang="en-US" smtClean="0"/>
              <a:t>10</a:t>
            </a:fld>
            <a:endParaRPr lang="en-US"/>
          </a:p>
        </p:txBody>
      </p:sp>
    </p:spTree>
    <p:extLst>
      <p:ext uri="{BB962C8B-B14F-4D97-AF65-F5344CB8AC3E}">
        <p14:creationId xmlns:p14="http://schemas.microsoft.com/office/powerpoint/2010/main" val="34122148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1E7C5-AC97-438D-A469-EF2D0A680C53}" type="slidenum">
              <a:rPr lang="en-US" smtClean="0"/>
              <a:t>11</a:t>
            </a:fld>
            <a:endParaRPr lang="en-US"/>
          </a:p>
        </p:txBody>
      </p:sp>
    </p:spTree>
    <p:extLst>
      <p:ext uri="{BB962C8B-B14F-4D97-AF65-F5344CB8AC3E}">
        <p14:creationId xmlns:p14="http://schemas.microsoft.com/office/powerpoint/2010/main" val="948762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E1E7C5-AC97-438D-A469-EF2D0A680C53}" type="slidenum">
              <a:rPr lang="en-US" smtClean="0"/>
              <a:t>13</a:t>
            </a:fld>
            <a:endParaRPr lang="en-US"/>
          </a:p>
        </p:txBody>
      </p:sp>
    </p:spTree>
    <p:extLst>
      <p:ext uri="{BB962C8B-B14F-4D97-AF65-F5344CB8AC3E}">
        <p14:creationId xmlns:p14="http://schemas.microsoft.com/office/powerpoint/2010/main" val="10921320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FFDDF8-9525-4F01-A479-2986403213D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2863575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FDDF8-9525-4F01-A479-2986403213D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639226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FFDDF8-9525-4F01-A479-2986403213D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3368995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FFDDF8-9525-4F01-A479-2986403213D5}"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2868489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FFDDF8-9525-4F01-A479-2986403213D5}" type="datetimeFigureOut">
              <a:rPr lang="en-US" smtClean="0"/>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123522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FFDDF8-9525-4F01-A479-2986403213D5}" type="datetimeFigureOut">
              <a:rPr lang="en-US" smtClean="0"/>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1746520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FFDDF8-9525-4F01-A479-2986403213D5}" type="datetimeFigureOut">
              <a:rPr lang="en-US" smtClean="0"/>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2514715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FFDDF8-9525-4F01-A479-2986403213D5}"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3096438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8FFDDF8-9525-4F01-A479-2986403213D5}" type="datetimeFigureOut">
              <a:rPr lang="en-US" smtClean="0"/>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2032861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FDDF8-9525-4F01-A479-2986403213D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4268205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FFDDF8-9525-4F01-A479-2986403213D5}" type="datetimeFigureOut">
              <a:rPr lang="en-US" smtClean="0"/>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254559-2506-430B-8795-45005FCC9856}" type="slidenum">
              <a:rPr lang="en-US" smtClean="0"/>
              <a:t>‹#›</a:t>
            </a:fld>
            <a:endParaRPr lang="en-US"/>
          </a:p>
        </p:txBody>
      </p:sp>
    </p:spTree>
    <p:extLst>
      <p:ext uri="{BB962C8B-B14F-4D97-AF65-F5344CB8AC3E}">
        <p14:creationId xmlns:p14="http://schemas.microsoft.com/office/powerpoint/2010/main" val="2290945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FFDDF8-9525-4F01-A479-2986403213D5}" type="datetimeFigureOut">
              <a:rPr lang="en-US" smtClean="0"/>
              <a:t>4/20/2026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254559-2506-430B-8795-45005FCC9856}" type="slidenum">
              <a:rPr lang="en-US" smtClean="0"/>
              <a:t>‹#›</a:t>
            </a:fld>
            <a:endParaRPr lang="en-US"/>
          </a:p>
        </p:txBody>
      </p:sp>
    </p:spTree>
    <p:extLst>
      <p:ext uri="{BB962C8B-B14F-4D97-AF65-F5344CB8AC3E}">
        <p14:creationId xmlns:p14="http://schemas.microsoft.com/office/powerpoint/2010/main" val="135481291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2.sv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sv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2.svg"/><Relationship Id="rId4" Type="http://schemas.openxmlformats.org/officeDocument/2006/relationships/image" Target="../media/image20.jpeg"/></Relationships>
</file>

<file path=ppt/slides/_rels/slide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2.svg"/><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sv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svg"/></Relationships>
</file>

<file path=ppt/slides/_rels/slide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 Id="rId9"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2.sv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svg"/></Relationships>
</file>

<file path=ppt/slides/_rels/slide9.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34.svg"/><Relationship Id="rId7" Type="http://schemas.openxmlformats.org/officeDocument/2006/relationships/image" Target="../media/image48.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7.svg"/><Relationship Id="rId5" Type="http://schemas.openxmlformats.org/officeDocument/2006/relationships/image" Target="../media/image46.svg"/><Relationship Id="rId4" Type="http://schemas.openxmlformats.org/officeDocument/2006/relationships/image" Target="../media/image45.svg"/></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51.png"/><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svg"/><Relationship Id="rId5" Type="http://schemas.openxmlformats.org/officeDocument/2006/relationships/image" Target="../media/image54.png"/><Relationship Id="rId4" Type="http://schemas.openxmlformats.org/officeDocument/2006/relationships/image" Target="../media/image53.png"/></Relationships>
</file>

<file path=ppt/slides/_rels/slide1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31.sv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56.png"/></Relationships>
</file>

<file path=ppt/slides/_rels/slide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Freeform: Shape 73">
            <a:extLst>
              <a:ext uri="{FF2B5EF4-FFF2-40B4-BE49-F238E27FC236}">
                <a16:creationId xmlns:a16="http://schemas.microsoft.com/office/drawing/2014/main" id="{4090C0AF-D0F3-A25A-6445-D8B2C0C69E0F}"/>
              </a:ext>
            </a:extLst>
          </p:cNvPr>
          <p:cNvSpPr/>
          <p:nvPr/>
        </p:nvSpPr>
        <p:spPr>
          <a:xfrm>
            <a:off x="5662416" y="0"/>
            <a:ext cx="6380637" cy="6858000"/>
          </a:xfrm>
          <a:custGeom>
            <a:avLst/>
            <a:gdLst>
              <a:gd name="connsiteX0" fmla="*/ 10388351 w 13918267"/>
              <a:gd name="connsiteY0" fmla="*/ 0 h 13715998"/>
              <a:gd name="connsiteX1" fmla="*/ 13918267 w 13918267"/>
              <a:gd name="connsiteY1" fmla="*/ 0 h 13715998"/>
              <a:gd name="connsiteX2" fmla="*/ 13918267 w 13918267"/>
              <a:gd name="connsiteY2" fmla="*/ 2089359 h 13715998"/>
              <a:gd name="connsiteX3" fmla="*/ 5112374 w 13918267"/>
              <a:gd name="connsiteY3" fmla="*/ 13715998 h 13715998"/>
              <a:gd name="connsiteX4" fmla="*/ 0 w 13918267"/>
              <a:gd name="connsiteY4" fmla="*/ 13715998 h 137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18267" h="13715998">
                <a:moveTo>
                  <a:pt x="10388351" y="0"/>
                </a:moveTo>
                <a:lnTo>
                  <a:pt x="13918267" y="0"/>
                </a:lnTo>
                <a:lnTo>
                  <a:pt x="13918267" y="2089359"/>
                </a:lnTo>
                <a:lnTo>
                  <a:pt x="5112374" y="13715998"/>
                </a:lnTo>
                <a:lnTo>
                  <a:pt x="0" y="13715998"/>
                </a:lnTo>
                <a:close/>
              </a:path>
            </a:pathLst>
          </a:custGeom>
          <a:solidFill>
            <a:srgbClr val="FFD1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59" name="Freeform: Shape 58">
            <a:extLst>
              <a:ext uri="{FF2B5EF4-FFF2-40B4-BE49-F238E27FC236}">
                <a16:creationId xmlns:a16="http://schemas.microsoft.com/office/drawing/2014/main" id="{B1F6A7DB-015A-9B8C-6BEC-E7946D5C9D3A}"/>
              </a:ext>
            </a:extLst>
          </p:cNvPr>
          <p:cNvSpPr/>
          <p:nvPr/>
        </p:nvSpPr>
        <p:spPr>
          <a:xfrm>
            <a:off x="6418896" y="0"/>
            <a:ext cx="6380637" cy="6858000"/>
          </a:xfrm>
          <a:custGeom>
            <a:avLst/>
            <a:gdLst>
              <a:gd name="connsiteX0" fmla="*/ 10388351 w 13918267"/>
              <a:gd name="connsiteY0" fmla="*/ 0 h 13715998"/>
              <a:gd name="connsiteX1" fmla="*/ 13918267 w 13918267"/>
              <a:gd name="connsiteY1" fmla="*/ 0 h 13715998"/>
              <a:gd name="connsiteX2" fmla="*/ 13918267 w 13918267"/>
              <a:gd name="connsiteY2" fmla="*/ 2089359 h 13715998"/>
              <a:gd name="connsiteX3" fmla="*/ 5112374 w 13918267"/>
              <a:gd name="connsiteY3" fmla="*/ 13715998 h 13715998"/>
              <a:gd name="connsiteX4" fmla="*/ 0 w 13918267"/>
              <a:gd name="connsiteY4" fmla="*/ 13715998 h 13715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18267" h="13715998">
                <a:moveTo>
                  <a:pt x="10388351" y="0"/>
                </a:moveTo>
                <a:lnTo>
                  <a:pt x="13918267" y="0"/>
                </a:lnTo>
                <a:lnTo>
                  <a:pt x="13918267" y="2089359"/>
                </a:lnTo>
                <a:lnTo>
                  <a:pt x="5112374" y="13715998"/>
                </a:lnTo>
                <a:lnTo>
                  <a:pt x="0" y="13715998"/>
                </a:lnTo>
                <a:close/>
              </a:path>
            </a:pathLst>
          </a:custGeom>
          <a:solidFill>
            <a:srgbClr val="0057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Oval 68">
            <a:extLst>
              <a:ext uri="{FF2B5EF4-FFF2-40B4-BE49-F238E27FC236}">
                <a16:creationId xmlns:a16="http://schemas.microsoft.com/office/drawing/2014/main" id="{A58DFB11-9C4E-DAC6-D41E-5D90ED27F741}"/>
              </a:ext>
            </a:extLst>
          </p:cNvPr>
          <p:cNvSpPr/>
          <p:nvPr/>
        </p:nvSpPr>
        <p:spPr>
          <a:xfrm>
            <a:off x="8071551" y="1798030"/>
            <a:ext cx="3261940" cy="32619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D5E6C515-0D20-C89E-1817-4A2E76D556C3}"/>
              </a:ext>
            </a:extLst>
          </p:cNvPr>
          <p:cNvSpPr txBox="1"/>
          <p:nvPr/>
        </p:nvSpPr>
        <p:spPr>
          <a:xfrm>
            <a:off x="7712013" y="6396335"/>
            <a:ext cx="4548996" cy="461665"/>
          </a:xfrm>
          <a:prstGeom prst="rect">
            <a:avLst/>
          </a:prstGeom>
          <a:noFill/>
        </p:spPr>
        <p:txBody>
          <a:bodyPr wrap="square" rtlCol="0">
            <a:spAutoFit/>
          </a:bodyPr>
          <a:lstStyle/>
          <a:p>
            <a:pPr algn="r"/>
            <a:r>
              <a:rPr lang="en-US" sz="2400" dirty="0">
                <a:solidFill>
                  <a:srgbClr val="005791"/>
                </a:solidFill>
                <a:latin typeface="Poppins Black" panose="00000A00000000000000" pitchFamily="2" charset="0"/>
                <a:cs typeface="Poppins Black" panose="00000A00000000000000" pitchFamily="2" charset="0"/>
              </a:rPr>
              <a:t>November 2025</a:t>
            </a:r>
          </a:p>
        </p:txBody>
      </p:sp>
      <p:pic>
        <p:nvPicPr>
          <p:cNvPr id="4" name="Picture 3" descr="Blue text on a black background&#10;&#10;AI-generated content may be incorrect.">
            <a:extLst>
              <a:ext uri="{FF2B5EF4-FFF2-40B4-BE49-F238E27FC236}">
                <a16:creationId xmlns:a16="http://schemas.microsoft.com/office/drawing/2014/main" id="{1ECA14C4-C5DC-4E5A-1B89-BDA10C0F8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86" y="2016249"/>
            <a:ext cx="7603816" cy="2520701"/>
          </a:xfrm>
          <a:prstGeom prst="rect">
            <a:avLst/>
          </a:prstGeom>
        </p:spPr>
      </p:pic>
      <p:sp>
        <p:nvSpPr>
          <p:cNvPr id="5" name="AutoShape 2">
            <a:extLst>
              <a:ext uri="{FF2B5EF4-FFF2-40B4-BE49-F238E27FC236}">
                <a16:creationId xmlns:a16="http://schemas.microsoft.com/office/drawing/2014/main" id="{6EA995D8-F09C-FEF6-9192-D29BC1A5D24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Graphic 12">
            <a:extLst>
              <a:ext uri="{FF2B5EF4-FFF2-40B4-BE49-F238E27FC236}">
                <a16:creationId xmlns:a16="http://schemas.microsoft.com/office/drawing/2014/main" id="{82E85FBE-2276-8C1E-D94A-661E6CAD8E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8947" y="132083"/>
            <a:ext cx="3874883" cy="568102"/>
          </a:xfrm>
          <a:prstGeom prst="rect">
            <a:avLst/>
          </a:prstGeom>
        </p:spPr>
      </p:pic>
      <p:pic>
        <p:nvPicPr>
          <p:cNvPr id="2" name="Picture 2" descr="{{organizationLogo}}">
            <a:extLst>
              <a:ext uri="{FF2B5EF4-FFF2-40B4-BE49-F238E27FC236}">
                <a16:creationId xmlns:a16="http://schemas.microsoft.com/office/drawing/2014/main" id="{DF03EC4B-856B-DFF3-2903-12F5C36650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33018" y="2600497"/>
            <a:ext cx="2127673" cy="1657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054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18">
            <a:extLst>
              <a:ext uri="{FF2B5EF4-FFF2-40B4-BE49-F238E27FC236}">
                <a16:creationId xmlns:a16="http://schemas.microsoft.com/office/drawing/2014/main" id="{677360BB-0A2B-781D-4D09-E0C18514432E}"/>
              </a:ext>
            </a:extLst>
          </p:cNvPr>
          <p:cNvSpPr>
            <a:spLocks noGrp="1"/>
          </p:cNvSpPr>
          <p:nvPr/>
        </p:nvSpPr>
        <p:spPr>
          <a:xfrm>
            <a:off x="339683" y="2963665"/>
            <a:ext cx="4730290" cy="3104874"/>
          </a:xfrm>
          <a:custGeom>
            <a:avLst/>
            <a:gdLst>
              <a:gd name="connsiteX0" fmla="*/ 3311884 w 4848424"/>
              <a:gd name="connsiteY0" fmla="*/ 1645876 h 3182415"/>
              <a:gd name="connsiteX1" fmla="*/ 4848423 w 4848424"/>
              <a:gd name="connsiteY1" fmla="*/ 1645876 h 3182415"/>
              <a:gd name="connsiteX2" fmla="*/ 4848423 w 4848424"/>
              <a:gd name="connsiteY2" fmla="*/ 3182415 h 3182415"/>
              <a:gd name="connsiteX3" fmla="*/ 3311884 w 4848424"/>
              <a:gd name="connsiteY3" fmla="*/ 3182415 h 3182415"/>
              <a:gd name="connsiteX4" fmla="*/ 1655943 w 4848424"/>
              <a:gd name="connsiteY4" fmla="*/ 1645876 h 3182415"/>
              <a:gd name="connsiteX5" fmla="*/ 3192482 w 4848424"/>
              <a:gd name="connsiteY5" fmla="*/ 1645876 h 3182415"/>
              <a:gd name="connsiteX6" fmla="*/ 3192482 w 4848424"/>
              <a:gd name="connsiteY6" fmla="*/ 3182415 h 3182415"/>
              <a:gd name="connsiteX7" fmla="*/ 1655943 w 4848424"/>
              <a:gd name="connsiteY7" fmla="*/ 3182415 h 3182415"/>
              <a:gd name="connsiteX8" fmla="*/ 3311885 w 4848424"/>
              <a:gd name="connsiteY8" fmla="*/ 0 h 3182415"/>
              <a:gd name="connsiteX9" fmla="*/ 4848424 w 4848424"/>
              <a:gd name="connsiteY9" fmla="*/ 0 h 3182415"/>
              <a:gd name="connsiteX10" fmla="*/ 4848424 w 4848424"/>
              <a:gd name="connsiteY10" fmla="*/ 1536539 h 3182415"/>
              <a:gd name="connsiteX11" fmla="*/ 3311885 w 4848424"/>
              <a:gd name="connsiteY11" fmla="*/ 1536539 h 3182415"/>
              <a:gd name="connsiteX12" fmla="*/ 1655943 w 4848424"/>
              <a:gd name="connsiteY12" fmla="*/ 0 h 3182415"/>
              <a:gd name="connsiteX13" fmla="*/ 3192482 w 4848424"/>
              <a:gd name="connsiteY13" fmla="*/ 0 h 3182415"/>
              <a:gd name="connsiteX14" fmla="*/ 3192482 w 4848424"/>
              <a:gd name="connsiteY14" fmla="*/ 1536539 h 3182415"/>
              <a:gd name="connsiteX15" fmla="*/ 1655943 w 4848424"/>
              <a:gd name="connsiteY15" fmla="*/ 1536539 h 3182415"/>
              <a:gd name="connsiteX16" fmla="*/ 0 w 4848424"/>
              <a:gd name="connsiteY16" fmla="*/ 0 h 3182415"/>
              <a:gd name="connsiteX17" fmla="*/ 1536539 w 4848424"/>
              <a:gd name="connsiteY17" fmla="*/ 0 h 3182415"/>
              <a:gd name="connsiteX18" fmla="*/ 1536539 w 4848424"/>
              <a:gd name="connsiteY18" fmla="*/ 1536539 h 3182415"/>
              <a:gd name="connsiteX19" fmla="*/ 0 w 4848424"/>
              <a:gd name="connsiteY19" fmla="*/ 1536539 h 318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848424" h="3182415">
                <a:moveTo>
                  <a:pt x="3311884" y="1645876"/>
                </a:moveTo>
                <a:lnTo>
                  <a:pt x="4848423" y="1645876"/>
                </a:lnTo>
                <a:lnTo>
                  <a:pt x="4848423" y="3182415"/>
                </a:lnTo>
                <a:lnTo>
                  <a:pt x="3311884" y="3182415"/>
                </a:lnTo>
                <a:close/>
                <a:moveTo>
                  <a:pt x="1655943" y="1645876"/>
                </a:moveTo>
                <a:lnTo>
                  <a:pt x="3192482" y="1645876"/>
                </a:lnTo>
                <a:lnTo>
                  <a:pt x="3192482" y="3182415"/>
                </a:lnTo>
                <a:lnTo>
                  <a:pt x="1655943" y="3182415"/>
                </a:lnTo>
                <a:close/>
                <a:moveTo>
                  <a:pt x="3311885" y="0"/>
                </a:moveTo>
                <a:lnTo>
                  <a:pt x="4848424" y="0"/>
                </a:lnTo>
                <a:lnTo>
                  <a:pt x="4848424" y="1536539"/>
                </a:lnTo>
                <a:lnTo>
                  <a:pt x="3311885" y="1536539"/>
                </a:lnTo>
                <a:close/>
                <a:moveTo>
                  <a:pt x="1655943" y="0"/>
                </a:moveTo>
                <a:lnTo>
                  <a:pt x="3192482" y="0"/>
                </a:lnTo>
                <a:lnTo>
                  <a:pt x="3192482" y="1536539"/>
                </a:lnTo>
                <a:lnTo>
                  <a:pt x="1655943" y="1536539"/>
                </a:lnTo>
                <a:close/>
                <a:moveTo>
                  <a:pt x="0" y="0"/>
                </a:moveTo>
                <a:lnTo>
                  <a:pt x="1536539" y="0"/>
                </a:lnTo>
                <a:lnTo>
                  <a:pt x="1536539" y="1536539"/>
                </a:lnTo>
                <a:lnTo>
                  <a:pt x="0" y="1536539"/>
                </a:lnTo>
                <a:close/>
              </a:path>
            </a:pathLst>
          </a:custGeom>
        </p:spPr>
        <p:txBody>
          <a:bodyPr wrap="square">
            <a:noAutofit/>
          </a:bodyPr>
          <a:lstStyle/>
          <a:p>
            <a:endParaRPr lang="en-US"/>
          </a:p>
        </p:txBody>
      </p:sp>
      <p:pic>
        <p:nvPicPr>
          <p:cNvPr id="54" name="Google Shape;113;p34">
            <a:extLst>
              <a:ext uri="{FF2B5EF4-FFF2-40B4-BE49-F238E27FC236}">
                <a16:creationId xmlns:a16="http://schemas.microsoft.com/office/drawing/2014/main" id="{5946CA66-A14B-73BD-C567-F20D27608A4A}"/>
              </a:ext>
            </a:extLst>
          </p:cNvPr>
          <p:cNvPicPr preferRelativeResize="0"/>
          <p:nvPr/>
        </p:nvPicPr>
        <p:blipFill rotWithShape="1">
          <a:blip r:embed="rId3">
            <a:extLst>
              <a:ext uri="{28A0092B-C50C-407E-A947-70E740481C1C}">
                <a14:useLocalDpi xmlns:a14="http://schemas.microsoft.com/office/drawing/2010/main" val="0"/>
              </a:ext>
            </a:extLst>
          </a:blip>
          <a:srcRect t="30344" b="30344"/>
          <a:stretch/>
        </p:blipFill>
        <p:spPr>
          <a:xfrm>
            <a:off x="0" y="0"/>
            <a:ext cx="12192000" cy="2341899"/>
          </a:xfrm>
          <a:custGeom>
            <a:avLst/>
            <a:gdLst/>
            <a:ahLst/>
            <a:cxnLst/>
            <a:rect l="l" t="t" r="r" b="b"/>
            <a:pathLst>
              <a:path w="12192000" h="3429000" extrusionOk="0">
                <a:moveTo>
                  <a:pt x="0" y="0"/>
                </a:moveTo>
                <a:lnTo>
                  <a:pt x="12192000" y="0"/>
                </a:lnTo>
                <a:lnTo>
                  <a:pt x="12192000" y="3429000"/>
                </a:lnTo>
                <a:lnTo>
                  <a:pt x="0" y="3429000"/>
                </a:lnTo>
                <a:close/>
              </a:path>
            </a:pathLst>
          </a:custGeom>
          <a:noFill/>
          <a:ln>
            <a:noFill/>
          </a:ln>
        </p:spPr>
      </p:pic>
      <p:sp>
        <p:nvSpPr>
          <p:cNvPr id="55" name="Google Shape;114;p34">
            <a:extLst>
              <a:ext uri="{FF2B5EF4-FFF2-40B4-BE49-F238E27FC236}">
                <a16:creationId xmlns:a16="http://schemas.microsoft.com/office/drawing/2014/main" id="{FF2FE4AC-2A95-2D8C-B710-902DCBF495BB}"/>
              </a:ext>
            </a:extLst>
          </p:cNvPr>
          <p:cNvSpPr/>
          <p:nvPr/>
        </p:nvSpPr>
        <p:spPr>
          <a:xfrm>
            <a:off x="0" y="1"/>
            <a:ext cx="12192000" cy="2341898"/>
          </a:xfrm>
          <a:prstGeom prst="rect">
            <a:avLst/>
          </a:prstGeom>
          <a:solidFill>
            <a:srgbClr val="95A9B7">
              <a:alpha val="69803"/>
            </a:srgbClr>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66" name="Google Shape;116;p34">
            <a:extLst>
              <a:ext uri="{FF2B5EF4-FFF2-40B4-BE49-F238E27FC236}">
                <a16:creationId xmlns:a16="http://schemas.microsoft.com/office/drawing/2014/main" id="{007F23B4-0D99-FAB4-F9B9-EEA77BA08E39}"/>
              </a:ext>
            </a:extLst>
          </p:cNvPr>
          <p:cNvSpPr/>
          <p:nvPr/>
        </p:nvSpPr>
        <p:spPr>
          <a:xfrm>
            <a:off x="426233" y="1274323"/>
            <a:ext cx="4730288" cy="4388047"/>
          </a:xfrm>
          <a:prstGeom prst="rect">
            <a:avLst/>
          </a:prstGeom>
          <a:solidFill>
            <a:srgbClr val="005791"/>
          </a:solidFill>
          <a:ln>
            <a:noFill/>
          </a:ln>
          <a:effectLst>
            <a:outerShdw blurRad="736600" sx="95000" sy="95000" algn="ctr" rotWithShape="0">
              <a:srgbClr val="000000">
                <a:alpha val="40000"/>
              </a:srgbClr>
            </a:outerShdw>
          </a:effectLst>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90000"/>
              </a:lnSpc>
              <a:spcBef>
                <a:spcPts val="0"/>
              </a:spcBef>
              <a:spcAft>
                <a:spcPts val="0"/>
              </a:spcAft>
              <a:buNone/>
            </a:pPr>
            <a:endParaRPr sz="2100" dirty="0">
              <a:solidFill>
                <a:schemeClr val="dk1"/>
              </a:solidFill>
              <a:latin typeface="Poppins"/>
              <a:ea typeface="Poppins"/>
              <a:cs typeface="Poppins"/>
              <a:sym typeface="Poppins"/>
            </a:endParaRPr>
          </a:p>
        </p:txBody>
      </p:sp>
      <p:sp>
        <p:nvSpPr>
          <p:cNvPr id="64" name="Google Shape;119;p34">
            <a:extLst>
              <a:ext uri="{FF2B5EF4-FFF2-40B4-BE49-F238E27FC236}">
                <a16:creationId xmlns:a16="http://schemas.microsoft.com/office/drawing/2014/main" id="{F132E29A-BF1A-BDC8-48AE-C073C348B68E}"/>
              </a:ext>
            </a:extLst>
          </p:cNvPr>
          <p:cNvSpPr txBox="1"/>
          <p:nvPr/>
        </p:nvSpPr>
        <p:spPr>
          <a:xfrm>
            <a:off x="5455427" y="2526347"/>
            <a:ext cx="6622331" cy="309774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50000"/>
              </a:lnSpc>
              <a:spcBef>
                <a:spcPts val="0"/>
              </a:spcBef>
              <a:spcAft>
                <a:spcPts val="0"/>
              </a:spcAft>
              <a:buNone/>
            </a:pPr>
            <a:r>
              <a:rPr lang="en-US" sz="2000" b="1" dirty="0">
                <a:solidFill>
                  <a:srgbClr val="005791"/>
                </a:solidFill>
                <a:latin typeface="Poppins Black" panose="00000A00000000000000" pitchFamily="2" charset="0"/>
                <a:ea typeface="Cabin"/>
                <a:cs typeface="Poppins Black" panose="00000A00000000000000" pitchFamily="2" charset="0"/>
                <a:sym typeface="Cabin"/>
              </a:rPr>
              <a:t>Galactic is a PEO that has delivered comprehensive employer services to Kitchen Guard locations all over the United States. </a:t>
            </a:r>
          </a:p>
          <a:p>
            <a:pPr marL="0" marR="0" lvl="0" indent="0" algn="l" rtl="0">
              <a:lnSpc>
                <a:spcPct val="150000"/>
              </a:lnSpc>
              <a:spcBef>
                <a:spcPts val="0"/>
              </a:spcBef>
              <a:spcAft>
                <a:spcPts val="0"/>
              </a:spcAft>
              <a:buNone/>
            </a:pPr>
            <a:endParaRPr lang="en-US" sz="2000" b="1" dirty="0">
              <a:solidFill>
                <a:srgbClr val="005791"/>
              </a:solidFill>
              <a:latin typeface="Poppins Black" panose="00000A00000000000000" pitchFamily="2" charset="0"/>
              <a:ea typeface="Cabin"/>
              <a:cs typeface="Poppins Black" panose="00000A00000000000000" pitchFamily="2" charset="0"/>
              <a:sym typeface="Cabin"/>
            </a:endParaRPr>
          </a:p>
          <a:p>
            <a:pPr marL="0" marR="0" lvl="0" indent="0" algn="l" rtl="0">
              <a:lnSpc>
                <a:spcPct val="150000"/>
              </a:lnSpc>
              <a:spcBef>
                <a:spcPts val="0"/>
              </a:spcBef>
              <a:spcAft>
                <a:spcPts val="0"/>
              </a:spcAft>
              <a:buNone/>
            </a:pPr>
            <a:r>
              <a:rPr lang="en-US" sz="2000" b="1" dirty="0">
                <a:solidFill>
                  <a:srgbClr val="005791"/>
                </a:solidFill>
                <a:latin typeface="Poppins Black" panose="00000A00000000000000" pitchFamily="2" charset="0"/>
                <a:ea typeface="Cabin"/>
                <a:cs typeface="Poppins Black" panose="00000A00000000000000" pitchFamily="2" charset="0"/>
                <a:sym typeface="Cabin"/>
              </a:rPr>
              <a:t>Our Core Values:</a:t>
            </a:r>
          </a:p>
          <a:p>
            <a:pPr marL="0" marR="0" lvl="0" indent="0" algn="l" rtl="0">
              <a:lnSpc>
                <a:spcPct val="130000"/>
              </a:lnSpc>
              <a:spcBef>
                <a:spcPts val="0"/>
              </a:spcBef>
              <a:spcAft>
                <a:spcPts val="0"/>
              </a:spcAft>
              <a:buNone/>
            </a:pPr>
            <a:r>
              <a:rPr lang="en-US" sz="1800" b="1" dirty="0">
                <a:solidFill>
                  <a:srgbClr val="005791"/>
                </a:solidFill>
                <a:latin typeface="Poppins Black" panose="00000A00000000000000" pitchFamily="2" charset="0"/>
                <a:ea typeface="Cabin"/>
                <a:cs typeface="Poppins Black" panose="00000A00000000000000" pitchFamily="2" charset="0"/>
                <a:sym typeface="Cabin"/>
              </a:rPr>
              <a:t>  </a:t>
            </a:r>
          </a:p>
          <a:p>
            <a:pPr marL="0" marR="0" lvl="0" indent="0" algn="l" rtl="0">
              <a:lnSpc>
                <a:spcPct val="130000"/>
              </a:lnSpc>
              <a:spcBef>
                <a:spcPts val="0"/>
              </a:spcBef>
              <a:spcAft>
                <a:spcPts val="0"/>
              </a:spcAft>
              <a:buNone/>
            </a:pPr>
            <a:endParaRPr sz="1800" b="1" dirty="0">
              <a:solidFill>
                <a:srgbClr val="005791"/>
              </a:solidFill>
              <a:latin typeface="Poppins Black" panose="00000A00000000000000" pitchFamily="2" charset="0"/>
              <a:ea typeface="Cabin"/>
              <a:cs typeface="Poppins Black" panose="00000A00000000000000" pitchFamily="2" charset="0"/>
              <a:sym typeface="Cabin"/>
            </a:endParaRPr>
          </a:p>
        </p:txBody>
      </p:sp>
      <p:pic>
        <p:nvPicPr>
          <p:cNvPr id="5" name="Graphic 4" descr="Marker with solid fill">
            <a:extLst>
              <a:ext uri="{FF2B5EF4-FFF2-40B4-BE49-F238E27FC236}">
                <a16:creationId xmlns:a16="http://schemas.microsoft.com/office/drawing/2014/main" id="{0446E62D-2CA1-E4E3-EA94-F88A3328FF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117" y="32214"/>
            <a:ext cx="457442" cy="457442"/>
          </a:xfrm>
          <a:prstGeom prst="rect">
            <a:avLst/>
          </a:prstGeom>
          <a:effectLst>
            <a:outerShdw blurRad="50800" dist="38100" dir="2700000" algn="tl" rotWithShape="0">
              <a:prstClr val="black">
                <a:alpha val="40000"/>
              </a:prstClr>
            </a:outerShdw>
          </a:effectLst>
        </p:spPr>
      </p:pic>
      <p:sp>
        <p:nvSpPr>
          <p:cNvPr id="7" name="TextBox 6">
            <a:extLst>
              <a:ext uri="{FF2B5EF4-FFF2-40B4-BE49-F238E27FC236}">
                <a16:creationId xmlns:a16="http://schemas.microsoft.com/office/drawing/2014/main" id="{61DE852C-D98C-B726-45A2-70B2A4553979}"/>
              </a:ext>
            </a:extLst>
          </p:cNvPr>
          <p:cNvSpPr txBox="1"/>
          <p:nvPr/>
        </p:nvSpPr>
        <p:spPr>
          <a:xfrm>
            <a:off x="443334" y="102899"/>
            <a:ext cx="2263635" cy="369332"/>
          </a:xfrm>
          <a:prstGeom prst="rect">
            <a:avLst/>
          </a:prstGeom>
          <a:noFill/>
        </p:spPr>
        <p:txBody>
          <a:bodyPr wrap="square" rtlCol="0">
            <a:spAutoFit/>
          </a:bodyPr>
          <a:lstStyle/>
          <a:p>
            <a:r>
              <a:rPr lang="en-US" dirty="0">
                <a:solidFill>
                  <a:schemeClr val="bg1"/>
                </a:solidFill>
                <a:effectLst>
                  <a:outerShdw blurRad="38100" dist="38100" dir="2700000" algn="tl">
                    <a:srgbClr val="000000">
                      <a:alpha val="43137"/>
                    </a:srgbClr>
                  </a:outerShdw>
                </a:effectLst>
                <a:latin typeface="Poppins Black" panose="00000A00000000000000" pitchFamily="2" charset="0"/>
                <a:cs typeface="Poppins Black" panose="00000A00000000000000" pitchFamily="2" charset="0"/>
              </a:rPr>
              <a:t>Vestavia Hills, AL</a:t>
            </a:r>
          </a:p>
        </p:txBody>
      </p:sp>
      <p:pic>
        <p:nvPicPr>
          <p:cNvPr id="18" name="Picture 17" descr="A black background with blue and white logo&#10;&#10;AI-generated content may be incorrect.">
            <a:extLst>
              <a:ext uri="{FF2B5EF4-FFF2-40B4-BE49-F238E27FC236}">
                <a16:creationId xmlns:a16="http://schemas.microsoft.com/office/drawing/2014/main" id="{AD43D85A-E906-5818-F234-AB814CAFF8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2242" y="5126634"/>
            <a:ext cx="2640802" cy="2640802"/>
          </a:xfrm>
          <a:prstGeom prst="rect">
            <a:avLst/>
          </a:prstGeom>
        </p:spPr>
      </p:pic>
      <p:sp>
        <p:nvSpPr>
          <p:cNvPr id="3" name="TextBox 2">
            <a:extLst>
              <a:ext uri="{FF2B5EF4-FFF2-40B4-BE49-F238E27FC236}">
                <a16:creationId xmlns:a16="http://schemas.microsoft.com/office/drawing/2014/main" id="{DE5055D1-8BC0-A792-B071-7FD45A0C914B}"/>
              </a:ext>
            </a:extLst>
          </p:cNvPr>
          <p:cNvSpPr txBox="1"/>
          <p:nvPr/>
        </p:nvSpPr>
        <p:spPr>
          <a:xfrm>
            <a:off x="5680868" y="4916007"/>
            <a:ext cx="6171448" cy="1975926"/>
          </a:xfrm>
          <a:prstGeom prst="rect">
            <a:avLst/>
          </a:prstGeom>
          <a:noFill/>
        </p:spPr>
        <p:txBody>
          <a:bodyPr wrap="square" rtlCol="0">
            <a:spAutoFit/>
          </a:bodyPr>
          <a:lstStyle/>
          <a:p>
            <a:pPr marR="0" lvl="0" algn="l" rtl="0">
              <a:lnSpc>
                <a:spcPct val="150000"/>
              </a:lnSpc>
              <a:spcBef>
                <a:spcPts val="0"/>
              </a:spcBef>
              <a:spcAft>
                <a:spcPts val="0"/>
              </a:spcAft>
            </a:pPr>
            <a:r>
              <a:rPr lang="en-US" sz="1800" dirty="0">
                <a:solidFill>
                  <a:srgbClr val="005791"/>
                </a:solidFill>
                <a:latin typeface="Poppins Medium" panose="00000600000000000000" pitchFamily="2" charset="0"/>
                <a:ea typeface="Cabin"/>
                <a:cs typeface="Poppins Medium" panose="00000600000000000000" pitchFamily="2" charset="0"/>
                <a:sym typeface="Cabin"/>
              </a:rPr>
              <a:t>• Precision &amp; Excellence	       </a:t>
            </a:r>
            <a:r>
              <a:rPr lang="en-US" dirty="0">
                <a:solidFill>
                  <a:srgbClr val="005791"/>
                </a:solidFill>
                <a:latin typeface="Poppins Medium" panose="00000600000000000000" pitchFamily="2" charset="0"/>
                <a:ea typeface="Cabin"/>
                <a:cs typeface="Poppins Medium" panose="00000600000000000000" pitchFamily="2" charset="0"/>
                <a:sym typeface="Cabin"/>
              </a:rPr>
              <a:t>•</a:t>
            </a:r>
            <a:r>
              <a:rPr lang="en-US" spc="300" dirty="0">
                <a:solidFill>
                  <a:srgbClr val="005791"/>
                </a:solidFill>
                <a:latin typeface="Poppins Medium" panose="00000600000000000000" pitchFamily="2" charset="0"/>
                <a:ea typeface="Cabin"/>
                <a:cs typeface="Poppins Medium" panose="00000600000000000000" pitchFamily="2" charset="0"/>
                <a:sym typeface="Cabin"/>
              </a:rPr>
              <a:t> </a:t>
            </a:r>
            <a:r>
              <a:rPr lang="en-US" sz="1800" dirty="0">
                <a:solidFill>
                  <a:srgbClr val="005791"/>
                </a:solidFill>
                <a:latin typeface="Poppins Medium" panose="00000600000000000000" pitchFamily="2" charset="0"/>
                <a:ea typeface="Cabin"/>
                <a:cs typeface="Poppins Medium" panose="00000600000000000000" pitchFamily="2" charset="0"/>
                <a:sym typeface="Cabin"/>
              </a:rPr>
              <a:t>Service with a purpose</a:t>
            </a:r>
          </a:p>
          <a:p>
            <a:pPr marL="0" marR="0" lvl="0" indent="0" algn="l" rtl="0">
              <a:lnSpc>
                <a:spcPct val="150000"/>
              </a:lnSpc>
              <a:spcBef>
                <a:spcPts val="0"/>
              </a:spcBef>
              <a:spcAft>
                <a:spcPts val="0"/>
              </a:spcAft>
              <a:buNone/>
            </a:pPr>
            <a:r>
              <a:rPr lang="en-US" sz="1800" dirty="0">
                <a:solidFill>
                  <a:srgbClr val="005791"/>
                </a:solidFill>
                <a:latin typeface="Poppins Medium" panose="00000600000000000000" pitchFamily="2" charset="0"/>
                <a:ea typeface="Cabin"/>
                <a:cs typeface="Poppins Medium" panose="00000600000000000000" pitchFamily="2" charset="0"/>
                <a:sym typeface="Cabin"/>
              </a:rPr>
              <a:t>• Desire to learn &amp; Grow         • Team-oriented</a:t>
            </a:r>
          </a:p>
          <a:p>
            <a:pPr marL="0" marR="0" lvl="0" indent="0" algn="l" rtl="0">
              <a:lnSpc>
                <a:spcPct val="150000"/>
              </a:lnSpc>
              <a:spcBef>
                <a:spcPts val="0"/>
              </a:spcBef>
              <a:spcAft>
                <a:spcPts val="0"/>
              </a:spcAft>
              <a:buNone/>
            </a:pPr>
            <a:r>
              <a:rPr lang="en-US" sz="1800" dirty="0">
                <a:solidFill>
                  <a:srgbClr val="005791"/>
                </a:solidFill>
                <a:latin typeface="Poppins Medium" panose="00000600000000000000" pitchFamily="2" charset="0"/>
                <a:ea typeface="Cabin"/>
                <a:cs typeface="Poppins Medium" panose="00000600000000000000" pitchFamily="2" charset="0"/>
                <a:sym typeface="Cabin"/>
              </a:rPr>
              <a:t>• Trustworthiness</a:t>
            </a:r>
          </a:p>
          <a:p>
            <a:pPr marL="0" marR="0" lvl="0" indent="0" algn="l" rtl="0">
              <a:lnSpc>
                <a:spcPct val="130000"/>
              </a:lnSpc>
              <a:spcBef>
                <a:spcPts val="0"/>
              </a:spcBef>
              <a:spcAft>
                <a:spcPts val="0"/>
              </a:spcAft>
              <a:buNone/>
            </a:pPr>
            <a:r>
              <a:rPr lang="en-US" sz="1800" b="1" dirty="0">
                <a:solidFill>
                  <a:srgbClr val="005791"/>
                </a:solidFill>
                <a:latin typeface="Poppins Light" panose="00000400000000000000" pitchFamily="2" charset="0"/>
                <a:ea typeface="Cabin"/>
                <a:cs typeface="Poppins Light" panose="00000400000000000000" pitchFamily="2" charset="0"/>
                <a:sym typeface="Cabin"/>
              </a:rPr>
              <a:t>        </a:t>
            </a:r>
            <a:endParaRPr lang="en-US" sz="2400" b="1" dirty="0">
              <a:solidFill>
                <a:srgbClr val="005791"/>
              </a:solidFill>
              <a:latin typeface="Poppins Light" panose="00000400000000000000" pitchFamily="2" charset="0"/>
              <a:ea typeface="Cabin"/>
              <a:cs typeface="Poppins Light" panose="00000400000000000000" pitchFamily="2" charset="0"/>
              <a:sym typeface="Cabin"/>
            </a:endParaRPr>
          </a:p>
          <a:p>
            <a:endParaRPr lang="en-US" dirty="0"/>
          </a:p>
        </p:txBody>
      </p:sp>
      <p:pic>
        <p:nvPicPr>
          <p:cNvPr id="9" name="Picture 8" descr="A black background with white text&#10;&#10;AI-generated content may be incorrect.">
            <a:extLst>
              <a:ext uri="{FF2B5EF4-FFF2-40B4-BE49-F238E27FC236}">
                <a16:creationId xmlns:a16="http://schemas.microsoft.com/office/drawing/2014/main" id="{757A1466-87AA-0F26-D318-8462B11E11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5838" y="2207995"/>
            <a:ext cx="7921768" cy="2520701"/>
          </a:xfrm>
          <a:prstGeom prst="rect">
            <a:avLst/>
          </a:prstGeom>
        </p:spPr>
      </p:pic>
      <p:pic>
        <p:nvPicPr>
          <p:cNvPr id="11" name="Graphic 10">
            <a:extLst>
              <a:ext uri="{FF2B5EF4-FFF2-40B4-BE49-F238E27FC236}">
                <a16:creationId xmlns:a16="http://schemas.microsoft.com/office/drawing/2014/main" id="{744520CC-E74C-52F4-D432-0E115AE1F4E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24683" y="6514945"/>
            <a:ext cx="1774506" cy="260163"/>
          </a:xfrm>
          <a:prstGeom prst="rect">
            <a:avLst/>
          </a:prstGeom>
        </p:spPr>
      </p:pic>
    </p:spTree>
    <p:extLst>
      <p:ext uri="{BB962C8B-B14F-4D97-AF65-F5344CB8AC3E}">
        <p14:creationId xmlns:p14="http://schemas.microsoft.com/office/powerpoint/2010/main" val="74543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rrow: Chevron 32">
            <a:extLst>
              <a:ext uri="{FF2B5EF4-FFF2-40B4-BE49-F238E27FC236}">
                <a16:creationId xmlns:a16="http://schemas.microsoft.com/office/drawing/2014/main" id="{6A2168BB-9E90-DEB2-579C-DB9B4F424968}"/>
              </a:ext>
            </a:extLst>
          </p:cNvPr>
          <p:cNvSpPr/>
          <p:nvPr/>
        </p:nvSpPr>
        <p:spPr>
          <a:xfrm>
            <a:off x="1075029" y="3874416"/>
            <a:ext cx="10041940" cy="1943592"/>
          </a:xfrm>
          <a:prstGeom prst="chevron">
            <a:avLst/>
          </a:prstGeom>
          <a:solidFill>
            <a:srgbClr val="005791"/>
          </a:solidFill>
          <a:ln w="34925">
            <a:solidFill>
              <a:srgbClr val="FFD106"/>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Google Shape;97;p33">
            <a:extLst>
              <a:ext uri="{FF2B5EF4-FFF2-40B4-BE49-F238E27FC236}">
                <a16:creationId xmlns:a16="http://schemas.microsoft.com/office/drawing/2014/main" id="{E8555773-7004-ADE5-DDAB-79DA55B73059}"/>
              </a:ext>
            </a:extLst>
          </p:cNvPr>
          <p:cNvSpPr txBox="1"/>
          <p:nvPr/>
        </p:nvSpPr>
        <p:spPr>
          <a:xfrm>
            <a:off x="1240121" y="1443232"/>
            <a:ext cx="10204996" cy="50010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US" sz="2800" dirty="0">
                <a:solidFill>
                  <a:srgbClr val="000000"/>
                </a:solidFill>
                <a:latin typeface="Poppins Medium" panose="00000600000000000000" pitchFamily="2" charset="0"/>
                <a:ea typeface="Cabin"/>
                <a:cs typeface="Poppins Medium" panose="00000600000000000000" pitchFamily="2" charset="0"/>
                <a:sym typeface="Cabin"/>
              </a:rPr>
              <a:t>Galactic is a </a:t>
            </a:r>
            <a:r>
              <a:rPr lang="en-US" sz="2800" dirty="0">
                <a:solidFill>
                  <a:srgbClr val="FFD106"/>
                </a:solidFill>
                <a:latin typeface="Poppins Black" panose="00000A00000000000000" pitchFamily="2" charset="0"/>
                <a:ea typeface="Cabin"/>
                <a:cs typeface="Poppins Black" panose="00000A00000000000000" pitchFamily="2" charset="0"/>
                <a:sym typeface="Cabin"/>
              </a:rPr>
              <a:t>PEO</a:t>
            </a:r>
            <a:r>
              <a:rPr lang="en-US" sz="2800" b="1" dirty="0">
                <a:solidFill>
                  <a:srgbClr val="FFB600"/>
                </a:solidFill>
                <a:latin typeface="Poppins Black" panose="00000A00000000000000" pitchFamily="2" charset="0"/>
                <a:ea typeface="Cabin"/>
                <a:cs typeface="Poppins Black" panose="00000A00000000000000" pitchFamily="2" charset="0"/>
                <a:sym typeface="Cabin"/>
              </a:rPr>
              <a:t> </a:t>
            </a:r>
            <a:r>
              <a:rPr lang="en-US" sz="2800" dirty="0">
                <a:solidFill>
                  <a:srgbClr val="000000"/>
                </a:solidFill>
                <a:latin typeface="Poppins Medium" panose="00000600000000000000" pitchFamily="2" charset="0"/>
                <a:ea typeface="Cabin"/>
                <a:cs typeface="Poppins Medium" panose="00000600000000000000" pitchFamily="2" charset="0"/>
                <a:sym typeface="Cabin"/>
              </a:rPr>
              <a:t>(Professional Employer Organization).</a:t>
            </a:r>
          </a:p>
        </p:txBody>
      </p:sp>
      <p:sp>
        <p:nvSpPr>
          <p:cNvPr id="18" name="Arrow: Chevron 17">
            <a:extLst>
              <a:ext uri="{FF2B5EF4-FFF2-40B4-BE49-F238E27FC236}">
                <a16:creationId xmlns:a16="http://schemas.microsoft.com/office/drawing/2014/main" id="{6FC0C5F4-16B2-FEF4-DC0A-6616A19EF74E}"/>
              </a:ext>
            </a:extLst>
          </p:cNvPr>
          <p:cNvSpPr/>
          <p:nvPr/>
        </p:nvSpPr>
        <p:spPr>
          <a:xfrm>
            <a:off x="2663416" y="4465627"/>
            <a:ext cx="969636" cy="762238"/>
          </a:xfrm>
          <a:prstGeom prst="chevron">
            <a:avLst/>
          </a:prstGeom>
          <a:solidFill>
            <a:srgbClr val="FFD106"/>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5791"/>
              </a:solidFill>
            </a:endParaRPr>
          </a:p>
        </p:txBody>
      </p:sp>
      <p:sp>
        <p:nvSpPr>
          <p:cNvPr id="36" name="Isosceles Triangle 33">
            <a:extLst>
              <a:ext uri="{FF2B5EF4-FFF2-40B4-BE49-F238E27FC236}">
                <a16:creationId xmlns:a16="http://schemas.microsoft.com/office/drawing/2014/main" id="{13AC6E19-7328-6CAA-62FF-84C35388E7B8}"/>
              </a:ext>
            </a:extLst>
          </p:cNvPr>
          <p:cNvSpPr/>
          <p:nvPr/>
        </p:nvSpPr>
        <p:spPr>
          <a:xfrm flipH="1">
            <a:off x="10594109" y="5273671"/>
            <a:ext cx="1612764" cy="1616293"/>
          </a:xfrm>
          <a:custGeom>
            <a:avLst/>
            <a:gdLst>
              <a:gd name="connsiteX0" fmla="*/ 0 w 2066269"/>
              <a:gd name="connsiteY0" fmla="*/ 1385744 h 1385744"/>
              <a:gd name="connsiteX1" fmla="*/ 0 w 2066269"/>
              <a:gd name="connsiteY1" fmla="*/ 0 h 1385744"/>
              <a:gd name="connsiteX2" fmla="*/ 2066269 w 2066269"/>
              <a:gd name="connsiteY2" fmla="*/ 1385744 h 1385744"/>
              <a:gd name="connsiteX3" fmla="*/ 0 w 2066269"/>
              <a:gd name="connsiteY3" fmla="*/ 1385744 h 1385744"/>
              <a:gd name="connsiteX0" fmla="*/ 0 w 2066269"/>
              <a:gd name="connsiteY0" fmla="*/ 1348799 h 1348799"/>
              <a:gd name="connsiteX1" fmla="*/ 729672 w 2066269"/>
              <a:gd name="connsiteY1" fmla="*/ 0 h 1348799"/>
              <a:gd name="connsiteX2" fmla="*/ 2066269 w 2066269"/>
              <a:gd name="connsiteY2" fmla="*/ 1348799 h 1348799"/>
              <a:gd name="connsiteX3" fmla="*/ 0 w 2066269"/>
              <a:gd name="connsiteY3" fmla="*/ 1348799 h 1348799"/>
              <a:gd name="connsiteX0" fmla="*/ 0 w 1355069"/>
              <a:gd name="connsiteY0" fmla="*/ 1358035 h 1358035"/>
              <a:gd name="connsiteX1" fmla="*/ 18472 w 1355069"/>
              <a:gd name="connsiteY1" fmla="*/ 0 h 1358035"/>
              <a:gd name="connsiteX2" fmla="*/ 1355069 w 1355069"/>
              <a:gd name="connsiteY2" fmla="*/ 1348799 h 1358035"/>
              <a:gd name="connsiteX3" fmla="*/ 0 w 1355069"/>
              <a:gd name="connsiteY3" fmla="*/ 1358035 h 1358035"/>
            </a:gdLst>
            <a:ahLst/>
            <a:cxnLst>
              <a:cxn ang="0">
                <a:pos x="connsiteX0" y="connsiteY0"/>
              </a:cxn>
              <a:cxn ang="0">
                <a:pos x="connsiteX1" y="connsiteY1"/>
              </a:cxn>
              <a:cxn ang="0">
                <a:pos x="connsiteX2" y="connsiteY2"/>
              </a:cxn>
              <a:cxn ang="0">
                <a:pos x="connsiteX3" y="connsiteY3"/>
              </a:cxn>
            </a:cxnLst>
            <a:rect l="l" t="t" r="r" b="b"/>
            <a:pathLst>
              <a:path w="1355069" h="1358035">
                <a:moveTo>
                  <a:pt x="0" y="1358035"/>
                </a:moveTo>
                <a:lnTo>
                  <a:pt x="18472" y="0"/>
                </a:lnTo>
                <a:lnTo>
                  <a:pt x="1355069" y="1348799"/>
                </a:lnTo>
                <a:lnTo>
                  <a:pt x="0" y="1358035"/>
                </a:lnTo>
                <a:close/>
              </a:path>
            </a:pathLst>
          </a:custGeom>
          <a:solidFill>
            <a:srgbClr val="FFB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33">
            <a:extLst>
              <a:ext uri="{FF2B5EF4-FFF2-40B4-BE49-F238E27FC236}">
                <a16:creationId xmlns:a16="http://schemas.microsoft.com/office/drawing/2014/main" id="{EF3A3D10-E6DD-87BA-48FC-986AE3AA2241}"/>
              </a:ext>
            </a:extLst>
          </p:cNvPr>
          <p:cNvSpPr/>
          <p:nvPr/>
        </p:nvSpPr>
        <p:spPr>
          <a:xfrm flipH="1">
            <a:off x="11146707" y="5818008"/>
            <a:ext cx="1060166" cy="1071956"/>
          </a:xfrm>
          <a:custGeom>
            <a:avLst/>
            <a:gdLst>
              <a:gd name="connsiteX0" fmla="*/ 0 w 2066269"/>
              <a:gd name="connsiteY0" fmla="*/ 1385744 h 1385744"/>
              <a:gd name="connsiteX1" fmla="*/ 0 w 2066269"/>
              <a:gd name="connsiteY1" fmla="*/ 0 h 1385744"/>
              <a:gd name="connsiteX2" fmla="*/ 2066269 w 2066269"/>
              <a:gd name="connsiteY2" fmla="*/ 1385744 h 1385744"/>
              <a:gd name="connsiteX3" fmla="*/ 0 w 2066269"/>
              <a:gd name="connsiteY3" fmla="*/ 1385744 h 1385744"/>
              <a:gd name="connsiteX0" fmla="*/ 0 w 2066269"/>
              <a:gd name="connsiteY0" fmla="*/ 1348799 h 1348799"/>
              <a:gd name="connsiteX1" fmla="*/ 729672 w 2066269"/>
              <a:gd name="connsiteY1" fmla="*/ 0 h 1348799"/>
              <a:gd name="connsiteX2" fmla="*/ 2066269 w 2066269"/>
              <a:gd name="connsiteY2" fmla="*/ 1348799 h 1348799"/>
              <a:gd name="connsiteX3" fmla="*/ 0 w 2066269"/>
              <a:gd name="connsiteY3" fmla="*/ 1348799 h 1348799"/>
              <a:gd name="connsiteX0" fmla="*/ 0 w 1355069"/>
              <a:gd name="connsiteY0" fmla="*/ 1358035 h 1358035"/>
              <a:gd name="connsiteX1" fmla="*/ 18472 w 1355069"/>
              <a:gd name="connsiteY1" fmla="*/ 0 h 1358035"/>
              <a:gd name="connsiteX2" fmla="*/ 1355069 w 1355069"/>
              <a:gd name="connsiteY2" fmla="*/ 1348799 h 1358035"/>
              <a:gd name="connsiteX3" fmla="*/ 0 w 1355069"/>
              <a:gd name="connsiteY3" fmla="*/ 1358035 h 1358035"/>
            </a:gdLst>
            <a:ahLst/>
            <a:cxnLst>
              <a:cxn ang="0">
                <a:pos x="connsiteX0" y="connsiteY0"/>
              </a:cxn>
              <a:cxn ang="0">
                <a:pos x="connsiteX1" y="connsiteY1"/>
              </a:cxn>
              <a:cxn ang="0">
                <a:pos x="connsiteX2" y="connsiteY2"/>
              </a:cxn>
              <a:cxn ang="0">
                <a:pos x="connsiteX3" y="connsiteY3"/>
              </a:cxn>
            </a:cxnLst>
            <a:rect l="l" t="t" r="r" b="b"/>
            <a:pathLst>
              <a:path w="1355069" h="1358035">
                <a:moveTo>
                  <a:pt x="0" y="1358035"/>
                </a:moveTo>
                <a:lnTo>
                  <a:pt x="18472" y="0"/>
                </a:lnTo>
                <a:lnTo>
                  <a:pt x="1355069" y="1348799"/>
                </a:lnTo>
                <a:lnTo>
                  <a:pt x="0" y="1358035"/>
                </a:lnTo>
                <a:close/>
              </a:path>
            </a:pathLst>
          </a:custGeom>
          <a:solidFill>
            <a:srgbClr val="0057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FE8FA078-0210-91FF-685A-98BEB2C28187}"/>
              </a:ext>
            </a:extLst>
          </p:cNvPr>
          <p:cNvSpPr txBox="1"/>
          <p:nvPr/>
        </p:nvSpPr>
        <p:spPr>
          <a:xfrm>
            <a:off x="7517143" y="4465627"/>
            <a:ext cx="2266478" cy="1015663"/>
          </a:xfrm>
          <a:prstGeom prst="rect">
            <a:avLst/>
          </a:prstGeom>
          <a:noFill/>
        </p:spPr>
        <p:txBody>
          <a:bodyPr wrap="square" rtlCol="0">
            <a:spAutoFit/>
          </a:bodyPr>
          <a:lstStyle/>
          <a:p>
            <a:pPr algn="ctr"/>
            <a:r>
              <a:rPr lang="en-US" sz="1200" dirty="0">
                <a:solidFill>
                  <a:schemeClr val="bg1"/>
                </a:solidFill>
                <a:latin typeface="Poppins Medium" panose="00000600000000000000" pitchFamily="2" charset="0"/>
                <a:cs typeface="Poppins Medium" panose="00000600000000000000" pitchFamily="2" charset="0"/>
              </a:rPr>
              <a:t>You’re the job site employer. You’ll still be responsible for hiring, firing, and supervising your employees.</a:t>
            </a:r>
          </a:p>
        </p:txBody>
      </p:sp>
      <p:sp>
        <p:nvSpPr>
          <p:cNvPr id="45" name="TextBox 44">
            <a:extLst>
              <a:ext uri="{FF2B5EF4-FFF2-40B4-BE49-F238E27FC236}">
                <a16:creationId xmlns:a16="http://schemas.microsoft.com/office/drawing/2014/main" id="{8A561D43-6497-06FA-F4D1-84FFAB6ACA6E}"/>
              </a:ext>
            </a:extLst>
          </p:cNvPr>
          <p:cNvSpPr txBox="1"/>
          <p:nvPr/>
        </p:nvSpPr>
        <p:spPr>
          <a:xfrm>
            <a:off x="3673022" y="4465627"/>
            <a:ext cx="2629626" cy="1015663"/>
          </a:xfrm>
          <a:prstGeom prst="rect">
            <a:avLst/>
          </a:prstGeom>
          <a:noFill/>
        </p:spPr>
        <p:txBody>
          <a:bodyPr wrap="square" rtlCol="0">
            <a:spAutoFit/>
          </a:bodyPr>
          <a:lstStyle/>
          <a:p>
            <a:pPr algn="ctr"/>
            <a:r>
              <a:rPr lang="en-US" sz="1200" dirty="0">
                <a:solidFill>
                  <a:schemeClr val="bg1"/>
                </a:solidFill>
                <a:latin typeface="Poppins Medium" panose="00000600000000000000" pitchFamily="2" charset="0"/>
                <a:cs typeface="Poppins Medium" panose="00000600000000000000" pitchFamily="2" charset="0"/>
              </a:rPr>
              <a:t>By outsourcing payroll and  administrative tasks to Galactic, you add                             productive hours to your business.</a:t>
            </a:r>
          </a:p>
        </p:txBody>
      </p:sp>
      <p:sp>
        <p:nvSpPr>
          <p:cNvPr id="46" name="TextBox 45">
            <a:extLst>
              <a:ext uri="{FF2B5EF4-FFF2-40B4-BE49-F238E27FC236}">
                <a16:creationId xmlns:a16="http://schemas.microsoft.com/office/drawing/2014/main" id="{83B0A72F-598D-C4BF-F917-F9D8EFA1DE8B}"/>
              </a:ext>
            </a:extLst>
          </p:cNvPr>
          <p:cNvSpPr txBox="1"/>
          <p:nvPr/>
        </p:nvSpPr>
        <p:spPr>
          <a:xfrm>
            <a:off x="7718546" y="4104869"/>
            <a:ext cx="1863673" cy="338554"/>
          </a:xfrm>
          <a:prstGeom prst="rect">
            <a:avLst/>
          </a:prstGeom>
          <a:noFill/>
        </p:spPr>
        <p:txBody>
          <a:bodyPr wrap="square" rtlCol="0">
            <a:spAutoFit/>
          </a:bodyPr>
          <a:lstStyle/>
          <a:p>
            <a:r>
              <a:rPr lang="en-US" sz="1600" u="sng" dirty="0">
                <a:solidFill>
                  <a:schemeClr val="bg1"/>
                </a:solidFill>
                <a:latin typeface="Poppins Black" panose="00000A00000000000000" pitchFamily="2" charset="0"/>
                <a:cs typeface="Poppins Black" panose="00000A00000000000000" pitchFamily="2" charset="0"/>
              </a:rPr>
              <a:t>You’re the Boss</a:t>
            </a:r>
          </a:p>
        </p:txBody>
      </p:sp>
      <p:sp>
        <p:nvSpPr>
          <p:cNvPr id="48" name="TextBox 47">
            <a:extLst>
              <a:ext uri="{FF2B5EF4-FFF2-40B4-BE49-F238E27FC236}">
                <a16:creationId xmlns:a16="http://schemas.microsoft.com/office/drawing/2014/main" id="{4021B2D2-2E26-3394-EF5D-F4FD356CC4A0}"/>
              </a:ext>
            </a:extLst>
          </p:cNvPr>
          <p:cNvSpPr txBox="1"/>
          <p:nvPr/>
        </p:nvSpPr>
        <p:spPr>
          <a:xfrm>
            <a:off x="3633052" y="4104869"/>
            <a:ext cx="2709567" cy="338554"/>
          </a:xfrm>
          <a:prstGeom prst="rect">
            <a:avLst/>
          </a:prstGeom>
          <a:noFill/>
        </p:spPr>
        <p:txBody>
          <a:bodyPr wrap="square" rtlCol="0">
            <a:spAutoFit/>
          </a:bodyPr>
          <a:lstStyle/>
          <a:p>
            <a:r>
              <a:rPr lang="en-US" sz="1600" u="sng" dirty="0">
                <a:solidFill>
                  <a:schemeClr val="bg1"/>
                </a:solidFill>
                <a:latin typeface="Poppins Black" panose="00000A00000000000000" pitchFamily="2" charset="0"/>
                <a:cs typeface="Poppins Black" panose="00000A00000000000000" pitchFamily="2" charset="0"/>
              </a:rPr>
              <a:t>Focus on Your Business</a:t>
            </a:r>
          </a:p>
        </p:txBody>
      </p:sp>
      <p:sp>
        <p:nvSpPr>
          <p:cNvPr id="49" name="Arrow: Chevron 48">
            <a:extLst>
              <a:ext uri="{FF2B5EF4-FFF2-40B4-BE49-F238E27FC236}">
                <a16:creationId xmlns:a16="http://schemas.microsoft.com/office/drawing/2014/main" id="{CE84F96E-CF12-70C5-64AF-D5A6A47340B0}"/>
              </a:ext>
            </a:extLst>
          </p:cNvPr>
          <p:cNvSpPr/>
          <p:nvPr/>
        </p:nvSpPr>
        <p:spPr>
          <a:xfrm>
            <a:off x="6450658" y="4465627"/>
            <a:ext cx="969636" cy="762238"/>
          </a:xfrm>
          <a:prstGeom prst="chevron">
            <a:avLst/>
          </a:prstGeom>
          <a:solidFill>
            <a:srgbClr val="FFD106"/>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5791"/>
              </a:solidFill>
            </a:endParaRPr>
          </a:p>
        </p:txBody>
      </p:sp>
      <p:sp>
        <p:nvSpPr>
          <p:cNvPr id="50" name="TextBox 49">
            <a:extLst>
              <a:ext uri="{FF2B5EF4-FFF2-40B4-BE49-F238E27FC236}">
                <a16:creationId xmlns:a16="http://schemas.microsoft.com/office/drawing/2014/main" id="{F6A1C9E8-CCFD-A250-3A00-54C461D9159F}"/>
              </a:ext>
            </a:extLst>
          </p:cNvPr>
          <p:cNvSpPr txBox="1"/>
          <p:nvPr/>
        </p:nvSpPr>
        <p:spPr>
          <a:xfrm>
            <a:off x="1597887" y="2194308"/>
            <a:ext cx="8996222" cy="1497846"/>
          </a:xfrm>
          <a:prstGeom prst="rect">
            <a:avLst/>
          </a:prstGeom>
          <a:noFill/>
        </p:spPr>
        <p:txBody>
          <a:bodyPr wrap="square" rtlCol="0">
            <a:spAutoFit/>
          </a:bodyPr>
          <a:lstStyle/>
          <a:p>
            <a:pPr>
              <a:lnSpc>
                <a:spcPts val="2220"/>
              </a:lnSpc>
            </a:pPr>
            <a:r>
              <a:rPr lang="en-US" sz="1350" dirty="0">
                <a:solidFill>
                  <a:srgbClr val="000000"/>
                </a:solidFill>
                <a:latin typeface="Poppins Light" panose="00000400000000000000" pitchFamily="2" charset="0"/>
                <a:ea typeface="Cabin"/>
                <a:cs typeface="Poppins Light" panose="00000400000000000000" pitchFamily="2" charset="0"/>
                <a:sym typeface="Cabin"/>
              </a:rPr>
              <a:t>Galactic partners with you to manage HR functions like payroll, benefits, compliance, and more. We act as your administrative employer, while you remain as the job site employer. Galactic works to improve your business by streamlining HR operations, reducing administrative burdens, ensuring compliance, and giving you access to better employee benefits so you can focus on growing your business.</a:t>
            </a:r>
          </a:p>
          <a:p>
            <a:endParaRPr lang="en-US" dirty="0"/>
          </a:p>
        </p:txBody>
      </p:sp>
      <p:sp>
        <p:nvSpPr>
          <p:cNvPr id="2" name="Google Shape;301;p45">
            <a:extLst>
              <a:ext uri="{FF2B5EF4-FFF2-40B4-BE49-F238E27FC236}">
                <a16:creationId xmlns:a16="http://schemas.microsoft.com/office/drawing/2014/main" id="{B3577987-AEFE-A642-3FEB-A1BEE45EF416}"/>
              </a:ext>
            </a:extLst>
          </p:cNvPr>
          <p:cNvSpPr/>
          <p:nvPr/>
        </p:nvSpPr>
        <p:spPr>
          <a:xfrm rot="2536618">
            <a:off x="10965531" y="5567745"/>
            <a:ext cx="1295777" cy="1985228"/>
          </a:xfrm>
          <a:prstGeom prst="rect">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3" name="Google Shape;301;p45">
            <a:extLst>
              <a:ext uri="{FF2B5EF4-FFF2-40B4-BE49-F238E27FC236}">
                <a16:creationId xmlns:a16="http://schemas.microsoft.com/office/drawing/2014/main" id="{067CA9C2-465F-E05C-BB9F-44598FFA16DA}"/>
              </a:ext>
            </a:extLst>
          </p:cNvPr>
          <p:cNvSpPr/>
          <p:nvPr/>
        </p:nvSpPr>
        <p:spPr>
          <a:xfrm rot="13336618">
            <a:off x="11248168" y="4703743"/>
            <a:ext cx="558190" cy="2739626"/>
          </a:xfrm>
          <a:prstGeom prst="rect">
            <a:avLst/>
          </a:prstGeom>
          <a:solidFill>
            <a:srgbClr val="FFD106"/>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4" name="Google Shape;301;p45">
            <a:extLst>
              <a:ext uri="{FF2B5EF4-FFF2-40B4-BE49-F238E27FC236}">
                <a16:creationId xmlns:a16="http://schemas.microsoft.com/office/drawing/2014/main" id="{77E5CCFB-87D0-C92B-F310-3B8C51D389A9}"/>
              </a:ext>
            </a:extLst>
          </p:cNvPr>
          <p:cNvSpPr/>
          <p:nvPr/>
        </p:nvSpPr>
        <p:spPr>
          <a:xfrm rot="2536618">
            <a:off x="-331194" y="-928198"/>
            <a:ext cx="1295777" cy="3017520"/>
          </a:xfrm>
          <a:prstGeom prst="rect">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6" name="Google Shape;301;p45">
            <a:extLst>
              <a:ext uri="{FF2B5EF4-FFF2-40B4-BE49-F238E27FC236}">
                <a16:creationId xmlns:a16="http://schemas.microsoft.com/office/drawing/2014/main" id="{98A179E3-2618-9F5A-A5C4-5ADA82F8FFB0}"/>
              </a:ext>
            </a:extLst>
          </p:cNvPr>
          <p:cNvSpPr/>
          <p:nvPr/>
        </p:nvSpPr>
        <p:spPr>
          <a:xfrm rot="13336618">
            <a:off x="377343" y="-596440"/>
            <a:ext cx="558190" cy="2729094"/>
          </a:xfrm>
          <a:prstGeom prst="rect">
            <a:avLst/>
          </a:prstGeom>
          <a:solidFill>
            <a:srgbClr val="FFD106"/>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pic>
        <p:nvPicPr>
          <p:cNvPr id="9" name="Picture 8" descr="A blue text on a black background&#10;&#10;AI-generated content may be incorrect.">
            <a:extLst>
              <a:ext uri="{FF2B5EF4-FFF2-40B4-BE49-F238E27FC236}">
                <a16:creationId xmlns:a16="http://schemas.microsoft.com/office/drawing/2014/main" id="{BD89FC9F-9574-8F80-B9A9-0C7B0FC8CC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5114" y="-492244"/>
            <a:ext cx="7921768" cy="2520701"/>
          </a:xfrm>
          <a:prstGeom prst="rect">
            <a:avLst/>
          </a:prstGeom>
        </p:spPr>
      </p:pic>
      <p:pic>
        <p:nvPicPr>
          <p:cNvPr id="10" name="Graphic 9">
            <a:extLst>
              <a:ext uri="{FF2B5EF4-FFF2-40B4-BE49-F238E27FC236}">
                <a16:creationId xmlns:a16="http://schemas.microsoft.com/office/drawing/2014/main" id="{E30266DC-D4F0-CAE5-A3C2-6E5A7CB73D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01153" y="111113"/>
            <a:ext cx="1774506" cy="260163"/>
          </a:xfrm>
          <a:prstGeom prst="rect">
            <a:avLst/>
          </a:prstGeom>
        </p:spPr>
      </p:pic>
    </p:spTree>
    <p:extLst>
      <p:ext uri="{BB962C8B-B14F-4D97-AF65-F5344CB8AC3E}">
        <p14:creationId xmlns:p14="http://schemas.microsoft.com/office/powerpoint/2010/main" val="3988971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Rectangle 176">
            <a:extLst>
              <a:ext uri="{FF2B5EF4-FFF2-40B4-BE49-F238E27FC236}">
                <a16:creationId xmlns:a16="http://schemas.microsoft.com/office/drawing/2014/main" id="{E5ACF5FB-D648-DE5F-0936-842747144B46}"/>
              </a:ext>
            </a:extLst>
          </p:cNvPr>
          <p:cNvSpPr/>
          <p:nvPr/>
        </p:nvSpPr>
        <p:spPr>
          <a:xfrm>
            <a:off x="0" y="0"/>
            <a:ext cx="12192000" cy="1469489"/>
          </a:xfrm>
          <a:prstGeom prst="rect">
            <a:avLst/>
          </a:prstGeom>
          <a:solidFill>
            <a:srgbClr val="63AD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oogle Shape;984;p54">
            <a:extLst>
              <a:ext uri="{FF2B5EF4-FFF2-40B4-BE49-F238E27FC236}">
                <a16:creationId xmlns:a16="http://schemas.microsoft.com/office/drawing/2014/main" id="{4FD0F9A4-54BD-5F45-1E4B-FC6030A52806}"/>
              </a:ext>
            </a:extLst>
          </p:cNvPr>
          <p:cNvGrpSpPr/>
          <p:nvPr/>
        </p:nvGrpSpPr>
        <p:grpSpPr>
          <a:xfrm>
            <a:off x="648491" y="1960917"/>
            <a:ext cx="4027776" cy="4077838"/>
            <a:chOff x="960122" y="2519189"/>
            <a:chExt cx="3608840" cy="3653695"/>
          </a:xfrm>
        </p:grpSpPr>
        <p:sp>
          <p:nvSpPr>
            <p:cNvPr id="89" name="Google Shape;985;p54">
              <a:extLst>
                <a:ext uri="{FF2B5EF4-FFF2-40B4-BE49-F238E27FC236}">
                  <a16:creationId xmlns:a16="http://schemas.microsoft.com/office/drawing/2014/main" id="{86FB4527-B364-A856-DCA4-CED4DDE2D6C5}"/>
                </a:ext>
              </a:extLst>
            </p:cNvPr>
            <p:cNvSpPr/>
            <p:nvPr/>
          </p:nvSpPr>
          <p:spPr>
            <a:xfrm flipH="1">
              <a:off x="2831952" y="2519189"/>
              <a:ext cx="1157965" cy="1081241"/>
            </a:xfrm>
            <a:custGeom>
              <a:avLst/>
              <a:gdLst/>
              <a:ahLst/>
              <a:cxnLst/>
              <a:rect l="l" t="t" r="r" b="b"/>
              <a:pathLst>
                <a:path w="1157965" h="1081241" extrusionOk="0">
                  <a:moveTo>
                    <a:pt x="1157965" y="0"/>
                  </a:moveTo>
                  <a:lnTo>
                    <a:pt x="1007633" y="7591"/>
                  </a:lnTo>
                  <a:cubicBezTo>
                    <a:pt x="665971" y="42289"/>
                    <a:pt x="354327" y="178525"/>
                    <a:pt x="103352" y="385648"/>
                  </a:cubicBezTo>
                  <a:lnTo>
                    <a:pt x="0" y="479582"/>
                  </a:lnTo>
                  <a:lnTo>
                    <a:pt x="601659" y="1081241"/>
                  </a:lnTo>
                  <a:lnTo>
                    <a:pt x="679395" y="1017103"/>
                  </a:lnTo>
                  <a:cubicBezTo>
                    <a:pt x="809272" y="929359"/>
                    <a:pt x="961394" y="872040"/>
                    <a:pt x="1125532" y="855371"/>
                  </a:cubicBezTo>
                  <a:lnTo>
                    <a:pt x="1157965" y="853733"/>
                  </a:lnTo>
                  <a:close/>
                </a:path>
              </a:pathLst>
            </a:custGeom>
            <a:solidFill>
              <a:srgbClr val="A7CCED"/>
            </a:solidFill>
            <a:ln>
              <a:noFill/>
            </a:ln>
            <a:effectLst>
              <a:outerShdw blurRad="203200" dist="76200" dir="5400000" algn="t" rotWithShape="0">
                <a:srgbClr val="000000">
                  <a:alpha val="3098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sp>
          <p:nvSpPr>
            <p:cNvPr id="90" name="Google Shape;986;p54">
              <a:extLst>
                <a:ext uri="{FF2B5EF4-FFF2-40B4-BE49-F238E27FC236}">
                  <a16:creationId xmlns:a16="http://schemas.microsoft.com/office/drawing/2014/main" id="{C2EA5B85-6EF5-9832-73B9-C951B5361633}"/>
                </a:ext>
              </a:extLst>
            </p:cNvPr>
            <p:cNvSpPr/>
            <p:nvPr/>
          </p:nvSpPr>
          <p:spPr>
            <a:xfrm flipH="1">
              <a:off x="1514590" y="2519189"/>
              <a:ext cx="1157964" cy="1081242"/>
            </a:xfrm>
            <a:custGeom>
              <a:avLst/>
              <a:gdLst/>
              <a:ahLst/>
              <a:cxnLst/>
              <a:rect l="l" t="t" r="r" b="b"/>
              <a:pathLst>
                <a:path w="1157964" h="1081242" extrusionOk="0">
                  <a:moveTo>
                    <a:pt x="0" y="0"/>
                  </a:moveTo>
                  <a:lnTo>
                    <a:pt x="0" y="853734"/>
                  </a:lnTo>
                  <a:lnTo>
                    <a:pt x="32432" y="855372"/>
                  </a:lnTo>
                  <a:cubicBezTo>
                    <a:pt x="196571" y="872041"/>
                    <a:pt x="348692" y="929360"/>
                    <a:pt x="478570" y="1017104"/>
                  </a:cubicBezTo>
                  <a:lnTo>
                    <a:pt x="556306" y="1081242"/>
                  </a:lnTo>
                  <a:lnTo>
                    <a:pt x="1157964" y="479584"/>
                  </a:lnTo>
                  <a:lnTo>
                    <a:pt x="1054610" y="385648"/>
                  </a:lnTo>
                  <a:cubicBezTo>
                    <a:pt x="803635" y="178525"/>
                    <a:pt x="491991" y="42289"/>
                    <a:pt x="150329" y="7591"/>
                  </a:cubicBezTo>
                  <a:close/>
                </a:path>
              </a:pathLst>
            </a:custGeom>
            <a:solidFill>
              <a:srgbClr val="95A9B7"/>
            </a:solidFill>
            <a:ln>
              <a:noFill/>
            </a:ln>
            <a:effectLst>
              <a:outerShdw blurRad="203200" dist="76200" dir="5400000" algn="t" rotWithShape="0">
                <a:srgbClr val="000000">
                  <a:alpha val="3098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91" name="Google Shape;987;p54">
              <a:extLst>
                <a:ext uri="{FF2B5EF4-FFF2-40B4-BE49-F238E27FC236}">
                  <a16:creationId xmlns:a16="http://schemas.microsoft.com/office/drawing/2014/main" id="{BC9C9E52-8394-1E68-A727-0E120E14E2A8}"/>
                </a:ext>
              </a:extLst>
            </p:cNvPr>
            <p:cNvSpPr/>
            <p:nvPr/>
          </p:nvSpPr>
          <p:spPr>
            <a:xfrm flipH="1">
              <a:off x="3499204" y="3118880"/>
              <a:ext cx="1069758" cy="1157966"/>
            </a:xfrm>
            <a:custGeom>
              <a:avLst/>
              <a:gdLst/>
              <a:ahLst/>
              <a:cxnLst/>
              <a:rect l="l" t="t" r="r" b="b"/>
              <a:pathLst>
                <a:path w="1069758" h="1157966" extrusionOk="0">
                  <a:moveTo>
                    <a:pt x="479583" y="0"/>
                  </a:moveTo>
                  <a:lnTo>
                    <a:pt x="385648" y="103354"/>
                  </a:lnTo>
                  <a:cubicBezTo>
                    <a:pt x="178525" y="354329"/>
                    <a:pt x="42289" y="665973"/>
                    <a:pt x="7591" y="1007635"/>
                  </a:cubicBezTo>
                  <a:lnTo>
                    <a:pt x="0" y="1157966"/>
                  </a:lnTo>
                  <a:lnTo>
                    <a:pt x="831396" y="1157966"/>
                  </a:lnTo>
                  <a:lnTo>
                    <a:pt x="832944" y="1127313"/>
                  </a:lnTo>
                  <a:cubicBezTo>
                    <a:pt x="849613" y="963174"/>
                    <a:pt x="906933" y="811053"/>
                    <a:pt x="994676" y="681176"/>
                  </a:cubicBezTo>
                  <a:lnTo>
                    <a:pt x="1069758" y="590175"/>
                  </a:lnTo>
                  <a:close/>
                </a:path>
              </a:pathLst>
            </a:custGeom>
            <a:solidFill>
              <a:srgbClr val="63ADF2"/>
            </a:solidFill>
            <a:ln>
              <a:noFill/>
            </a:ln>
            <a:effectLst>
              <a:outerShdw blurRad="203200" dist="76200" dir="5400000" algn="t" rotWithShape="0">
                <a:srgbClr val="000000">
                  <a:alpha val="3098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sp>
          <p:nvSpPr>
            <p:cNvPr id="92" name="Google Shape;988;p54">
              <a:extLst>
                <a:ext uri="{FF2B5EF4-FFF2-40B4-BE49-F238E27FC236}">
                  <a16:creationId xmlns:a16="http://schemas.microsoft.com/office/drawing/2014/main" id="{47BA0AFB-BDE7-073A-73E9-30346ECEB0E6}"/>
                </a:ext>
              </a:extLst>
            </p:cNvPr>
            <p:cNvSpPr/>
            <p:nvPr/>
          </p:nvSpPr>
          <p:spPr>
            <a:xfrm flipH="1">
              <a:off x="960123" y="3118881"/>
              <a:ext cx="1069757" cy="1157964"/>
            </a:xfrm>
            <a:custGeom>
              <a:avLst/>
              <a:gdLst/>
              <a:ahLst/>
              <a:cxnLst/>
              <a:rect l="l" t="t" r="r" b="b"/>
              <a:pathLst>
                <a:path w="1069757" h="1157964" extrusionOk="0">
                  <a:moveTo>
                    <a:pt x="590175" y="0"/>
                  </a:moveTo>
                  <a:lnTo>
                    <a:pt x="0" y="590175"/>
                  </a:lnTo>
                  <a:lnTo>
                    <a:pt x="75081" y="681175"/>
                  </a:lnTo>
                  <a:cubicBezTo>
                    <a:pt x="162825" y="811052"/>
                    <a:pt x="220144" y="963173"/>
                    <a:pt x="236814" y="1127312"/>
                  </a:cubicBezTo>
                  <a:lnTo>
                    <a:pt x="238361" y="1157964"/>
                  </a:lnTo>
                  <a:lnTo>
                    <a:pt x="1069757" y="1157964"/>
                  </a:lnTo>
                  <a:lnTo>
                    <a:pt x="1062166" y="1007633"/>
                  </a:lnTo>
                  <a:cubicBezTo>
                    <a:pt x="1027468" y="665971"/>
                    <a:pt x="891232" y="354327"/>
                    <a:pt x="684109" y="103352"/>
                  </a:cubicBezTo>
                  <a:close/>
                </a:path>
              </a:pathLst>
            </a:custGeom>
            <a:solidFill>
              <a:srgbClr val="005791"/>
            </a:solidFill>
            <a:ln>
              <a:noFill/>
            </a:ln>
            <a:effectLst>
              <a:outerShdw blurRad="203200" dist="76200" dir="5400000" algn="t" rotWithShape="0">
                <a:srgbClr val="000000">
                  <a:alpha val="3098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sp>
          <p:nvSpPr>
            <p:cNvPr id="93" name="Google Shape;989;p54">
              <a:extLst>
                <a:ext uri="{FF2B5EF4-FFF2-40B4-BE49-F238E27FC236}">
                  <a16:creationId xmlns:a16="http://schemas.microsoft.com/office/drawing/2014/main" id="{B1B7C636-CFBC-CE1C-E26D-B4F32A3B505A}"/>
                </a:ext>
              </a:extLst>
            </p:cNvPr>
            <p:cNvSpPr/>
            <p:nvPr/>
          </p:nvSpPr>
          <p:spPr>
            <a:xfrm flipH="1">
              <a:off x="960122" y="4426794"/>
              <a:ext cx="1074986" cy="1157964"/>
            </a:xfrm>
            <a:custGeom>
              <a:avLst/>
              <a:gdLst/>
              <a:ahLst/>
              <a:cxnLst/>
              <a:rect l="l" t="t" r="r" b="b"/>
              <a:pathLst>
                <a:path w="1074986" h="1157964" extrusionOk="0">
                  <a:moveTo>
                    <a:pt x="1074986" y="0"/>
                  </a:moveTo>
                  <a:lnTo>
                    <a:pt x="243006" y="0"/>
                  </a:lnTo>
                  <a:lnTo>
                    <a:pt x="242043" y="19086"/>
                  </a:lnTo>
                  <a:cubicBezTo>
                    <a:pt x="225373" y="183224"/>
                    <a:pt x="168054" y="335345"/>
                    <a:pt x="80310" y="465223"/>
                  </a:cubicBezTo>
                  <a:lnTo>
                    <a:pt x="0" y="562560"/>
                  </a:lnTo>
                  <a:lnTo>
                    <a:pt x="595404" y="1157964"/>
                  </a:lnTo>
                  <a:lnTo>
                    <a:pt x="689338" y="1054611"/>
                  </a:lnTo>
                  <a:cubicBezTo>
                    <a:pt x="896461" y="803636"/>
                    <a:pt x="1032697" y="491992"/>
                    <a:pt x="1067395" y="150330"/>
                  </a:cubicBezTo>
                  <a:close/>
                </a:path>
              </a:pathLst>
            </a:custGeom>
            <a:solidFill>
              <a:srgbClr val="63ADF2"/>
            </a:solidFill>
            <a:ln>
              <a:noFill/>
            </a:ln>
            <a:effectLst>
              <a:outerShdw blurRad="203200" dist="76200" dir="5400000" algn="t" rotWithShape="0">
                <a:srgbClr val="000000">
                  <a:alpha val="3098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94" name="Google Shape;990;p54">
              <a:extLst>
                <a:ext uri="{FF2B5EF4-FFF2-40B4-BE49-F238E27FC236}">
                  <a16:creationId xmlns:a16="http://schemas.microsoft.com/office/drawing/2014/main" id="{239344EE-19D3-7267-1EF0-8A9B5DFCF6CF}"/>
                </a:ext>
              </a:extLst>
            </p:cNvPr>
            <p:cNvSpPr/>
            <p:nvPr/>
          </p:nvSpPr>
          <p:spPr>
            <a:xfrm flipH="1">
              <a:off x="3493974" y="4426794"/>
              <a:ext cx="1074988" cy="1157965"/>
            </a:xfrm>
            <a:custGeom>
              <a:avLst/>
              <a:gdLst/>
              <a:ahLst/>
              <a:cxnLst/>
              <a:rect l="l" t="t" r="r" b="b"/>
              <a:pathLst>
                <a:path w="1074988" h="1157965" extrusionOk="0">
                  <a:moveTo>
                    <a:pt x="831980" y="0"/>
                  </a:moveTo>
                  <a:lnTo>
                    <a:pt x="0" y="0"/>
                  </a:lnTo>
                  <a:lnTo>
                    <a:pt x="7590" y="150330"/>
                  </a:lnTo>
                  <a:cubicBezTo>
                    <a:pt x="42288" y="491992"/>
                    <a:pt x="178524" y="803636"/>
                    <a:pt x="385647" y="1054611"/>
                  </a:cubicBezTo>
                  <a:lnTo>
                    <a:pt x="479583" y="1157965"/>
                  </a:lnTo>
                  <a:lnTo>
                    <a:pt x="1074988" y="562561"/>
                  </a:lnTo>
                  <a:lnTo>
                    <a:pt x="994676" y="465223"/>
                  </a:lnTo>
                  <a:cubicBezTo>
                    <a:pt x="906933" y="335345"/>
                    <a:pt x="849613" y="183224"/>
                    <a:pt x="832944" y="19086"/>
                  </a:cubicBezTo>
                  <a:close/>
                </a:path>
              </a:pathLst>
            </a:custGeom>
            <a:solidFill>
              <a:srgbClr val="005791"/>
            </a:solidFill>
            <a:ln>
              <a:noFill/>
            </a:ln>
            <a:effectLst>
              <a:outerShdw blurRad="203200" dist="76200" dir="5400000" algn="t" rotWithShape="0">
                <a:srgbClr val="000000">
                  <a:alpha val="3098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sp>
          <p:nvSpPr>
            <p:cNvPr id="95" name="Google Shape;991;p54">
              <a:extLst>
                <a:ext uri="{FF2B5EF4-FFF2-40B4-BE49-F238E27FC236}">
                  <a16:creationId xmlns:a16="http://schemas.microsoft.com/office/drawing/2014/main" id="{0057934A-5D89-A139-B852-F689003606A1}"/>
                </a:ext>
              </a:extLst>
            </p:cNvPr>
            <p:cNvSpPr/>
            <p:nvPr/>
          </p:nvSpPr>
          <p:spPr>
            <a:xfrm flipH="1">
              <a:off x="1539167" y="5091642"/>
              <a:ext cx="1157964" cy="1081242"/>
            </a:xfrm>
            <a:custGeom>
              <a:avLst/>
              <a:gdLst/>
              <a:ahLst/>
              <a:cxnLst/>
              <a:rect l="l" t="t" r="r" b="b"/>
              <a:pathLst>
                <a:path w="1157964" h="1081242" extrusionOk="0">
                  <a:moveTo>
                    <a:pt x="556305" y="0"/>
                  </a:moveTo>
                  <a:lnTo>
                    <a:pt x="478570" y="64138"/>
                  </a:lnTo>
                  <a:cubicBezTo>
                    <a:pt x="348692" y="151882"/>
                    <a:pt x="196571" y="209201"/>
                    <a:pt x="32433" y="225871"/>
                  </a:cubicBezTo>
                  <a:lnTo>
                    <a:pt x="0" y="227508"/>
                  </a:lnTo>
                  <a:lnTo>
                    <a:pt x="0" y="1081242"/>
                  </a:lnTo>
                  <a:lnTo>
                    <a:pt x="150329" y="1073651"/>
                  </a:lnTo>
                  <a:cubicBezTo>
                    <a:pt x="491991" y="1038953"/>
                    <a:pt x="803635" y="902717"/>
                    <a:pt x="1054610" y="695594"/>
                  </a:cubicBezTo>
                  <a:lnTo>
                    <a:pt x="1157964" y="601659"/>
                  </a:lnTo>
                  <a:close/>
                </a:path>
              </a:pathLst>
            </a:custGeom>
            <a:solidFill>
              <a:srgbClr val="A7CCED"/>
            </a:solidFill>
            <a:ln>
              <a:noFill/>
            </a:ln>
            <a:effectLst>
              <a:outerShdw blurRad="203200" dist="76200" dir="5400000" algn="t" rotWithShape="0">
                <a:srgbClr val="000000">
                  <a:alpha val="3098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96" name="Google Shape;992;p54">
              <a:extLst>
                <a:ext uri="{FF2B5EF4-FFF2-40B4-BE49-F238E27FC236}">
                  <a16:creationId xmlns:a16="http://schemas.microsoft.com/office/drawing/2014/main" id="{D93952C7-B968-D9C1-389B-CCD2D2E3E134}"/>
                </a:ext>
              </a:extLst>
            </p:cNvPr>
            <p:cNvSpPr/>
            <p:nvPr/>
          </p:nvSpPr>
          <p:spPr>
            <a:xfrm flipH="1">
              <a:off x="2831952" y="5091643"/>
              <a:ext cx="1157965" cy="1081241"/>
            </a:xfrm>
            <a:custGeom>
              <a:avLst/>
              <a:gdLst/>
              <a:ahLst/>
              <a:cxnLst/>
              <a:rect l="l" t="t" r="r" b="b"/>
              <a:pathLst>
                <a:path w="1157965" h="1081241" extrusionOk="0">
                  <a:moveTo>
                    <a:pt x="601660" y="0"/>
                  </a:moveTo>
                  <a:lnTo>
                    <a:pt x="0" y="601659"/>
                  </a:lnTo>
                  <a:lnTo>
                    <a:pt x="103352" y="695593"/>
                  </a:lnTo>
                  <a:cubicBezTo>
                    <a:pt x="354327" y="902716"/>
                    <a:pt x="665971" y="1038952"/>
                    <a:pt x="1007633" y="1073650"/>
                  </a:cubicBezTo>
                  <a:lnTo>
                    <a:pt x="1157965" y="1081241"/>
                  </a:lnTo>
                  <a:lnTo>
                    <a:pt x="1157965" y="227507"/>
                  </a:lnTo>
                  <a:lnTo>
                    <a:pt x="1125532" y="225870"/>
                  </a:lnTo>
                  <a:cubicBezTo>
                    <a:pt x="961394" y="209200"/>
                    <a:pt x="809272" y="151881"/>
                    <a:pt x="679395" y="64137"/>
                  </a:cubicBezTo>
                  <a:close/>
                </a:path>
              </a:pathLst>
            </a:custGeom>
            <a:solidFill>
              <a:srgbClr val="95A9B7"/>
            </a:solidFill>
            <a:ln>
              <a:noFill/>
            </a:ln>
            <a:effectLst>
              <a:outerShdw blurRad="203200" dist="76200" dir="5400000" algn="t" rotWithShape="0">
                <a:srgbClr val="000000">
                  <a:alpha val="3098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104" name="Google Shape;1000;p54">
              <a:extLst>
                <a:ext uri="{FF2B5EF4-FFF2-40B4-BE49-F238E27FC236}">
                  <a16:creationId xmlns:a16="http://schemas.microsoft.com/office/drawing/2014/main" id="{D5BBAA11-231A-7DA5-0EB5-488DFAB9FCE1}"/>
                </a:ext>
              </a:extLst>
            </p:cNvPr>
            <p:cNvSpPr/>
            <p:nvPr/>
          </p:nvSpPr>
          <p:spPr>
            <a:xfrm>
              <a:off x="2341559" y="3858848"/>
              <a:ext cx="845967" cy="974376"/>
            </a:xfrm>
            <a:custGeom>
              <a:avLst/>
              <a:gdLst/>
              <a:ahLst/>
              <a:cxnLst/>
              <a:rect l="l" t="t" r="r" b="b"/>
              <a:pathLst>
                <a:path w="188" h="216" extrusionOk="0">
                  <a:moveTo>
                    <a:pt x="122" y="128"/>
                  </a:moveTo>
                  <a:cubicBezTo>
                    <a:pt x="63" y="128"/>
                    <a:pt x="63" y="128"/>
                    <a:pt x="63" y="128"/>
                  </a:cubicBezTo>
                  <a:cubicBezTo>
                    <a:pt x="27" y="128"/>
                    <a:pt x="0" y="165"/>
                    <a:pt x="0" y="210"/>
                  </a:cubicBezTo>
                  <a:cubicBezTo>
                    <a:pt x="0" y="212"/>
                    <a:pt x="0" y="216"/>
                    <a:pt x="4" y="216"/>
                  </a:cubicBezTo>
                  <a:cubicBezTo>
                    <a:pt x="184" y="216"/>
                    <a:pt x="184" y="216"/>
                    <a:pt x="184" y="216"/>
                  </a:cubicBezTo>
                  <a:cubicBezTo>
                    <a:pt x="188" y="216"/>
                    <a:pt x="188" y="212"/>
                    <a:pt x="188" y="210"/>
                  </a:cubicBezTo>
                  <a:cubicBezTo>
                    <a:pt x="188" y="165"/>
                    <a:pt x="157" y="128"/>
                    <a:pt x="122" y="128"/>
                  </a:cubicBezTo>
                  <a:close/>
                  <a:moveTo>
                    <a:pt x="8" y="208"/>
                  </a:moveTo>
                  <a:cubicBezTo>
                    <a:pt x="8" y="168"/>
                    <a:pt x="33" y="136"/>
                    <a:pt x="64" y="136"/>
                  </a:cubicBezTo>
                  <a:cubicBezTo>
                    <a:pt x="120" y="136"/>
                    <a:pt x="120" y="136"/>
                    <a:pt x="120" y="136"/>
                  </a:cubicBezTo>
                  <a:cubicBezTo>
                    <a:pt x="151" y="136"/>
                    <a:pt x="180" y="168"/>
                    <a:pt x="180" y="208"/>
                  </a:cubicBezTo>
                  <a:lnTo>
                    <a:pt x="8" y="208"/>
                  </a:lnTo>
                  <a:close/>
                  <a:moveTo>
                    <a:pt x="91" y="114"/>
                  </a:moveTo>
                  <a:cubicBezTo>
                    <a:pt x="123" y="114"/>
                    <a:pt x="148" y="88"/>
                    <a:pt x="148" y="57"/>
                  </a:cubicBezTo>
                  <a:cubicBezTo>
                    <a:pt x="148" y="25"/>
                    <a:pt x="123" y="0"/>
                    <a:pt x="91" y="0"/>
                  </a:cubicBezTo>
                  <a:cubicBezTo>
                    <a:pt x="60" y="0"/>
                    <a:pt x="34" y="25"/>
                    <a:pt x="34" y="57"/>
                  </a:cubicBezTo>
                  <a:cubicBezTo>
                    <a:pt x="34" y="88"/>
                    <a:pt x="60" y="114"/>
                    <a:pt x="91" y="114"/>
                  </a:cubicBezTo>
                  <a:close/>
                  <a:moveTo>
                    <a:pt x="91" y="8"/>
                  </a:moveTo>
                  <a:cubicBezTo>
                    <a:pt x="118" y="8"/>
                    <a:pt x="140" y="30"/>
                    <a:pt x="140" y="57"/>
                  </a:cubicBezTo>
                  <a:cubicBezTo>
                    <a:pt x="140" y="59"/>
                    <a:pt x="140" y="62"/>
                    <a:pt x="140" y="65"/>
                  </a:cubicBezTo>
                  <a:cubicBezTo>
                    <a:pt x="112" y="63"/>
                    <a:pt x="105" y="44"/>
                    <a:pt x="105" y="43"/>
                  </a:cubicBezTo>
                  <a:cubicBezTo>
                    <a:pt x="102" y="35"/>
                    <a:pt x="102" y="35"/>
                    <a:pt x="102" y="35"/>
                  </a:cubicBezTo>
                  <a:cubicBezTo>
                    <a:pt x="98" y="42"/>
                    <a:pt x="98" y="42"/>
                    <a:pt x="98" y="42"/>
                  </a:cubicBezTo>
                  <a:cubicBezTo>
                    <a:pt x="87" y="60"/>
                    <a:pt x="52" y="54"/>
                    <a:pt x="43" y="51"/>
                  </a:cubicBezTo>
                  <a:cubicBezTo>
                    <a:pt x="46" y="27"/>
                    <a:pt x="66" y="8"/>
                    <a:pt x="91" y="8"/>
                  </a:cubicBezTo>
                  <a:close/>
                  <a:moveTo>
                    <a:pt x="100" y="52"/>
                  </a:moveTo>
                  <a:cubicBezTo>
                    <a:pt x="105" y="59"/>
                    <a:pt x="116" y="70"/>
                    <a:pt x="138" y="72"/>
                  </a:cubicBezTo>
                  <a:cubicBezTo>
                    <a:pt x="131" y="92"/>
                    <a:pt x="113" y="106"/>
                    <a:pt x="91" y="106"/>
                  </a:cubicBezTo>
                  <a:cubicBezTo>
                    <a:pt x="65" y="106"/>
                    <a:pt x="44" y="85"/>
                    <a:pt x="43" y="59"/>
                  </a:cubicBezTo>
                  <a:cubicBezTo>
                    <a:pt x="54" y="62"/>
                    <a:pt x="85" y="67"/>
                    <a:pt x="100" y="52"/>
                  </a:cubicBezTo>
                  <a:close/>
                </a:path>
              </a:pathLst>
            </a:custGeom>
            <a:solidFill>
              <a:srgbClr val="005791"/>
            </a:solidFill>
            <a:ln w="38100">
              <a:solidFill>
                <a:srgbClr val="005791"/>
              </a:solidFill>
            </a:ln>
            <a:effectLst>
              <a:outerShdw blurRad="50800" dist="38100" dir="5400000" algn="t" rotWithShape="0">
                <a:prstClr val="black">
                  <a:alpha val="0"/>
                </a:prstClr>
              </a:outerShdw>
            </a:effectLst>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endParaRPr sz="1400" dirty="0">
                <a:solidFill>
                  <a:schemeClr val="dk1"/>
                </a:solidFill>
                <a:latin typeface="Poppins"/>
                <a:ea typeface="Poppins"/>
                <a:cs typeface="Poppins"/>
                <a:sym typeface="Poppins"/>
              </a:endParaRPr>
            </a:p>
          </p:txBody>
        </p:sp>
      </p:grpSp>
      <p:sp>
        <p:nvSpPr>
          <p:cNvPr id="87" name="Google Shape;1011;p54">
            <a:extLst>
              <a:ext uri="{FF2B5EF4-FFF2-40B4-BE49-F238E27FC236}">
                <a16:creationId xmlns:a16="http://schemas.microsoft.com/office/drawing/2014/main" id="{D0CCFA56-5669-C859-30ED-902AD8BE643A}"/>
              </a:ext>
            </a:extLst>
          </p:cNvPr>
          <p:cNvSpPr/>
          <p:nvPr/>
        </p:nvSpPr>
        <p:spPr>
          <a:xfrm>
            <a:off x="5550043" y="2643830"/>
            <a:ext cx="640259" cy="533967"/>
          </a:xfrm>
          <a:prstGeom prst="roundRect">
            <a:avLst>
              <a:gd name="adj" fmla="val 16667"/>
            </a:avLst>
          </a:prstGeom>
          <a:solidFill>
            <a:srgbClr val="A7CCED"/>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b="1" dirty="0">
              <a:solidFill>
                <a:schemeClr val="lt1"/>
              </a:solidFill>
              <a:latin typeface="Cabin"/>
              <a:ea typeface="Cabin"/>
              <a:cs typeface="Cabin"/>
              <a:sym typeface="Cabin"/>
            </a:endParaRPr>
          </a:p>
        </p:txBody>
      </p:sp>
      <p:sp>
        <p:nvSpPr>
          <p:cNvPr id="85" name="Google Shape;1014;p54">
            <a:extLst>
              <a:ext uri="{FF2B5EF4-FFF2-40B4-BE49-F238E27FC236}">
                <a16:creationId xmlns:a16="http://schemas.microsoft.com/office/drawing/2014/main" id="{37E73E13-6269-CB86-9718-F403C782A228}"/>
              </a:ext>
            </a:extLst>
          </p:cNvPr>
          <p:cNvSpPr/>
          <p:nvPr/>
        </p:nvSpPr>
        <p:spPr>
          <a:xfrm>
            <a:off x="5549521" y="3396145"/>
            <a:ext cx="640259" cy="533967"/>
          </a:xfrm>
          <a:prstGeom prst="roundRect">
            <a:avLst>
              <a:gd name="adj" fmla="val 16667"/>
            </a:avLst>
          </a:prstGeom>
          <a:solidFill>
            <a:srgbClr val="63ADF2"/>
          </a:solidFill>
          <a:ln>
            <a:noFill/>
          </a:ln>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b="1">
              <a:solidFill>
                <a:schemeClr val="lt1"/>
              </a:solidFill>
              <a:latin typeface="Cabin"/>
              <a:ea typeface="Cabin"/>
              <a:cs typeface="Cabin"/>
              <a:sym typeface="Cabin"/>
            </a:endParaRPr>
          </a:p>
        </p:txBody>
      </p:sp>
      <p:sp>
        <p:nvSpPr>
          <p:cNvPr id="83" name="Google Shape;1017;p54">
            <a:extLst>
              <a:ext uri="{FF2B5EF4-FFF2-40B4-BE49-F238E27FC236}">
                <a16:creationId xmlns:a16="http://schemas.microsoft.com/office/drawing/2014/main" id="{7A95A52E-EE89-2DF7-6A85-AE69D3AF09CF}"/>
              </a:ext>
            </a:extLst>
          </p:cNvPr>
          <p:cNvSpPr/>
          <p:nvPr/>
        </p:nvSpPr>
        <p:spPr>
          <a:xfrm>
            <a:off x="5549521" y="4148461"/>
            <a:ext cx="640259" cy="533967"/>
          </a:xfrm>
          <a:prstGeom prst="roundRect">
            <a:avLst>
              <a:gd name="adj" fmla="val 16667"/>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b="1">
              <a:solidFill>
                <a:schemeClr val="lt1"/>
              </a:solidFill>
              <a:latin typeface="Cabin"/>
              <a:ea typeface="Cabin"/>
              <a:cs typeface="Cabin"/>
              <a:sym typeface="Cabin"/>
            </a:endParaRPr>
          </a:p>
        </p:txBody>
      </p:sp>
      <p:sp>
        <p:nvSpPr>
          <p:cNvPr id="81" name="Google Shape;1020;p54">
            <a:extLst>
              <a:ext uri="{FF2B5EF4-FFF2-40B4-BE49-F238E27FC236}">
                <a16:creationId xmlns:a16="http://schemas.microsoft.com/office/drawing/2014/main" id="{5AA7CE3C-7828-2892-CE74-919350CA915C}"/>
              </a:ext>
            </a:extLst>
          </p:cNvPr>
          <p:cNvSpPr/>
          <p:nvPr/>
        </p:nvSpPr>
        <p:spPr>
          <a:xfrm>
            <a:off x="5549521" y="4900777"/>
            <a:ext cx="640259" cy="533967"/>
          </a:xfrm>
          <a:prstGeom prst="roundRect">
            <a:avLst>
              <a:gd name="adj" fmla="val 16667"/>
            </a:avLst>
          </a:prstGeom>
          <a:solidFill>
            <a:srgbClr val="95A9B7"/>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b="1">
              <a:solidFill>
                <a:schemeClr val="lt1"/>
              </a:solidFill>
              <a:latin typeface="Cabin"/>
              <a:ea typeface="Cabin"/>
              <a:cs typeface="Cabin"/>
              <a:sym typeface="Cabin"/>
            </a:endParaRPr>
          </a:p>
        </p:txBody>
      </p:sp>
      <p:sp>
        <p:nvSpPr>
          <p:cNvPr id="106" name="Rectangle 105">
            <a:extLst>
              <a:ext uri="{FF2B5EF4-FFF2-40B4-BE49-F238E27FC236}">
                <a16:creationId xmlns:a16="http://schemas.microsoft.com/office/drawing/2014/main" id="{1AEA469E-EB03-54FE-38DE-19FDC692F92B}"/>
              </a:ext>
            </a:extLst>
          </p:cNvPr>
          <p:cNvSpPr/>
          <p:nvPr/>
        </p:nvSpPr>
        <p:spPr>
          <a:xfrm>
            <a:off x="0" y="2831"/>
            <a:ext cx="12192000" cy="1301686"/>
          </a:xfrm>
          <a:prstGeom prst="rect">
            <a:avLst/>
          </a:prstGeom>
          <a:solidFill>
            <a:srgbClr val="0057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7" name="Google Shape;1010;p54">
            <a:extLst>
              <a:ext uri="{FF2B5EF4-FFF2-40B4-BE49-F238E27FC236}">
                <a16:creationId xmlns:a16="http://schemas.microsoft.com/office/drawing/2014/main" id="{055A6759-BFC0-2FC0-152D-8CC6EA253CCD}"/>
              </a:ext>
            </a:extLst>
          </p:cNvPr>
          <p:cNvGrpSpPr/>
          <p:nvPr/>
        </p:nvGrpSpPr>
        <p:grpSpPr>
          <a:xfrm>
            <a:off x="8618284" y="2642951"/>
            <a:ext cx="640259" cy="533967"/>
            <a:chOff x="5738753" y="2610761"/>
            <a:chExt cx="497660" cy="415041"/>
          </a:xfrm>
        </p:grpSpPr>
        <p:sp>
          <p:nvSpPr>
            <p:cNvPr id="108" name="Google Shape;1011;p54">
              <a:extLst>
                <a:ext uri="{FF2B5EF4-FFF2-40B4-BE49-F238E27FC236}">
                  <a16:creationId xmlns:a16="http://schemas.microsoft.com/office/drawing/2014/main" id="{8E354D2D-356D-21DB-235C-58DB6FCF999F}"/>
                </a:ext>
              </a:extLst>
            </p:cNvPr>
            <p:cNvSpPr/>
            <p:nvPr/>
          </p:nvSpPr>
          <p:spPr>
            <a:xfrm>
              <a:off x="5738753" y="2610761"/>
              <a:ext cx="497660" cy="415041"/>
            </a:xfrm>
            <a:prstGeom prst="roundRect">
              <a:avLst>
                <a:gd name="adj" fmla="val 16667"/>
              </a:avLst>
            </a:prstGeom>
            <a:solidFill>
              <a:srgbClr val="A7CCED"/>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b="1">
                <a:solidFill>
                  <a:schemeClr val="lt1"/>
                </a:solidFill>
                <a:latin typeface="Cabin"/>
                <a:ea typeface="Cabin"/>
                <a:cs typeface="Cabin"/>
                <a:sym typeface="Cabin"/>
              </a:endParaRPr>
            </a:p>
          </p:txBody>
        </p:sp>
        <p:sp>
          <p:nvSpPr>
            <p:cNvPr id="109" name="Google Shape;1012;p54">
              <a:extLst>
                <a:ext uri="{FF2B5EF4-FFF2-40B4-BE49-F238E27FC236}">
                  <a16:creationId xmlns:a16="http://schemas.microsoft.com/office/drawing/2014/main" id="{5C3E56A9-1A3E-0DBE-429D-11289038AC8B}"/>
                </a:ext>
              </a:extLst>
            </p:cNvPr>
            <p:cNvSpPr txBox="1"/>
            <p:nvPr/>
          </p:nvSpPr>
          <p:spPr>
            <a:xfrm>
              <a:off x="5858381" y="2677741"/>
              <a:ext cx="260008" cy="29303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2000" dirty="0">
                <a:latin typeface="Poppins Black" panose="00000A00000000000000" pitchFamily="2" charset="0"/>
                <a:cs typeface="Poppins Black" panose="00000A00000000000000" pitchFamily="2" charset="0"/>
              </a:endParaRPr>
            </a:p>
          </p:txBody>
        </p:sp>
      </p:grpSp>
      <p:sp>
        <p:nvSpPr>
          <p:cNvPr id="111" name="Google Shape;1014;p54">
            <a:extLst>
              <a:ext uri="{FF2B5EF4-FFF2-40B4-BE49-F238E27FC236}">
                <a16:creationId xmlns:a16="http://schemas.microsoft.com/office/drawing/2014/main" id="{9CE69B1B-3093-D3C7-FC6F-EF2D15998E15}"/>
              </a:ext>
            </a:extLst>
          </p:cNvPr>
          <p:cNvSpPr/>
          <p:nvPr/>
        </p:nvSpPr>
        <p:spPr>
          <a:xfrm>
            <a:off x="8618284" y="3395266"/>
            <a:ext cx="640259" cy="533967"/>
          </a:xfrm>
          <a:prstGeom prst="roundRect">
            <a:avLst>
              <a:gd name="adj" fmla="val 16667"/>
            </a:avLst>
          </a:prstGeom>
          <a:solidFill>
            <a:srgbClr val="63ADF2"/>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b="1" dirty="0">
              <a:solidFill>
                <a:schemeClr val="lt1"/>
              </a:solidFill>
              <a:latin typeface="Cabin"/>
              <a:ea typeface="Cabin"/>
              <a:cs typeface="Cabin"/>
              <a:sym typeface="Cabin"/>
            </a:endParaRPr>
          </a:p>
        </p:txBody>
      </p:sp>
      <p:sp>
        <p:nvSpPr>
          <p:cNvPr id="114" name="Google Shape;1017;p54">
            <a:extLst>
              <a:ext uri="{FF2B5EF4-FFF2-40B4-BE49-F238E27FC236}">
                <a16:creationId xmlns:a16="http://schemas.microsoft.com/office/drawing/2014/main" id="{94782914-9722-B455-07A8-1E6FBC868298}"/>
              </a:ext>
            </a:extLst>
          </p:cNvPr>
          <p:cNvSpPr/>
          <p:nvPr/>
        </p:nvSpPr>
        <p:spPr>
          <a:xfrm>
            <a:off x="8618284" y="4147582"/>
            <a:ext cx="640259" cy="533967"/>
          </a:xfrm>
          <a:prstGeom prst="roundRect">
            <a:avLst>
              <a:gd name="adj" fmla="val 16667"/>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b="1" dirty="0">
              <a:solidFill>
                <a:schemeClr val="lt1"/>
              </a:solidFill>
              <a:latin typeface="Cabin"/>
              <a:ea typeface="Cabin"/>
              <a:cs typeface="Cabin"/>
              <a:sym typeface="Cabin"/>
            </a:endParaRPr>
          </a:p>
        </p:txBody>
      </p:sp>
      <p:sp>
        <p:nvSpPr>
          <p:cNvPr id="117" name="Google Shape;1020;p54">
            <a:extLst>
              <a:ext uri="{FF2B5EF4-FFF2-40B4-BE49-F238E27FC236}">
                <a16:creationId xmlns:a16="http://schemas.microsoft.com/office/drawing/2014/main" id="{307AADE9-298F-C09C-68AC-CC9E059BB647}"/>
              </a:ext>
            </a:extLst>
          </p:cNvPr>
          <p:cNvSpPr/>
          <p:nvPr/>
        </p:nvSpPr>
        <p:spPr>
          <a:xfrm>
            <a:off x="8618284" y="4899898"/>
            <a:ext cx="640259" cy="533967"/>
          </a:xfrm>
          <a:prstGeom prst="roundRect">
            <a:avLst>
              <a:gd name="adj" fmla="val 16667"/>
            </a:avLst>
          </a:prstGeom>
          <a:solidFill>
            <a:srgbClr val="95A9B7"/>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b="1">
              <a:solidFill>
                <a:schemeClr val="lt1"/>
              </a:solidFill>
              <a:latin typeface="Cabin"/>
              <a:ea typeface="Cabin"/>
              <a:cs typeface="Cabin"/>
              <a:sym typeface="Cabin"/>
            </a:endParaRPr>
          </a:p>
        </p:txBody>
      </p:sp>
      <p:sp>
        <p:nvSpPr>
          <p:cNvPr id="134" name="TextBox 133">
            <a:extLst>
              <a:ext uri="{FF2B5EF4-FFF2-40B4-BE49-F238E27FC236}">
                <a16:creationId xmlns:a16="http://schemas.microsoft.com/office/drawing/2014/main" id="{54C4E63C-FE64-227A-DB4B-507547CC5AE6}"/>
              </a:ext>
            </a:extLst>
          </p:cNvPr>
          <p:cNvSpPr txBox="1"/>
          <p:nvPr/>
        </p:nvSpPr>
        <p:spPr>
          <a:xfrm>
            <a:off x="6304487" y="2630224"/>
            <a:ext cx="1986145" cy="646331"/>
          </a:xfrm>
          <a:prstGeom prst="rect">
            <a:avLst/>
          </a:prstGeom>
          <a:noFill/>
        </p:spPr>
        <p:txBody>
          <a:bodyPr wrap="square" rtlCol="0">
            <a:spAutoFit/>
          </a:bodyPr>
          <a:lstStyle/>
          <a:p>
            <a:r>
              <a:rPr lang="en-US" sz="1200" dirty="0">
                <a:latin typeface="Poppins Light" panose="00000400000000000000" pitchFamily="2" charset="0"/>
                <a:cs typeface="Poppins Light" panose="00000400000000000000" pitchFamily="2" charset="0"/>
              </a:rPr>
              <a:t>Easily import data from time and attendance platforms</a:t>
            </a:r>
          </a:p>
        </p:txBody>
      </p:sp>
      <p:sp>
        <p:nvSpPr>
          <p:cNvPr id="149" name="TextBox 148">
            <a:extLst>
              <a:ext uri="{FF2B5EF4-FFF2-40B4-BE49-F238E27FC236}">
                <a16:creationId xmlns:a16="http://schemas.microsoft.com/office/drawing/2014/main" id="{0B220C1A-D90E-0BD1-5D94-F8176CCBCB18}"/>
              </a:ext>
            </a:extLst>
          </p:cNvPr>
          <p:cNvSpPr txBox="1"/>
          <p:nvPr/>
        </p:nvSpPr>
        <p:spPr>
          <a:xfrm>
            <a:off x="6304487" y="3456092"/>
            <a:ext cx="1974292" cy="461665"/>
          </a:xfrm>
          <a:prstGeom prst="rect">
            <a:avLst/>
          </a:prstGeom>
          <a:noFill/>
        </p:spPr>
        <p:txBody>
          <a:bodyPr wrap="square" rtlCol="0">
            <a:spAutoFit/>
          </a:bodyPr>
          <a:lstStyle/>
          <a:p>
            <a:r>
              <a:rPr lang="en-US" sz="1200" dirty="0">
                <a:latin typeface="Poppins Light" panose="00000400000000000000" pitchFamily="2" charset="0"/>
                <a:cs typeface="Poppins Light" panose="00000400000000000000" pitchFamily="2" charset="0"/>
              </a:rPr>
              <a:t>Specialized payroll reports and data files</a:t>
            </a:r>
          </a:p>
        </p:txBody>
      </p:sp>
      <p:sp>
        <p:nvSpPr>
          <p:cNvPr id="151" name="TextBox 150">
            <a:extLst>
              <a:ext uri="{FF2B5EF4-FFF2-40B4-BE49-F238E27FC236}">
                <a16:creationId xmlns:a16="http://schemas.microsoft.com/office/drawing/2014/main" id="{C35F9B41-CEFD-95EB-B6E6-198986F379E9}"/>
              </a:ext>
            </a:extLst>
          </p:cNvPr>
          <p:cNvSpPr txBox="1"/>
          <p:nvPr/>
        </p:nvSpPr>
        <p:spPr>
          <a:xfrm>
            <a:off x="6317948" y="4112683"/>
            <a:ext cx="1974292" cy="646331"/>
          </a:xfrm>
          <a:prstGeom prst="rect">
            <a:avLst/>
          </a:prstGeom>
          <a:noFill/>
        </p:spPr>
        <p:txBody>
          <a:bodyPr wrap="square" rtlCol="0">
            <a:spAutoFit/>
          </a:bodyPr>
          <a:lstStyle/>
          <a:p>
            <a:r>
              <a:rPr lang="en-US" sz="1200" dirty="0">
                <a:latin typeface="Poppins Light" panose="00000400000000000000" pitchFamily="2" charset="0"/>
                <a:cs typeface="Poppins Light" panose="00000400000000000000" pitchFamily="2" charset="0"/>
              </a:rPr>
              <a:t>Galactic handles all local, state, and federal tax reporting</a:t>
            </a:r>
          </a:p>
        </p:txBody>
      </p:sp>
      <p:sp>
        <p:nvSpPr>
          <p:cNvPr id="152" name="TextBox 151">
            <a:extLst>
              <a:ext uri="{FF2B5EF4-FFF2-40B4-BE49-F238E27FC236}">
                <a16:creationId xmlns:a16="http://schemas.microsoft.com/office/drawing/2014/main" id="{D0439FAC-AA8D-C830-1A89-73CCC832E761}"/>
              </a:ext>
            </a:extLst>
          </p:cNvPr>
          <p:cNvSpPr txBox="1"/>
          <p:nvPr/>
        </p:nvSpPr>
        <p:spPr>
          <a:xfrm>
            <a:off x="6317948" y="4951468"/>
            <a:ext cx="1974292" cy="461665"/>
          </a:xfrm>
          <a:prstGeom prst="rect">
            <a:avLst/>
          </a:prstGeom>
          <a:noFill/>
        </p:spPr>
        <p:txBody>
          <a:bodyPr wrap="square" rtlCol="0">
            <a:spAutoFit/>
          </a:bodyPr>
          <a:lstStyle/>
          <a:p>
            <a:r>
              <a:rPr lang="en-US" sz="1200" dirty="0">
                <a:latin typeface="Poppins Light" panose="00000400000000000000" pitchFamily="2" charset="0"/>
                <a:cs typeface="Poppins Light" panose="00000400000000000000" pitchFamily="2" charset="0"/>
              </a:rPr>
              <a:t>Maintenance of payroll deductions</a:t>
            </a:r>
          </a:p>
        </p:txBody>
      </p:sp>
      <p:sp>
        <p:nvSpPr>
          <p:cNvPr id="153" name="TextBox 152">
            <a:extLst>
              <a:ext uri="{FF2B5EF4-FFF2-40B4-BE49-F238E27FC236}">
                <a16:creationId xmlns:a16="http://schemas.microsoft.com/office/drawing/2014/main" id="{ABE288E9-ED84-9504-444B-796B1F4FBE5A}"/>
              </a:ext>
            </a:extLst>
          </p:cNvPr>
          <p:cNvSpPr txBox="1"/>
          <p:nvPr/>
        </p:nvSpPr>
        <p:spPr>
          <a:xfrm>
            <a:off x="9351273" y="3329148"/>
            <a:ext cx="2292748" cy="646331"/>
          </a:xfrm>
          <a:prstGeom prst="rect">
            <a:avLst/>
          </a:prstGeom>
          <a:noFill/>
        </p:spPr>
        <p:txBody>
          <a:bodyPr wrap="square" rtlCol="0">
            <a:spAutoFit/>
          </a:bodyPr>
          <a:lstStyle/>
          <a:p>
            <a:r>
              <a:rPr lang="en-US" sz="1200" dirty="0">
                <a:latin typeface="Poppins Light" panose="00000400000000000000" pitchFamily="2" charset="0"/>
                <a:cs typeface="Poppins Light" panose="00000400000000000000" pitchFamily="2" charset="0"/>
              </a:rPr>
              <a:t>Seamlessly integrated benefits deductions for your employees</a:t>
            </a:r>
          </a:p>
        </p:txBody>
      </p:sp>
      <p:pic>
        <p:nvPicPr>
          <p:cNvPr id="1026" name="Picture 2" descr="ZayZoon | Earned Wage Access | Financial Wellness Platform for SMBs">
            <a:extLst>
              <a:ext uri="{FF2B5EF4-FFF2-40B4-BE49-F238E27FC236}">
                <a16:creationId xmlns:a16="http://schemas.microsoft.com/office/drawing/2014/main" id="{E8A8309A-A2B1-1B0A-8DB6-3D5D0ABC7C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9400" y="2714891"/>
            <a:ext cx="973498" cy="205472"/>
          </a:xfrm>
          <a:prstGeom prst="rect">
            <a:avLst/>
          </a:prstGeom>
          <a:noFill/>
          <a:extLst>
            <a:ext uri="{909E8E84-426E-40DD-AFC4-6F175D3DCCD1}">
              <a14:hiddenFill xmlns:a14="http://schemas.microsoft.com/office/drawing/2010/main">
                <a:solidFill>
                  <a:srgbClr val="FFFFFF"/>
                </a:solidFill>
              </a14:hiddenFill>
            </a:ext>
          </a:extLst>
        </p:spPr>
      </p:pic>
      <p:sp>
        <p:nvSpPr>
          <p:cNvPr id="154" name="TextBox 153">
            <a:extLst>
              <a:ext uri="{FF2B5EF4-FFF2-40B4-BE49-F238E27FC236}">
                <a16:creationId xmlns:a16="http://schemas.microsoft.com/office/drawing/2014/main" id="{D8EB96B0-46F3-5C3E-2C1D-581F8A8B8028}"/>
              </a:ext>
            </a:extLst>
          </p:cNvPr>
          <p:cNvSpPr txBox="1"/>
          <p:nvPr/>
        </p:nvSpPr>
        <p:spPr>
          <a:xfrm>
            <a:off x="9351273" y="2704919"/>
            <a:ext cx="2519637" cy="461665"/>
          </a:xfrm>
          <a:prstGeom prst="rect">
            <a:avLst/>
          </a:prstGeom>
          <a:noFill/>
        </p:spPr>
        <p:txBody>
          <a:bodyPr wrap="square" rtlCol="0">
            <a:spAutoFit/>
          </a:bodyPr>
          <a:lstStyle/>
          <a:p>
            <a:r>
              <a:rPr lang="en-US" sz="1100" dirty="0">
                <a:latin typeface="Poppins Light" panose="00000400000000000000" pitchFamily="2" charset="0"/>
                <a:cs typeface="Poppins Light" panose="00000400000000000000" pitchFamily="2" charset="0"/>
              </a:rPr>
              <a:t>                            </a:t>
            </a:r>
            <a:r>
              <a:rPr lang="en-US" sz="1200" dirty="0">
                <a:latin typeface="Poppins Light" panose="00000400000000000000" pitchFamily="2" charset="0"/>
                <a:cs typeface="Poppins Light" panose="00000400000000000000" pitchFamily="2" charset="0"/>
              </a:rPr>
              <a:t>automated payroll advance incorporation</a:t>
            </a:r>
            <a:endParaRPr lang="en-US" sz="1100" dirty="0">
              <a:latin typeface="Poppins Light" panose="00000400000000000000" pitchFamily="2" charset="0"/>
              <a:cs typeface="Poppins Light" panose="00000400000000000000" pitchFamily="2" charset="0"/>
            </a:endParaRPr>
          </a:p>
        </p:txBody>
      </p:sp>
      <p:sp>
        <p:nvSpPr>
          <p:cNvPr id="155" name="TextBox 154">
            <a:extLst>
              <a:ext uri="{FF2B5EF4-FFF2-40B4-BE49-F238E27FC236}">
                <a16:creationId xmlns:a16="http://schemas.microsoft.com/office/drawing/2014/main" id="{BB5AEA79-60DA-B42F-6458-78402AE35C1E}"/>
              </a:ext>
            </a:extLst>
          </p:cNvPr>
          <p:cNvSpPr txBox="1"/>
          <p:nvPr/>
        </p:nvSpPr>
        <p:spPr>
          <a:xfrm>
            <a:off x="9351273" y="4193255"/>
            <a:ext cx="1747137" cy="461665"/>
          </a:xfrm>
          <a:prstGeom prst="rect">
            <a:avLst/>
          </a:prstGeom>
          <a:noFill/>
        </p:spPr>
        <p:txBody>
          <a:bodyPr wrap="square" rtlCol="0">
            <a:spAutoFit/>
          </a:bodyPr>
          <a:lstStyle/>
          <a:p>
            <a:r>
              <a:rPr lang="en-US" sz="1200" dirty="0">
                <a:latin typeface="Poppins Light" panose="00000400000000000000" pitchFamily="2" charset="0"/>
                <a:cs typeface="Poppins Light" panose="00000400000000000000" pitchFamily="2" charset="0"/>
              </a:rPr>
              <a:t>Direct Deposit of employee net pay</a:t>
            </a:r>
          </a:p>
        </p:txBody>
      </p:sp>
      <p:pic>
        <p:nvPicPr>
          <p:cNvPr id="157" name="Graphic 156">
            <a:extLst>
              <a:ext uri="{FF2B5EF4-FFF2-40B4-BE49-F238E27FC236}">
                <a16:creationId xmlns:a16="http://schemas.microsoft.com/office/drawing/2014/main" id="{AAF8C418-5468-2C4D-CFAC-FEBE779D4B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21430364">
            <a:off x="1503797" y="4907064"/>
            <a:ext cx="1131691" cy="1131691"/>
          </a:xfrm>
          <a:prstGeom prst="rect">
            <a:avLst/>
          </a:prstGeom>
        </p:spPr>
      </p:pic>
      <p:sp>
        <p:nvSpPr>
          <p:cNvPr id="162" name="TextBox 161">
            <a:extLst>
              <a:ext uri="{FF2B5EF4-FFF2-40B4-BE49-F238E27FC236}">
                <a16:creationId xmlns:a16="http://schemas.microsoft.com/office/drawing/2014/main" id="{2EE12C61-D456-BA22-5CEF-561476379D0E}"/>
              </a:ext>
            </a:extLst>
          </p:cNvPr>
          <p:cNvSpPr txBox="1"/>
          <p:nvPr/>
        </p:nvSpPr>
        <p:spPr>
          <a:xfrm>
            <a:off x="9351273" y="4859209"/>
            <a:ext cx="2435851" cy="646331"/>
          </a:xfrm>
          <a:prstGeom prst="rect">
            <a:avLst/>
          </a:prstGeom>
          <a:noFill/>
        </p:spPr>
        <p:txBody>
          <a:bodyPr wrap="square" rtlCol="0">
            <a:spAutoFit/>
          </a:bodyPr>
          <a:lstStyle/>
          <a:p>
            <a:r>
              <a:rPr lang="en-US" sz="1200" dirty="0">
                <a:latin typeface="Poppins Light" panose="00000400000000000000" pitchFamily="2" charset="0"/>
                <a:cs typeface="Poppins Light" panose="00000400000000000000" pitchFamily="2" charset="0"/>
              </a:rPr>
              <a:t>Employees can easily access pay stubs and W-2s in their personal employee portal</a:t>
            </a:r>
          </a:p>
        </p:txBody>
      </p:sp>
      <p:pic>
        <p:nvPicPr>
          <p:cNvPr id="166" name="Graphic 165" descr="Dollar with solid fill">
            <a:extLst>
              <a:ext uri="{FF2B5EF4-FFF2-40B4-BE49-F238E27FC236}">
                <a16:creationId xmlns:a16="http://schemas.microsoft.com/office/drawing/2014/main" id="{0BD9D461-2024-E6E6-9A58-26FA10EF1F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0140750">
            <a:off x="2910409" y="5100307"/>
            <a:ext cx="667114" cy="667114"/>
          </a:xfrm>
          <a:prstGeom prst="rect">
            <a:avLst/>
          </a:prstGeom>
        </p:spPr>
      </p:pic>
      <p:pic>
        <p:nvPicPr>
          <p:cNvPr id="179" name="Graphic 178" descr="Alarm clock with solid fill">
            <a:extLst>
              <a:ext uri="{FF2B5EF4-FFF2-40B4-BE49-F238E27FC236}">
                <a16:creationId xmlns:a16="http://schemas.microsoft.com/office/drawing/2014/main" id="{C08D2AB2-25D0-A816-9542-1D14B8CAD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478149">
            <a:off x="2874682" y="2201146"/>
            <a:ext cx="738566" cy="738566"/>
          </a:xfrm>
          <a:prstGeom prst="rect">
            <a:avLst/>
          </a:prstGeom>
        </p:spPr>
      </p:pic>
      <p:pic>
        <p:nvPicPr>
          <p:cNvPr id="181" name="Graphic 180" descr="Alarm clock with solid fill">
            <a:extLst>
              <a:ext uri="{FF2B5EF4-FFF2-40B4-BE49-F238E27FC236}">
                <a16:creationId xmlns:a16="http://schemas.microsoft.com/office/drawing/2014/main" id="{ECE59A6E-FADF-E732-807E-5E23253FD2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51531" y="2684762"/>
            <a:ext cx="451044" cy="451044"/>
          </a:xfrm>
          <a:prstGeom prst="rect">
            <a:avLst/>
          </a:prstGeom>
        </p:spPr>
      </p:pic>
      <p:pic>
        <p:nvPicPr>
          <p:cNvPr id="184" name="Graphic 183" descr="Dollar with solid fill">
            <a:extLst>
              <a:ext uri="{FF2B5EF4-FFF2-40B4-BE49-F238E27FC236}">
                <a16:creationId xmlns:a16="http://schemas.microsoft.com/office/drawing/2014/main" id="{D9CF4CAB-11CA-064C-C75F-F54D1E2375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54019" y="4951468"/>
            <a:ext cx="415647" cy="415647"/>
          </a:xfrm>
          <a:prstGeom prst="rect">
            <a:avLst/>
          </a:prstGeom>
        </p:spPr>
      </p:pic>
      <p:pic>
        <p:nvPicPr>
          <p:cNvPr id="185" name="Graphic 184">
            <a:extLst>
              <a:ext uri="{FF2B5EF4-FFF2-40B4-BE49-F238E27FC236}">
                <a16:creationId xmlns:a16="http://schemas.microsoft.com/office/drawing/2014/main" id="{EE88D544-9EC9-345B-5312-559CAB92BC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49675" y="2605264"/>
            <a:ext cx="600164" cy="600164"/>
          </a:xfrm>
          <a:prstGeom prst="rect">
            <a:avLst/>
          </a:prstGeom>
        </p:spPr>
      </p:pic>
      <p:pic>
        <p:nvPicPr>
          <p:cNvPr id="187" name="Graphic 186" descr="Stethoscope with solid fill">
            <a:extLst>
              <a:ext uri="{FF2B5EF4-FFF2-40B4-BE49-F238E27FC236}">
                <a16:creationId xmlns:a16="http://schemas.microsoft.com/office/drawing/2014/main" id="{38F31265-F5FD-F24B-87B4-EB43DD7293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4400000">
            <a:off x="866243" y="4252472"/>
            <a:ext cx="668027" cy="668027"/>
          </a:xfrm>
          <a:prstGeom prst="rect">
            <a:avLst/>
          </a:prstGeom>
        </p:spPr>
      </p:pic>
      <p:pic>
        <p:nvPicPr>
          <p:cNvPr id="188" name="Graphic 187" descr="Stethoscope with solid fill">
            <a:extLst>
              <a:ext uri="{FF2B5EF4-FFF2-40B4-BE49-F238E27FC236}">
                <a16:creationId xmlns:a16="http://schemas.microsoft.com/office/drawing/2014/main" id="{1B4398F6-F16D-4700-A8E5-91EFC53BD58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37481" y="3470603"/>
            <a:ext cx="401863" cy="401863"/>
          </a:xfrm>
          <a:prstGeom prst="rect">
            <a:avLst/>
          </a:prstGeom>
        </p:spPr>
      </p:pic>
      <p:pic>
        <p:nvPicPr>
          <p:cNvPr id="4" name="Graphic 3" descr="Computer with solid fill">
            <a:extLst>
              <a:ext uri="{FF2B5EF4-FFF2-40B4-BE49-F238E27FC236}">
                <a16:creationId xmlns:a16="http://schemas.microsoft.com/office/drawing/2014/main" id="{5D76FF7C-7310-EDE6-2E4A-70D5B73F6F5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20575526">
            <a:off x="1705287" y="2238293"/>
            <a:ext cx="656438" cy="656438"/>
          </a:xfrm>
          <a:prstGeom prst="rect">
            <a:avLst/>
          </a:prstGeom>
        </p:spPr>
      </p:pic>
      <p:pic>
        <p:nvPicPr>
          <p:cNvPr id="6" name="Graphic 5" descr="Open folder with solid fill">
            <a:extLst>
              <a:ext uri="{FF2B5EF4-FFF2-40B4-BE49-F238E27FC236}">
                <a16:creationId xmlns:a16="http://schemas.microsoft.com/office/drawing/2014/main" id="{A816DD8B-D31A-DB97-2010-67AFF1EE60B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4188633">
            <a:off x="3801611" y="3103514"/>
            <a:ext cx="646168" cy="646168"/>
          </a:xfrm>
          <a:prstGeom prst="rect">
            <a:avLst/>
          </a:prstGeom>
        </p:spPr>
      </p:pic>
      <p:pic>
        <p:nvPicPr>
          <p:cNvPr id="8" name="Graphic 7" descr="Bank with solid fill">
            <a:extLst>
              <a:ext uri="{FF2B5EF4-FFF2-40B4-BE49-F238E27FC236}">
                <a16:creationId xmlns:a16="http://schemas.microsoft.com/office/drawing/2014/main" id="{657E32EA-94CC-3A1B-ECD8-7C9963EBB81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8003623">
            <a:off x="859960" y="3062842"/>
            <a:ext cx="664849" cy="664849"/>
          </a:xfrm>
          <a:prstGeom prst="rect">
            <a:avLst/>
          </a:prstGeom>
        </p:spPr>
      </p:pic>
      <p:pic>
        <p:nvPicPr>
          <p:cNvPr id="9" name="Graphic 8" descr="Computer with solid fill">
            <a:extLst>
              <a:ext uri="{FF2B5EF4-FFF2-40B4-BE49-F238E27FC236}">
                <a16:creationId xmlns:a16="http://schemas.microsoft.com/office/drawing/2014/main" id="{AF357681-B4DD-0A55-A411-129E19F7F0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21693" y="4951468"/>
            <a:ext cx="430888" cy="430888"/>
          </a:xfrm>
          <a:prstGeom prst="rect">
            <a:avLst/>
          </a:prstGeom>
        </p:spPr>
      </p:pic>
      <p:pic>
        <p:nvPicPr>
          <p:cNvPr id="10" name="Graphic 9" descr="Bank with solid fill">
            <a:extLst>
              <a:ext uri="{FF2B5EF4-FFF2-40B4-BE49-F238E27FC236}">
                <a16:creationId xmlns:a16="http://schemas.microsoft.com/office/drawing/2014/main" id="{01452D86-B543-EC44-5E11-EC2B19D00A5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19718" y="4187159"/>
            <a:ext cx="432863" cy="432863"/>
          </a:xfrm>
          <a:prstGeom prst="rect">
            <a:avLst/>
          </a:prstGeom>
        </p:spPr>
      </p:pic>
      <p:pic>
        <p:nvPicPr>
          <p:cNvPr id="11" name="Graphic 10" descr="Open folder with solid fill">
            <a:extLst>
              <a:ext uri="{FF2B5EF4-FFF2-40B4-BE49-F238E27FC236}">
                <a16:creationId xmlns:a16="http://schemas.microsoft.com/office/drawing/2014/main" id="{8DA4561E-EFB7-9579-E131-B1443FEB5A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680404" y="3469486"/>
            <a:ext cx="402980" cy="402980"/>
          </a:xfrm>
          <a:prstGeom prst="rect">
            <a:avLst/>
          </a:prstGeom>
        </p:spPr>
      </p:pic>
      <p:pic>
        <p:nvPicPr>
          <p:cNvPr id="13" name="Graphic 12" descr="Scales of justice with solid fill">
            <a:extLst>
              <a:ext uri="{FF2B5EF4-FFF2-40B4-BE49-F238E27FC236}">
                <a16:creationId xmlns:a16="http://schemas.microsoft.com/office/drawing/2014/main" id="{17A49A95-8D2A-50C0-FE19-CC81C8B854F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rot="7200000">
            <a:off x="3810630" y="4307560"/>
            <a:ext cx="588258" cy="588258"/>
          </a:xfrm>
          <a:prstGeom prst="rect">
            <a:avLst/>
          </a:prstGeom>
        </p:spPr>
      </p:pic>
      <p:pic>
        <p:nvPicPr>
          <p:cNvPr id="14" name="Graphic 13" descr="Scales of justice with solid fill">
            <a:extLst>
              <a:ext uri="{FF2B5EF4-FFF2-40B4-BE49-F238E27FC236}">
                <a16:creationId xmlns:a16="http://schemas.microsoft.com/office/drawing/2014/main" id="{CB9A41B0-B7EB-145D-6137-313E9F7F6AD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638560" y="4186170"/>
            <a:ext cx="446563" cy="446563"/>
          </a:xfrm>
          <a:prstGeom prst="rect">
            <a:avLst/>
          </a:prstGeom>
        </p:spPr>
      </p:pic>
      <p:sp>
        <p:nvSpPr>
          <p:cNvPr id="3" name="Rectangle 2">
            <a:extLst>
              <a:ext uri="{FF2B5EF4-FFF2-40B4-BE49-F238E27FC236}">
                <a16:creationId xmlns:a16="http://schemas.microsoft.com/office/drawing/2014/main" id="{76D06724-9B01-5653-DC67-1F0A972731FA}"/>
              </a:ext>
            </a:extLst>
          </p:cNvPr>
          <p:cNvSpPr/>
          <p:nvPr/>
        </p:nvSpPr>
        <p:spPr>
          <a:xfrm>
            <a:off x="-12616" y="1298109"/>
            <a:ext cx="12192000" cy="199764"/>
          </a:xfrm>
          <a:prstGeom prst="rect">
            <a:avLst/>
          </a:prstGeom>
          <a:solidFill>
            <a:srgbClr val="63AD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and white sign with white text&#10;&#10;AI-generated content may be incorrect.">
            <a:extLst>
              <a:ext uri="{FF2B5EF4-FFF2-40B4-BE49-F238E27FC236}">
                <a16:creationId xmlns:a16="http://schemas.microsoft.com/office/drawing/2014/main" id="{088D4808-F7F5-AFF9-7EA9-D15138376B0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122500" y="-526759"/>
            <a:ext cx="7921768" cy="2520701"/>
          </a:xfrm>
          <a:prstGeom prst="rect">
            <a:avLst/>
          </a:prstGeom>
        </p:spPr>
      </p:pic>
      <p:pic>
        <p:nvPicPr>
          <p:cNvPr id="16" name="Graphic 15">
            <a:extLst>
              <a:ext uri="{FF2B5EF4-FFF2-40B4-BE49-F238E27FC236}">
                <a16:creationId xmlns:a16="http://schemas.microsoft.com/office/drawing/2014/main" id="{E63607BA-CE58-E5EF-60EE-16C1CA822F6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24683" y="6514945"/>
            <a:ext cx="1774506" cy="260163"/>
          </a:xfrm>
          <a:prstGeom prst="rect">
            <a:avLst/>
          </a:prstGeom>
        </p:spPr>
      </p:pic>
    </p:spTree>
    <p:extLst>
      <p:ext uri="{BB962C8B-B14F-4D97-AF65-F5344CB8AC3E}">
        <p14:creationId xmlns:p14="http://schemas.microsoft.com/office/powerpoint/2010/main" val="32370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Google Shape;227;p40">
            <a:extLst>
              <a:ext uri="{FF2B5EF4-FFF2-40B4-BE49-F238E27FC236}">
                <a16:creationId xmlns:a16="http://schemas.microsoft.com/office/drawing/2014/main" id="{F410F85C-2473-8E4C-5637-1D72EC5C8A08}"/>
              </a:ext>
            </a:extLst>
          </p:cNvPr>
          <p:cNvSpPr/>
          <p:nvPr/>
        </p:nvSpPr>
        <p:spPr>
          <a:xfrm rot="10800000">
            <a:off x="241132" y="-7231"/>
            <a:ext cx="3065092" cy="1448411"/>
          </a:xfrm>
          <a:custGeom>
            <a:avLst/>
            <a:gdLst/>
            <a:ahLst/>
            <a:cxnLst/>
            <a:rect l="l" t="t" r="r" b="b"/>
            <a:pathLst>
              <a:path w="2438400" h="1219200" extrusionOk="0">
                <a:moveTo>
                  <a:pt x="1219200" y="0"/>
                </a:moveTo>
                <a:lnTo>
                  <a:pt x="2438400" y="1219200"/>
                </a:lnTo>
                <a:lnTo>
                  <a:pt x="0" y="1219200"/>
                </a:lnTo>
                <a:close/>
              </a:path>
            </a:pathLst>
          </a:custGeom>
          <a:solidFill>
            <a:srgbClr val="FFD106"/>
          </a:solid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None/>
            </a:pPr>
            <a:endParaRPr sz="2100">
              <a:solidFill>
                <a:schemeClr val="dk1"/>
              </a:solidFill>
              <a:latin typeface="Poppins"/>
              <a:ea typeface="Poppins"/>
              <a:cs typeface="Poppins"/>
              <a:sym typeface="Poppins"/>
            </a:endParaRPr>
          </a:p>
        </p:txBody>
      </p:sp>
      <p:pic>
        <p:nvPicPr>
          <p:cNvPr id="51" name="Google Shape;235;p40">
            <a:extLst>
              <a:ext uri="{FF2B5EF4-FFF2-40B4-BE49-F238E27FC236}">
                <a16:creationId xmlns:a16="http://schemas.microsoft.com/office/drawing/2014/main" id="{17DD9A02-1F93-D56F-CCA6-C6CC3E8761DE}"/>
              </a:ext>
            </a:extLst>
          </p:cNvPr>
          <p:cNvPicPr preferRelativeResize="0"/>
          <p:nvPr/>
        </p:nvPicPr>
        <p:blipFill>
          <a:blip r:embed="rId3">
            <a:extLst>
              <a:ext uri="{28A0092B-C50C-407E-A947-70E740481C1C}">
                <a14:useLocalDpi xmlns:a14="http://schemas.microsoft.com/office/drawing/2010/main" val="0"/>
              </a:ext>
            </a:extLst>
          </a:blip>
          <a:srcRect l="16613" r="16613"/>
          <a:stretch/>
        </p:blipFill>
        <p:spPr>
          <a:xfrm flipH="1">
            <a:off x="2036847" y="3511911"/>
            <a:ext cx="3676649" cy="3676649"/>
          </a:xfrm>
          <a:custGeom>
            <a:avLst/>
            <a:gdLst/>
            <a:ahLst/>
            <a:cxnLst/>
            <a:rect l="l" t="t" r="r" b="b"/>
            <a:pathLst>
              <a:path w="3962400" h="3962400" extrusionOk="0">
                <a:moveTo>
                  <a:pt x="1981200" y="0"/>
                </a:moveTo>
                <a:lnTo>
                  <a:pt x="3962400" y="1981200"/>
                </a:lnTo>
                <a:lnTo>
                  <a:pt x="1981200" y="3962400"/>
                </a:lnTo>
                <a:lnTo>
                  <a:pt x="0" y="1981200"/>
                </a:lnTo>
                <a:close/>
              </a:path>
            </a:pathLst>
          </a:custGeom>
          <a:noFill/>
          <a:ln>
            <a:noFill/>
          </a:ln>
        </p:spPr>
      </p:pic>
      <p:pic>
        <p:nvPicPr>
          <p:cNvPr id="52" name="Google Shape;235;p40">
            <a:extLst>
              <a:ext uri="{FF2B5EF4-FFF2-40B4-BE49-F238E27FC236}">
                <a16:creationId xmlns:a16="http://schemas.microsoft.com/office/drawing/2014/main" id="{DA4C1547-F682-F0C0-8EBB-3E9EEBE38ADB}"/>
              </a:ext>
            </a:extLst>
          </p:cNvPr>
          <p:cNvPicPr preferRelativeResize="0"/>
          <p:nvPr/>
        </p:nvPicPr>
        <p:blipFill>
          <a:blip r:embed="rId4">
            <a:extLst>
              <a:ext uri="{28A0092B-C50C-407E-A947-70E740481C1C}">
                <a14:useLocalDpi xmlns:a14="http://schemas.microsoft.com/office/drawing/2010/main" val="0"/>
              </a:ext>
            </a:extLst>
          </a:blip>
          <a:srcRect l="5784" r="5784"/>
          <a:stretch/>
        </p:blipFill>
        <p:spPr>
          <a:xfrm>
            <a:off x="2030814" y="-324204"/>
            <a:ext cx="3676649" cy="3676649"/>
          </a:xfrm>
          <a:custGeom>
            <a:avLst/>
            <a:gdLst/>
            <a:ahLst/>
            <a:cxnLst/>
            <a:rect l="l" t="t" r="r" b="b"/>
            <a:pathLst>
              <a:path w="3962400" h="3962400" extrusionOk="0">
                <a:moveTo>
                  <a:pt x="1981200" y="0"/>
                </a:moveTo>
                <a:lnTo>
                  <a:pt x="3962400" y="1981200"/>
                </a:lnTo>
                <a:lnTo>
                  <a:pt x="1981200" y="3962400"/>
                </a:lnTo>
                <a:lnTo>
                  <a:pt x="0" y="1981200"/>
                </a:lnTo>
                <a:close/>
              </a:path>
            </a:pathLst>
          </a:custGeom>
          <a:noFill/>
          <a:ln>
            <a:noFill/>
          </a:ln>
        </p:spPr>
      </p:pic>
      <p:sp>
        <p:nvSpPr>
          <p:cNvPr id="55" name="Google Shape;227;p40">
            <a:extLst>
              <a:ext uri="{FF2B5EF4-FFF2-40B4-BE49-F238E27FC236}">
                <a16:creationId xmlns:a16="http://schemas.microsoft.com/office/drawing/2014/main" id="{46332EEF-905C-27CB-5B7A-69D09BEC71B2}"/>
              </a:ext>
            </a:extLst>
          </p:cNvPr>
          <p:cNvSpPr/>
          <p:nvPr/>
        </p:nvSpPr>
        <p:spPr>
          <a:xfrm rot="10800000">
            <a:off x="506990" y="-7232"/>
            <a:ext cx="2533375" cy="1197148"/>
          </a:xfrm>
          <a:custGeom>
            <a:avLst/>
            <a:gdLst/>
            <a:ahLst/>
            <a:cxnLst/>
            <a:rect l="l" t="t" r="r" b="b"/>
            <a:pathLst>
              <a:path w="2438400" h="1219200" extrusionOk="0">
                <a:moveTo>
                  <a:pt x="1219200" y="0"/>
                </a:moveTo>
                <a:lnTo>
                  <a:pt x="2438400" y="1219200"/>
                </a:lnTo>
                <a:lnTo>
                  <a:pt x="0" y="1219200"/>
                </a:lnTo>
                <a:close/>
              </a:path>
            </a:pathLst>
          </a:custGeom>
          <a:solidFill>
            <a:srgbClr val="005791"/>
          </a:solid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None/>
            </a:pPr>
            <a:endParaRPr sz="2100">
              <a:solidFill>
                <a:schemeClr val="dk1"/>
              </a:solidFill>
              <a:latin typeface="Poppins"/>
              <a:ea typeface="Poppins"/>
              <a:cs typeface="Poppins"/>
              <a:sym typeface="Poppins"/>
            </a:endParaRPr>
          </a:p>
        </p:txBody>
      </p:sp>
      <p:sp>
        <p:nvSpPr>
          <p:cNvPr id="56" name="Google Shape;227;p40">
            <a:extLst>
              <a:ext uri="{FF2B5EF4-FFF2-40B4-BE49-F238E27FC236}">
                <a16:creationId xmlns:a16="http://schemas.microsoft.com/office/drawing/2014/main" id="{BFF7E720-24D8-99C6-33E9-265F655E7891}"/>
              </a:ext>
            </a:extLst>
          </p:cNvPr>
          <p:cNvSpPr/>
          <p:nvPr/>
        </p:nvSpPr>
        <p:spPr>
          <a:xfrm>
            <a:off x="241132" y="5409589"/>
            <a:ext cx="3065092" cy="1448411"/>
          </a:xfrm>
          <a:custGeom>
            <a:avLst/>
            <a:gdLst/>
            <a:ahLst/>
            <a:cxnLst/>
            <a:rect l="l" t="t" r="r" b="b"/>
            <a:pathLst>
              <a:path w="2438400" h="1219200" extrusionOk="0">
                <a:moveTo>
                  <a:pt x="1219200" y="0"/>
                </a:moveTo>
                <a:lnTo>
                  <a:pt x="2438400" y="1219200"/>
                </a:lnTo>
                <a:lnTo>
                  <a:pt x="0" y="1219200"/>
                </a:lnTo>
                <a:close/>
              </a:path>
            </a:pathLst>
          </a:custGeom>
          <a:solidFill>
            <a:srgbClr val="FFD106"/>
          </a:solid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None/>
            </a:pPr>
            <a:endParaRPr sz="2100">
              <a:solidFill>
                <a:schemeClr val="dk1"/>
              </a:solidFill>
              <a:latin typeface="Poppins"/>
              <a:ea typeface="Poppins"/>
              <a:cs typeface="Poppins"/>
              <a:sym typeface="Poppins"/>
            </a:endParaRPr>
          </a:p>
        </p:txBody>
      </p:sp>
      <p:sp>
        <p:nvSpPr>
          <p:cNvPr id="57" name="Google Shape;227;p40">
            <a:extLst>
              <a:ext uri="{FF2B5EF4-FFF2-40B4-BE49-F238E27FC236}">
                <a16:creationId xmlns:a16="http://schemas.microsoft.com/office/drawing/2014/main" id="{C98ECBA3-3E9C-1AFA-53D1-7B8FF1087B5A}"/>
              </a:ext>
            </a:extLst>
          </p:cNvPr>
          <p:cNvSpPr/>
          <p:nvPr/>
        </p:nvSpPr>
        <p:spPr>
          <a:xfrm>
            <a:off x="506990" y="5660852"/>
            <a:ext cx="2533375" cy="1197148"/>
          </a:xfrm>
          <a:custGeom>
            <a:avLst/>
            <a:gdLst/>
            <a:ahLst/>
            <a:cxnLst/>
            <a:rect l="l" t="t" r="r" b="b"/>
            <a:pathLst>
              <a:path w="2438400" h="1219200" extrusionOk="0">
                <a:moveTo>
                  <a:pt x="1219200" y="0"/>
                </a:moveTo>
                <a:lnTo>
                  <a:pt x="2438400" y="1219200"/>
                </a:lnTo>
                <a:lnTo>
                  <a:pt x="0" y="1219200"/>
                </a:lnTo>
                <a:close/>
              </a:path>
            </a:pathLst>
          </a:custGeom>
          <a:solidFill>
            <a:srgbClr val="005791"/>
          </a:solid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None/>
            </a:pPr>
            <a:endParaRPr sz="2100">
              <a:solidFill>
                <a:schemeClr val="dk1"/>
              </a:solidFill>
              <a:latin typeface="Poppins"/>
              <a:ea typeface="Poppins"/>
              <a:cs typeface="Poppins"/>
              <a:sym typeface="Poppins"/>
            </a:endParaRPr>
          </a:p>
        </p:txBody>
      </p:sp>
      <p:sp>
        <p:nvSpPr>
          <p:cNvPr id="58" name="Google Shape;151;p36">
            <a:extLst>
              <a:ext uri="{FF2B5EF4-FFF2-40B4-BE49-F238E27FC236}">
                <a16:creationId xmlns:a16="http://schemas.microsoft.com/office/drawing/2014/main" id="{2D1F62AD-D6BE-F512-8F8B-028E6FD5D8F7}"/>
              </a:ext>
            </a:extLst>
          </p:cNvPr>
          <p:cNvSpPr/>
          <p:nvPr/>
        </p:nvSpPr>
        <p:spPr>
          <a:xfrm rot="18900000">
            <a:off x="2573141" y="214787"/>
            <a:ext cx="2596416" cy="2606519"/>
          </a:xfrm>
          <a:prstGeom prst="rect">
            <a:avLst/>
          </a:prstGeom>
          <a:solidFill>
            <a:srgbClr val="FFB600">
              <a:alpha val="14000"/>
            </a:srgbClr>
          </a:solidFill>
          <a:ln>
            <a:noFill/>
          </a:ln>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sp>
        <p:nvSpPr>
          <p:cNvPr id="59" name="Google Shape;151;p36">
            <a:extLst>
              <a:ext uri="{FF2B5EF4-FFF2-40B4-BE49-F238E27FC236}">
                <a16:creationId xmlns:a16="http://schemas.microsoft.com/office/drawing/2014/main" id="{CF8DC452-FC7B-9F4B-FA4C-039060E72353}"/>
              </a:ext>
            </a:extLst>
          </p:cNvPr>
          <p:cNvSpPr/>
          <p:nvPr/>
        </p:nvSpPr>
        <p:spPr>
          <a:xfrm rot="18900000" flipH="1" flipV="1">
            <a:off x="2565022" y="4041754"/>
            <a:ext cx="2611596" cy="2594181"/>
          </a:xfrm>
          <a:prstGeom prst="rect">
            <a:avLst/>
          </a:prstGeom>
          <a:solidFill>
            <a:srgbClr val="FFB600">
              <a:alpha val="14000"/>
            </a:srgbClr>
          </a:solidFill>
          <a:ln>
            <a:noFill/>
          </a:ln>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sp>
        <p:nvSpPr>
          <p:cNvPr id="62" name="TextBox 61">
            <a:extLst>
              <a:ext uri="{FF2B5EF4-FFF2-40B4-BE49-F238E27FC236}">
                <a16:creationId xmlns:a16="http://schemas.microsoft.com/office/drawing/2014/main" id="{74E022E8-A66B-468D-9AE0-ACE1C6A318C1}"/>
              </a:ext>
            </a:extLst>
          </p:cNvPr>
          <p:cNvSpPr txBox="1"/>
          <p:nvPr/>
        </p:nvSpPr>
        <p:spPr>
          <a:xfrm>
            <a:off x="6133288" y="1916859"/>
            <a:ext cx="5659337" cy="4478149"/>
          </a:xfrm>
          <a:prstGeom prst="rect">
            <a:avLst/>
          </a:prstGeom>
          <a:noFill/>
        </p:spPr>
        <p:txBody>
          <a:bodyPr wrap="square">
            <a:spAutoFit/>
          </a:bodyPr>
          <a:lstStyle/>
          <a:p>
            <a:pPr marL="171450" indent="-171450">
              <a:buFont typeface="Arial" panose="020B0604020202020204" pitchFamily="34" charset="0"/>
              <a:buChar char="•"/>
            </a:pPr>
            <a:r>
              <a:rPr lang="en-US" sz="1500" dirty="0">
                <a:latin typeface="Poppins Light" panose="00000400000000000000" pitchFamily="2" charset="0"/>
                <a:cs typeface="Poppins Light" panose="00000400000000000000" pitchFamily="2" charset="0"/>
              </a:rPr>
              <a:t>Compliance with state &amp; federal agencies on Form W-4, I-9, E-Verify and state withholding forms</a:t>
            </a:r>
          </a:p>
          <a:p>
            <a:pPr marL="171450" indent="-171450">
              <a:buFont typeface="Arial" panose="020B0604020202020204" pitchFamily="34" charset="0"/>
              <a:buChar char="•"/>
            </a:pPr>
            <a:endParaRPr lang="en-US" sz="1500" dirty="0">
              <a:latin typeface="Poppins Light" panose="00000400000000000000" pitchFamily="2" charset="0"/>
              <a:cs typeface="Poppins Light" panose="00000400000000000000" pitchFamily="2" charset="0"/>
            </a:endParaRPr>
          </a:p>
          <a:p>
            <a:pPr marL="171450" indent="-171450">
              <a:buFont typeface="Arial" panose="020B0604020202020204" pitchFamily="34" charset="0"/>
              <a:buChar char="•"/>
            </a:pPr>
            <a:r>
              <a:rPr lang="en-US" sz="1500" dirty="0">
                <a:latin typeface="Poppins Light" panose="00000400000000000000" pitchFamily="2" charset="0"/>
                <a:cs typeface="Poppins Light" panose="00000400000000000000" pitchFamily="2" charset="0"/>
              </a:rPr>
              <a:t>WOTC Tax Credits for applicable new hires</a:t>
            </a:r>
          </a:p>
          <a:p>
            <a:pPr marL="171450" indent="-171450">
              <a:buFont typeface="Arial" panose="020B0604020202020204" pitchFamily="34" charset="0"/>
              <a:buChar char="•"/>
            </a:pPr>
            <a:endParaRPr lang="en-US" sz="1500" dirty="0">
              <a:latin typeface="Poppins Light" panose="00000400000000000000" pitchFamily="2" charset="0"/>
              <a:cs typeface="Poppins Light" panose="00000400000000000000" pitchFamily="2" charset="0"/>
            </a:endParaRPr>
          </a:p>
          <a:p>
            <a:pPr marL="171450" indent="-171450">
              <a:buFont typeface="Arial" panose="020B0604020202020204" pitchFamily="34" charset="0"/>
              <a:buChar char="•"/>
            </a:pPr>
            <a:r>
              <a:rPr lang="en-US" sz="1500" dirty="0">
                <a:latin typeface="Poppins Light" panose="00000400000000000000" pitchFamily="2" charset="0"/>
                <a:cs typeface="Poppins Light" panose="00000400000000000000" pitchFamily="2" charset="0"/>
              </a:rPr>
              <a:t>EPLI Coverage limits $1,000,000 / $2,000,000 ($25k deductible)</a:t>
            </a:r>
          </a:p>
          <a:p>
            <a:pPr marL="171450" indent="-171450">
              <a:buFont typeface="Arial" panose="020B0604020202020204" pitchFamily="34" charset="0"/>
              <a:buChar char="•"/>
            </a:pPr>
            <a:endParaRPr lang="en-US" sz="1500" dirty="0">
              <a:latin typeface="Poppins Light" panose="00000400000000000000" pitchFamily="2" charset="0"/>
              <a:cs typeface="Poppins Light" panose="00000400000000000000" pitchFamily="2" charset="0"/>
            </a:endParaRPr>
          </a:p>
          <a:p>
            <a:pPr marL="171450" indent="-171450">
              <a:buFont typeface="Arial" panose="020B0604020202020204" pitchFamily="34" charset="0"/>
              <a:buChar char="•"/>
            </a:pPr>
            <a:r>
              <a:rPr lang="en-US" sz="1500" dirty="0">
                <a:latin typeface="Poppins Light" panose="00000400000000000000" pitchFamily="2" charset="0"/>
                <a:cs typeface="Poppins Light" panose="00000400000000000000" pitchFamily="2" charset="0"/>
              </a:rPr>
              <a:t>Time and Attendance via webclock, phone app with geo-fencing, timeclock hardware with dashboard, reporting, exceptions, and integration with payroll.</a:t>
            </a:r>
          </a:p>
          <a:p>
            <a:pPr marL="171450" indent="-171450">
              <a:buFont typeface="Arial" panose="020B0604020202020204" pitchFamily="34" charset="0"/>
              <a:buChar char="•"/>
            </a:pPr>
            <a:endParaRPr lang="en-US" sz="1500" dirty="0">
              <a:latin typeface="Poppins Light" panose="00000400000000000000" pitchFamily="2" charset="0"/>
              <a:cs typeface="Poppins Light" panose="00000400000000000000" pitchFamily="2" charset="0"/>
            </a:endParaRPr>
          </a:p>
          <a:p>
            <a:pPr marL="171450" indent="-171450">
              <a:buFont typeface="Arial" panose="020B0604020202020204" pitchFamily="34" charset="0"/>
              <a:buChar char="•"/>
            </a:pPr>
            <a:r>
              <a:rPr lang="en-US" sz="1500" dirty="0">
                <a:latin typeface="Poppins Light" panose="00000400000000000000" pitchFamily="2" charset="0"/>
                <a:cs typeface="Poppins Light" panose="00000400000000000000" pitchFamily="2" charset="0"/>
              </a:rPr>
              <a:t>Assistance in HR areas (FLSA, ADA, FMLA, Terminations, Discrimination, Sexual Harassment)</a:t>
            </a:r>
          </a:p>
          <a:p>
            <a:pPr marL="171450" indent="-171450">
              <a:buFont typeface="Arial" panose="020B0604020202020204" pitchFamily="34" charset="0"/>
              <a:buChar char="•"/>
            </a:pPr>
            <a:endParaRPr lang="en-US" sz="1500" dirty="0">
              <a:latin typeface="Poppins Light" panose="00000400000000000000" pitchFamily="2" charset="0"/>
              <a:cs typeface="Poppins Light" panose="00000400000000000000" pitchFamily="2" charset="0"/>
            </a:endParaRPr>
          </a:p>
          <a:p>
            <a:pPr marL="171450" indent="-171450">
              <a:buFont typeface="Arial" panose="020B0604020202020204" pitchFamily="34" charset="0"/>
              <a:buChar char="•"/>
            </a:pPr>
            <a:r>
              <a:rPr lang="en-US" sz="1500" dirty="0">
                <a:latin typeface="Poppins Light" panose="00000400000000000000" pitchFamily="2" charset="0"/>
                <a:cs typeface="Poppins Light" panose="00000400000000000000" pitchFamily="2" charset="0"/>
              </a:rPr>
              <a:t>HIPPA &amp; Cobra administration</a:t>
            </a:r>
          </a:p>
          <a:p>
            <a:pPr marL="171450" indent="-171450">
              <a:buFont typeface="Arial" panose="020B0604020202020204" pitchFamily="34" charset="0"/>
              <a:buChar char="•"/>
            </a:pPr>
            <a:endParaRPr lang="en-US" sz="1500" dirty="0">
              <a:latin typeface="Poppins Light" panose="00000400000000000000" pitchFamily="2" charset="0"/>
              <a:cs typeface="Poppins Light" panose="00000400000000000000" pitchFamily="2" charset="0"/>
            </a:endParaRPr>
          </a:p>
          <a:p>
            <a:pPr marL="171450" indent="-171450">
              <a:buFont typeface="Arial" panose="020B0604020202020204" pitchFamily="34" charset="0"/>
              <a:buChar char="•"/>
            </a:pPr>
            <a:r>
              <a:rPr lang="en-US" sz="1500" dirty="0">
                <a:latin typeface="Poppins Light" panose="00000400000000000000" pitchFamily="2" charset="0"/>
                <a:cs typeface="Poppins Light" panose="00000400000000000000" pitchFamily="2" charset="0"/>
              </a:rPr>
              <a:t>Assistance with design and publishing of Employee Handbooks </a:t>
            </a:r>
          </a:p>
        </p:txBody>
      </p:sp>
      <p:pic>
        <p:nvPicPr>
          <p:cNvPr id="5" name="Graphic 4">
            <a:extLst>
              <a:ext uri="{FF2B5EF4-FFF2-40B4-BE49-F238E27FC236}">
                <a16:creationId xmlns:a16="http://schemas.microsoft.com/office/drawing/2014/main" id="{24CB1C84-242F-E3A2-A966-377FA4AACB5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24683" y="6514945"/>
            <a:ext cx="1774506" cy="260163"/>
          </a:xfrm>
          <a:prstGeom prst="rect">
            <a:avLst/>
          </a:prstGeom>
        </p:spPr>
      </p:pic>
      <p:pic>
        <p:nvPicPr>
          <p:cNvPr id="8" name="Graphic 7">
            <a:extLst>
              <a:ext uri="{FF2B5EF4-FFF2-40B4-BE49-F238E27FC236}">
                <a16:creationId xmlns:a16="http://schemas.microsoft.com/office/drawing/2014/main" id="{6BE826B4-0564-05B8-4AEC-06FDECE643D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8436" y="2599295"/>
            <a:ext cx="2530479" cy="1525730"/>
          </a:xfrm>
          <a:prstGeom prst="rect">
            <a:avLst/>
          </a:prstGeom>
        </p:spPr>
      </p:pic>
      <p:pic>
        <p:nvPicPr>
          <p:cNvPr id="4" name="Picture 3" descr="A blue text on a black background&#10;&#10;AI-generated content may be incorrect.">
            <a:extLst>
              <a:ext uri="{FF2B5EF4-FFF2-40B4-BE49-F238E27FC236}">
                <a16:creationId xmlns:a16="http://schemas.microsoft.com/office/drawing/2014/main" id="{8016D155-FEE9-B945-DC40-8649D8CB158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63856" y="663571"/>
            <a:ext cx="5721154" cy="1052691"/>
          </a:xfrm>
          <a:prstGeom prst="rect">
            <a:avLst/>
          </a:prstGeom>
        </p:spPr>
      </p:pic>
    </p:spTree>
    <p:extLst>
      <p:ext uri="{BB962C8B-B14F-4D97-AF65-F5344CB8AC3E}">
        <p14:creationId xmlns:p14="http://schemas.microsoft.com/office/powerpoint/2010/main" val="1440577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oogle Shape;156;p36">
            <a:extLst>
              <a:ext uri="{FF2B5EF4-FFF2-40B4-BE49-F238E27FC236}">
                <a16:creationId xmlns:a16="http://schemas.microsoft.com/office/drawing/2014/main" id="{DBA4AC89-66D4-9639-4F82-EE0F9B343E55}"/>
              </a:ext>
            </a:extLst>
          </p:cNvPr>
          <p:cNvGrpSpPr/>
          <p:nvPr/>
        </p:nvGrpSpPr>
        <p:grpSpPr>
          <a:xfrm>
            <a:off x="5277858" y="2388464"/>
            <a:ext cx="3235098" cy="1146437"/>
            <a:chOff x="6547757" y="4025684"/>
            <a:chExt cx="3888974" cy="1256495"/>
          </a:xfrm>
        </p:grpSpPr>
        <p:grpSp>
          <p:nvGrpSpPr>
            <p:cNvPr id="28" name="Google Shape;157;p36">
              <a:extLst>
                <a:ext uri="{FF2B5EF4-FFF2-40B4-BE49-F238E27FC236}">
                  <a16:creationId xmlns:a16="http://schemas.microsoft.com/office/drawing/2014/main" id="{0CAE56FE-500A-96A4-D3F7-53765AFA6165}"/>
                </a:ext>
              </a:extLst>
            </p:cNvPr>
            <p:cNvGrpSpPr/>
            <p:nvPr/>
          </p:nvGrpSpPr>
          <p:grpSpPr>
            <a:xfrm>
              <a:off x="7391492" y="4025684"/>
              <a:ext cx="3045239" cy="1256495"/>
              <a:chOff x="6136490" y="1816258"/>
              <a:chExt cx="3045239" cy="1256495"/>
            </a:xfrm>
          </p:grpSpPr>
          <p:sp>
            <p:nvSpPr>
              <p:cNvPr id="32" name="Google Shape;158;p36">
                <a:extLst>
                  <a:ext uri="{FF2B5EF4-FFF2-40B4-BE49-F238E27FC236}">
                    <a16:creationId xmlns:a16="http://schemas.microsoft.com/office/drawing/2014/main" id="{A7982001-7D94-5778-BEE9-A8E5971BB370}"/>
                  </a:ext>
                </a:extLst>
              </p:cNvPr>
              <p:cNvSpPr txBox="1"/>
              <p:nvPr/>
            </p:nvSpPr>
            <p:spPr>
              <a:xfrm>
                <a:off x="6136490" y="1816258"/>
                <a:ext cx="2910794" cy="1256495"/>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b="1" dirty="0">
                    <a:solidFill>
                      <a:srgbClr val="005791"/>
                    </a:solidFill>
                    <a:latin typeface="Poppins Black" panose="00000A00000000000000" pitchFamily="2" charset="0"/>
                    <a:ea typeface="Cabin"/>
                    <a:cs typeface="Poppins Black" panose="00000A00000000000000" pitchFamily="2" charset="0"/>
                    <a:sym typeface="Cabin"/>
                  </a:rPr>
                  <a:t>{#benefits.health_insurance}GalactiCare Health Care{/</a:t>
                </a:r>
                <a:r>
                  <a:rPr lang="en-US" b="1" dirty="0" err="1">
                    <a:solidFill>
                      <a:srgbClr val="005791"/>
                    </a:solidFill>
                    <a:latin typeface="Poppins Black" panose="00000A00000000000000" pitchFamily="2" charset="0"/>
                    <a:ea typeface="Cabin"/>
                    <a:cs typeface="Poppins Black" panose="00000A00000000000000" pitchFamily="2" charset="0"/>
                    <a:sym typeface="Cabin"/>
                  </a:rPr>
                  <a:t>benefits.health_insurance</a:t>
                </a:r>
                <a:r>
                  <a:rPr lang="en-US" b="1" dirty="0">
                    <a:solidFill>
                      <a:srgbClr val="005791"/>
                    </a:solidFill>
                    <a:latin typeface="Poppins Black" panose="00000A00000000000000" pitchFamily="2" charset="0"/>
                    <a:ea typeface="Cabin"/>
                    <a:cs typeface="Poppins Black" panose="00000A00000000000000" pitchFamily="2" charset="0"/>
                    <a:sym typeface="Cabin"/>
                  </a:rPr>
                  <a:t>}</a:t>
                </a:r>
                <a:endParaRPr b="1" dirty="0">
                  <a:solidFill>
                    <a:srgbClr val="005791"/>
                  </a:solidFill>
                  <a:latin typeface="Poppins Black" panose="00000A00000000000000" pitchFamily="2" charset="0"/>
                  <a:ea typeface="Cabin"/>
                  <a:cs typeface="Poppins Black" panose="00000A00000000000000" pitchFamily="2" charset="0"/>
                  <a:sym typeface="Cabin"/>
                </a:endParaRPr>
              </a:p>
            </p:txBody>
          </p:sp>
          <p:sp>
            <p:nvSpPr>
              <p:cNvPr id="33" name="Google Shape;159;p36">
                <a:extLst>
                  <a:ext uri="{FF2B5EF4-FFF2-40B4-BE49-F238E27FC236}">
                    <a16:creationId xmlns:a16="http://schemas.microsoft.com/office/drawing/2014/main" id="{4A8EBEE1-33A8-3276-16D1-7F2B894BBBE3}"/>
                  </a:ext>
                </a:extLst>
              </p:cNvPr>
              <p:cNvSpPr txBox="1"/>
              <p:nvPr/>
            </p:nvSpPr>
            <p:spPr>
              <a:xfrm>
                <a:off x="6172701" y="2128324"/>
                <a:ext cx="3009028" cy="470532"/>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30000"/>
                  </a:lnSpc>
                  <a:spcBef>
                    <a:spcPts val="0"/>
                  </a:spcBef>
                  <a:spcAft>
                    <a:spcPts val="0"/>
                  </a:spcAft>
                  <a:buNone/>
                </a:pPr>
                <a:r>
                  <a:rPr lang="en-US" sz="900" dirty="0">
                    <a:solidFill>
                      <a:schemeClr val="dk1"/>
                    </a:solidFill>
                    <a:latin typeface="Poppins Light" panose="00000400000000000000" pitchFamily="2" charset="0"/>
                    <a:ea typeface="Poppins"/>
                    <a:cs typeface="Poppins Light" panose="00000400000000000000" pitchFamily="2" charset="0"/>
                    <a:sym typeface="Poppins"/>
                  </a:rPr>
                  <a:t>Health Plans available providing nationwide coverage.</a:t>
                </a:r>
                <a:endParaRPr sz="900" dirty="0">
                  <a:solidFill>
                    <a:schemeClr val="dk1"/>
                  </a:solidFill>
                  <a:latin typeface="Poppins Light" panose="00000400000000000000" pitchFamily="2" charset="0"/>
                  <a:ea typeface="Poppins"/>
                  <a:cs typeface="Poppins Light" panose="00000400000000000000" pitchFamily="2" charset="0"/>
                  <a:sym typeface="Poppins"/>
                </a:endParaRPr>
              </a:p>
            </p:txBody>
          </p:sp>
        </p:grpSp>
        <p:sp>
          <p:nvSpPr>
            <p:cNvPr id="30" name="Google Shape;161;p36">
              <a:extLst>
                <a:ext uri="{FF2B5EF4-FFF2-40B4-BE49-F238E27FC236}">
                  <a16:creationId xmlns:a16="http://schemas.microsoft.com/office/drawing/2014/main" id="{4DF617E4-3290-F80D-A1D2-D8C6B26F39CB}"/>
                </a:ext>
              </a:extLst>
            </p:cNvPr>
            <p:cNvSpPr/>
            <p:nvPr/>
          </p:nvSpPr>
          <p:spPr>
            <a:xfrm>
              <a:off x="6547757" y="4143087"/>
              <a:ext cx="727770" cy="727770"/>
            </a:xfrm>
            <a:prstGeom prst="rect">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grpSp>
      <p:grpSp>
        <p:nvGrpSpPr>
          <p:cNvPr id="7" name="Google Shape;163;p36">
            <a:extLst>
              <a:ext uri="{FF2B5EF4-FFF2-40B4-BE49-F238E27FC236}">
                <a16:creationId xmlns:a16="http://schemas.microsoft.com/office/drawing/2014/main" id="{4D197E5C-FE69-894A-D38C-A3FE3768A004}"/>
              </a:ext>
            </a:extLst>
          </p:cNvPr>
          <p:cNvGrpSpPr/>
          <p:nvPr/>
        </p:nvGrpSpPr>
        <p:grpSpPr>
          <a:xfrm>
            <a:off x="8884232" y="2388459"/>
            <a:ext cx="3142874" cy="867027"/>
            <a:chOff x="6547756" y="4049108"/>
            <a:chExt cx="3778109" cy="950262"/>
          </a:xfrm>
        </p:grpSpPr>
        <p:grpSp>
          <p:nvGrpSpPr>
            <p:cNvPr id="22" name="Google Shape;164;p36">
              <a:extLst>
                <a:ext uri="{FF2B5EF4-FFF2-40B4-BE49-F238E27FC236}">
                  <a16:creationId xmlns:a16="http://schemas.microsoft.com/office/drawing/2014/main" id="{807577A5-AEF5-E82B-6A8A-572B0774D970}"/>
                </a:ext>
              </a:extLst>
            </p:cNvPr>
            <p:cNvGrpSpPr/>
            <p:nvPr/>
          </p:nvGrpSpPr>
          <p:grpSpPr>
            <a:xfrm>
              <a:off x="7427703" y="4049108"/>
              <a:ext cx="2898162" cy="950262"/>
              <a:chOff x="6172701" y="1839682"/>
              <a:chExt cx="2898162" cy="950262"/>
            </a:xfrm>
          </p:grpSpPr>
          <p:sp>
            <p:nvSpPr>
              <p:cNvPr id="26" name="Google Shape;165;p36">
                <a:extLst>
                  <a:ext uri="{FF2B5EF4-FFF2-40B4-BE49-F238E27FC236}">
                    <a16:creationId xmlns:a16="http://schemas.microsoft.com/office/drawing/2014/main" id="{BB87CB37-0E87-93F1-ED44-415AA4FA6DEB}"/>
                  </a:ext>
                </a:extLst>
              </p:cNvPr>
              <p:cNvSpPr txBox="1"/>
              <p:nvPr/>
            </p:nvSpPr>
            <p:spPr>
              <a:xfrm>
                <a:off x="6172701" y="1839682"/>
                <a:ext cx="2757465" cy="31199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b="1" dirty="0">
                    <a:solidFill>
                      <a:srgbClr val="005791"/>
                    </a:solidFill>
                    <a:latin typeface="Poppins Black" panose="00000A00000000000000" pitchFamily="2" charset="0"/>
                    <a:ea typeface="Cabin"/>
                    <a:cs typeface="Poppins Black" panose="00000A00000000000000" pitchFamily="2" charset="0"/>
                    <a:sym typeface="Cabin"/>
                  </a:rPr>
                  <a:t>Eligibility Notification</a:t>
                </a:r>
                <a:endParaRPr b="1" dirty="0">
                  <a:solidFill>
                    <a:srgbClr val="005791"/>
                  </a:solidFill>
                  <a:latin typeface="Poppins Black" panose="00000A00000000000000" pitchFamily="2" charset="0"/>
                  <a:ea typeface="Cabin"/>
                  <a:cs typeface="Poppins Black" panose="00000A00000000000000" pitchFamily="2" charset="0"/>
                  <a:sym typeface="Cabin"/>
                </a:endParaRPr>
              </a:p>
            </p:txBody>
          </p:sp>
          <p:sp>
            <p:nvSpPr>
              <p:cNvPr id="27" name="Google Shape;166;p36">
                <a:extLst>
                  <a:ext uri="{FF2B5EF4-FFF2-40B4-BE49-F238E27FC236}">
                    <a16:creationId xmlns:a16="http://schemas.microsoft.com/office/drawing/2014/main" id="{657F8B23-071F-898F-0453-DC02CE82C010}"/>
                  </a:ext>
                </a:extLst>
              </p:cNvPr>
              <p:cNvSpPr txBox="1"/>
              <p:nvPr/>
            </p:nvSpPr>
            <p:spPr>
              <a:xfrm>
                <a:off x="6172701" y="2122076"/>
                <a:ext cx="2898162" cy="667868"/>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30000"/>
                  </a:lnSpc>
                  <a:spcBef>
                    <a:spcPts val="0"/>
                  </a:spcBef>
                  <a:spcAft>
                    <a:spcPts val="0"/>
                  </a:spcAft>
                  <a:buNone/>
                </a:pPr>
                <a:r>
                  <a:rPr lang="en-US" sz="900" dirty="0">
                    <a:solidFill>
                      <a:schemeClr val="dk1"/>
                    </a:solidFill>
                    <a:latin typeface="Poppins Light" panose="00000400000000000000" pitchFamily="2" charset="0"/>
                    <a:ea typeface="Poppins"/>
                    <a:cs typeface="Poppins Light" panose="00000400000000000000" pitchFamily="2" charset="0"/>
                    <a:sym typeface="Poppins"/>
                  </a:rPr>
                  <a:t>Galactic provides notification when employees become eligible for benefits, need to complete enrollment, etc.</a:t>
                </a:r>
                <a:endParaRPr sz="900" dirty="0">
                  <a:solidFill>
                    <a:schemeClr val="dk1"/>
                  </a:solidFill>
                  <a:latin typeface="Poppins Light" panose="00000400000000000000" pitchFamily="2" charset="0"/>
                  <a:ea typeface="Poppins"/>
                  <a:cs typeface="Poppins Light" panose="00000400000000000000" pitchFamily="2" charset="0"/>
                  <a:sym typeface="Poppins"/>
                </a:endParaRPr>
              </a:p>
            </p:txBody>
          </p:sp>
        </p:grpSp>
        <p:sp>
          <p:nvSpPr>
            <p:cNvPr id="24" name="Google Shape;168;p36">
              <a:extLst>
                <a:ext uri="{FF2B5EF4-FFF2-40B4-BE49-F238E27FC236}">
                  <a16:creationId xmlns:a16="http://schemas.microsoft.com/office/drawing/2014/main" id="{7CAA25AB-B54D-DF99-F395-71532F5D43E6}"/>
                </a:ext>
              </a:extLst>
            </p:cNvPr>
            <p:cNvSpPr/>
            <p:nvPr/>
          </p:nvSpPr>
          <p:spPr>
            <a:xfrm>
              <a:off x="6547756" y="4143087"/>
              <a:ext cx="727770" cy="727770"/>
            </a:xfrm>
            <a:prstGeom prst="rect">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grpSp>
      <p:grpSp>
        <p:nvGrpSpPr>
          <p:cNvPr id="8" name="Google Shape;170;p36">
            <a:extLst>
              <a:ext uri="{FF2B5EF4-FFF2-40B4-BE49-F238E27FC236}">
                <a16:creationId xmlns:a16="http://schemas.microsoft.com/office/drawing/2014/main" id="{9AC922F2-1C54-5602-C119-1C954AD82E2E}"/>
              </a:ext>
            </a:extLst>
          </p:cNvPr>
          <p:cNvGrpSpPr/>
          <p:nvPr/>
        </p:nvGrpSpPr>
        <p:grpSpPr>
          <a:xfrm>
            <a:off x="5277859" y="3467569"/>
            <a:ext cx="3214252" cy="930994"/>
            <a:chOff x="6547759" y="4049108"/>
            <a:chExt cx="3863914" cy="1020371"/>
          </a:xfrm>
        </p:grpSpPr>
        <p:grpSp>
          <p:nvGrpSpPr>
            <p:cNvPr id="16" name="Google Shape;171;p36">
              <a:extLst>
                <a:ext uri="{FF2B5EF4-FFF2-40B4-BE49-F238E27FC236}">
                  <a16:creationId xmlns:a16="http://schemas.microsoft.com/office/drawing/2014/main" id="{FD25FD8D-4E7C-5C4C-3203-924A1232005B}"/>
                </a:ext>
              </a:extLst>
            </p:cNvPr>
            <p:cNvGrpSpPr/>
            <p:nvPr/>
          </p:nvGrpSpPr>
          <p:grpSpPr>
            <a:xfrm>
              <a:off x="7427701" y="4049108"/>
              <a:ext cx="2983972" cy="1020371"/>
              <a:chOff x="6172699" y="1839682"/>
              <a:chExt cx="2983972" cy="1020371"/>
            </a:xfrm>
          </p:grpSpPr>
          <p:sp>
            <p:nvSpPr>
              <p:cNvPr id="20" name="Google Shape;172;p36">
                <a:extLst>
                  <a:ext uri="{FF2B5EF4-FFF2-40B4-BE49-F238E27FC236}">
                    <a16:creationId xmlns:a16="http://schemas.microsoft.com/office/drawing/2014/main" id="{198F0675-6095-6244-7493-BC0320796A4C}"/>
                  </a:ext>
                </a:extLst>
              </p:cNvPr>
              <p:cNvSpPr txBox="1"/>
              <p:nvPr/>
            </p:nvSpPr>
            <p:spPr>
              <a:xfrm>
                <a:off x="6172701" y="1839682"/>
                <a:ext cx="2766883" cy="102037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b="1" dirty="0">
                    <a:solidFill>
                      <a:srgbClr val="005791"/>
                    </a:solidFill>
                    <a:latin typeface="Poppins Black" panose="00000A00000000000000" pitchFamily="2" charset="0"/>
                    <a:ea typeface="Cabin"/>
                    <a:cs typeface="Poppins Black" panose="00000A00000000000000" pitchFamily="2" charset="0"/>
                    <a:sym typeface="Cabin"/>
                  </a:rPr>
                  <a:t>{#benefits.four01k}401(k) Retirement Plan{/benefits.four01k}</a:t>
                </a:r>
                <a:endParaRPr b="1" dirty="0">
                  <a:solidFill>
                    <a:srgbClr val="005791"/>
                  </a:solidFill>
                  <a:latin typeface="Poppins Black" panose="00000A00000000000000" pitchFamily="2" charset="0"/>
                  <a:ea typeface="Cabin"/>
                  <a:cs typeface="Poppins Black" panose="00000A00000000000000" pitchFamily="2" charset="0"/>
                  <a:sym typeface="Cabin"/>
                </a:endParaRPr>
              </a:p>
            </p:txBody>
          </p:sp>
          <p:sp>
            <p:nvSpPr>
              <p:cNvPr id="21" name="Google Shape;173;p36">
                <a:extLst>
                  <a:ext uri="{FF2B5EF4-FFF2-40B4-BE49-F238E27FC236}">
                    <a16:creationId xmlns:a16="http://schemas.microsoft.com/office/drawing/2014/main" id="{DA9E726C-77E9-07A1-3A50-9B6B8DE8FCE6}"/>
                  </a:ext>
                </a:extLst>
              </p:cNvPr>
              <p:cNvSpPr txBox="1"/>
              <p:nvPr/>
            </p:nvSpPr>
            <p:spPr>
              <a:xfrm>
                <a:off x="6172699" y="2133018"/>
                <a:ext cx="2983972" cy="667867"/>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30000"/>
                  </a:lnSpc>
                  <a:spcBef>
                    <a:spcPts val="0"/>
                  </a:spcBef>
                  <a:spcAft>
                    <a:spcPts val="0"/>
                  </a:spcAft>
                  <a:buNone/>
                </a:pPr>
                <a:r>
                  <a:rPr lang="en-US" sz="900" dirty="0">
                    <a:solidFill>
                      <a:schemeClr val="dk1"/>
                    </a:solidFill>
                    <a:latin typeface="Poppins Light" panose="00000400000000000000" pitchFamily="2" charset="0"/>
                    <a:ea typeface="Poppins"/>
                    <a:cs typeface="Poppins Light" panose="00000400000000000000" pitchFamily="2" charset="0"/>
                    <a:sym typeface="Poppins"/>
                  </a:rPr>
                  <a:t>Galactic partners with                to provide 401(k) solutions. Custom eligibility and company match options available.</a:t>
                </a:r>
                <a:endParaRPr sz="900" dirty="0">
                  <a:solidFill>
                    <a:schemeClr val="dk1"/>
                  </a:solidFill>
                  <a:latin typeface="Poppins Light" panose="00000400000000000000" pitchFamily="2" charset="0"/>
                  <a:ea typeface="Poppins"/>
                  <a:cs typeface="Poppins Light" panose="00000400000000000000" pitchFamily="2" charset="0"/>
                  <a:sym typeface="Poppins"/>
                </a:endParaRPr>
              </a:p>
            </p:txBody>
          </p:sp>
        </p:grpSp>
        <p:sp>
          <p:nvSpPr>
            <p:cNvPr id="18" name="Google Shape;175;p36">
              <a:extLst>
                <a:ext uri="{FF2B5EF4-FFF2-40B4-BE49-F238E27FC236}">
                  <a16:creationId xmlns:a16="http://schemas.microsoft.com/office/drawing/2014/main" id="{D87516B5-7A2E-B0B1-B0EA-55E858E43E79}"/>
                </a:ext>
              </a:extLst>
            </p:cNvPr>
            <p:cNvSpPr/>
            <p:nvPr/>
          </p:nvSpPr>
          <p:spPr>
            <a:xfrm>
              <a:off x="6547759" y="4143087"/>
              <a:ext cx="727770" cy="727770"/>
            </a:xfrm>
            <a:prstGeom prst="rect">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grpSp>
      <p:grpSp>
        <p:nvGrpSpPr>
          <p:cNvPr id="9" name="Google Shape;177;p36">
            <a:extLst>
              <a:ext uri="{FF2B5EF4-FFF2-40B4-BE49-F238E27FC236}">
                <a16:creationId xmlns:a16="http://schemas.microsoft.com/office/drawing/2014/main" id="{6D976AC1-CED7-1FF2-DDAC-356E1C64944C}"/>
              </a:ext>
            </a:extLst>
          </p:cNvPr>
          <p:cNvGrpSpPr/>
          <p:nvPr/>
        </p:nvGrpSpPr>
        <p:grpSpPr>
          <a:xfrm>
            <a:off x="8884233" y="4519922"/>
            <a:ext cx="3025832" cy="860571"/>
            <a:chOff x="6547757" y="4049108"/>
            <a:chExt cx="3637412" cy="943187"/>
          </a:xfrm>
        </p:grpSpPr>
        <p:grpSp>
          <p:nvGrpSpPr>
            <p:cNvPr id="10" name="Google Shape;178;p36">
              <a:extLst>
                <a:ext uri="{FF2B5EF4-FFF2-40B4-BE49-F238E27FC236}">
                  <a16:creationId xmlns:a16="http://schemas.microsoft.com/office/drawing/2014/main" id="{92E5FD42-CAD3-3B25-5F5C-771D5BFE8906}"/>
                </a:ext>
              </a:extLst>
            </p:cNvPr>
            <p:cNvGrpSpPr/>
            <p:nvPr/>
          </p:nvGrpSpPr>
          <p:grpSpPr>
            <a:xfrm>
              <a:off x="7427702" y="4049108"/>
              <a:ext cx="2757467" cy="943187"/>
              <a:chOff x="6172700" y="1839682"/>
              <a:chExt cx="2757467" cy="943187"/>
            </a:xfrm>
          </p:grpSpPr>
          <p:sp>
            <p:nvSpPr>
              <p:cNvPr id="14" name="Google Shape;179;p36">
                <a:extLst>
                  <a:ext uri="{FF2B5EF4-FFF2-40B4-BE49-F238E27FC236}">
                    <a16:creationId xmlns:a16="http://schemas.microsoft.com/office/drawing/2014/main" id="{527E8B6E-8740-7025-5377-00981D170D95}"/>
                  </a:ext>
                </a:extLst>
              </p:cNvPr>
              <p:cNvSpPr txBox="1"/>
              <p:nvPr/>
            </p:nvSpPr>
            <p:spPr>
              <a:xfrm>
                <a:off x="6172700" y="1839682"/>
                <a:ext cx="2513199" cy="31199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b="1" dirty="0">
                    <a:solidFill>
                      <a:srgbClr val="005791"/>
                    </a:solidFill>
                    <a:latin typeface="Poppins Black" panose="00000A00000000000000" pitchFamily="2" charset="0"/>
                    <a:ea typeface="Cabin"/>
                    <a:cs typeface="Poppins Black" panose="00000A00000000000000" pitchFamily="2" charset="0"/>
                    <a:sym typeface="Cabin"/>
                  </a:rPr>
                  <a:t>Here for You</a:t>
                </a:r>
                <a:endParaRPr b="1" dirty="0">
                  <a:solidFill>
                    <a:srgbClr val="005791"/>
                  </a:solidFill>
                  <a:latin typeface="Poppins Black" panose="00000A00000000000000" pitchFamily="2" charset="0"/>
                  <a:ea typeface="Cabin"/>
                  <a:cs typeface="Poppins Black" panose="00000A00000000000000" pitchFamily="2" charset="0"/>
                  <a:sym typeface="Cabin"/>
                </a:endParaRPr>
              </a:p>
            </p:txBody>
          </p:sp>
          <p:sp>
            <p:nvSpPr>
              <p:cNvPr id="15" name="Google Shape;180;p36">
                <a:extLst>
                  <a:ext uri="{FF2B5EF4-FFF2-40B4-BE49-F238E27FC236}">
                    <a16:creationId xmlns:a16="http://schemas.microsoft.com/office/drawing/2014/main" id="{B8B69EF6-E468-D226-B691-939899E92DCA}"/>
                  </a:ext>
                </a:extLst>
              </p:cNvPr>
              <p:cNvSpPr txBox="1"/>
              <p:nvPr/>
            </p:nvSpPr>
            <p:spPr>
              <a:xfrm>
                <a:off x="6172700" y="2115002"/>
                <a:ext cx="2757467" cy="667867"/>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30000"/>
                  </a:lnSpc>
                  <a:spcBef>
                    <a:spcPts val="0"/>
                  </a:spcBef>
                  <a:spcAft>
                    <a:spcPts val="0"/>
                  </a:spcAft>
                  <a:buNone/>
                </a:pPr>
                <a:r>
                  <a:rPr lang="en-US" sz="900" dirty="0">
                    <a:solidFill>
                      <a:schemeClr val="dk1"/>
                    </a:solidFill>
                    <a:latin typeface="Poppins"/>
                    <a:ea typeface="Poppins"/>
                    <a:cs typeface="Poppins"/>
                    <a:sym typeface="Poppins"/>
                  </a:rPr>
                  <a:t>Galactic manages premium payments and reconciliation and assists with claims.</a:t>
                </a:r>
                <a:endParaRPr sz="900" dirty="0">
                  <a:solidFill>
                    <a:schemeClr val="dk1"/>
                  </a:solidFill>
                  <a:latin typeface="Poppins"/>
                  <a:ea typeface="Poppins"/>
                  <a:cs typeface="Poppins"/>
                  <a:sym typeface="Poppins"/>
                </a:endParaRPr>
              </a:p>
            </p:txBody>
          </p:sp>
        </p:grpSp>
        <p:sp>
          <p:nvSpPr>
            <p:cNvPr id="12" name="Google Shape;182;p36">
              <a:extLst>
                <a:ext uri="{FF2B5EF4-FFF2-40B4-BE49-F238E27FC236}">
                  <a16:creationId xmlns:a16="http://schemas.microsoft.com/office/drawing/2014/main" id="{2E55E1F6-1166-8B13-51FC-6B49EE866A51}"/>
                </a:ext>
              </a:extLst>
            </p:cNvPr>
            <p:cNvSpPr/>
            <p:nvPr/>
          </p:nvSpPr>
          <p:spPr>
            <a:xfrm>
              <a:off x="6547757" y="4143087"/>
              <a:ext cx="727770" cy="727770"/>
            </a:xfrm>
            <a:prstGeom prst="rect">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grpSp>
      <p:sp>
        <p:nvSpPr>
          <p:cNvPr id="36" name="Rectangle 35">
            <a:extLst>
              <a:ext uri="{FF2B5EF4-FFF2-40B4-BE49-F238E27FC236}">
                <a16:creationId xmlns:a16="http://schemas.microsoft.com/office/drawing/2014/main" id="{07B8BC9F-B283-B13F-A864-209E6112D2B0}"/>
              </a:ext>
            </a:extLst>
          </p:cNvPr>
          <p:cNvSpPr/>
          <p:nvPr/>
        </p:nvSpPr>
        <p:spPr>
          <a:xfrm>
            <a:off x="0" y="1"/>
            <a:ext cx="12192000" cy="2040496"/>
          </a:xfrm>
          <a:prstGeom prst="rect">
            <a:avLst/>
          </a:prstGeom>
          <a:solidFill>
            <a:srgbClr val="00579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A616D31D-5A84-6D53-1C9D-710EDF1ED5BF}"/>
              </a:ext>
            </a:extLst>
          </p:cNvPr>
          <p:cNvSpPr/>
          <p:nvPr/>
        </p:nvSpPr>
        <p:spPr>
          <a:xfrm>
            <a:off x="0" y="1960399"/>
            <a:ext cx="12192000" cy="199764"/>
          </a:xfrm>
          <a:prstGeom prst="rect">
            <a:avLst/>
          </a:prstGeom>
          <a:solidFill>
            <a:srgbClr val="63AD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9" name="Google Shape;150;p36">
            <a:extLst>
              <a:ext uri="{FF2B5EF4-FFF2-40B4-BE49-F238E27FC236}">
                <a16:creationId xmlns:a16="http://schemas.microsoft.com/office/drawing/2014/main" id="{82927476-05F4-071D-A1F8-D86E5B325110}"/>
              </a:ext>
            </a:extLst>
          </p:cNvPr>
          <p:cNvPicPr preferRelativeResize="0"/>
          <p:nvPr/>
        </p:nvPicPr>
        <p:blipFill rotWithShape="1">
          <a:blip r:embed="rId2">
            <a:extLst>
              <a:ext uri="{28A0092B-C50C-407E-A947-70E740481C1C}">
                <a14:useLocalDpi xmlns:a14="http://schemas.microsoft.com/office/drawing/2010/main" val="0"/>
              </a:ext>
            </a:extLst>
          </a:blip>
          <a:srcRect l="14067" r="14067"/>
          <a:stretch/>
        </p:blipFill>
        <p:spPr>
          <a:xfrm>
            <a:off x="470470" y="1333651"/>
            <a:ext cx="4336918" cy="4023137"/>
          </a:xfrm>
          <a:custGeom>
            <a:avLst/>
            <a:gdLst/>
            <a:ahLst/>
            <a:cxnLst/>
            <a:rect l="l" t="t" r="r" b="b"/>
            <a:pathLst>
              <a:path w="12192000" h="2759242" extrusionOk="0">
                <a:moveTo>
                  <a:pt x="0" y="0"/>
                </a:moveTo>
                <a:lnTo>
                  <a:pt x="12192000" y="0"/>
                </a:lnTo>
                <a:lnTo>
                  <a:pt x="12192000" y="2759242"/>
                </a:lnTo>
                <a:lnTo>
                  <a:pt x="0" y="2759242"/>
                </a:lnTo>
                <a:close/>
              </a:path>
            </a:pathLst>
          </a:custGeom>
          <a:noFill/>
          <a:ln>
            <a:noFill/>
          </a:ln>
          <a:effectLst>
            <a:outerShdw blurRad="50800" dist="38100" dir="2700000" algn="tl" rotWithShape="0">
              <a:prstClr val="black">
                <a:alpha val="40000"/>
              </a:prstClr>
            </a:outerShdw>
          </a:effectLst>
        </p:spPr>
      </p:pic>
      <p:sp>
        <p:nvSpPr>
          <p:cNvPr id="38" name="Google Shape;151;p36">
            <a:extLst>
              <a:ext uri="{FF2B5EF4-FFF2-40B4-BE49-F238E27FC236}">
                <a16:creationId xmlns:a16="http://schemas.microsoft.com/office/drawing/2014/main" id="{4D0E913E-7EBB-D351-34D5-6DB68EA79BF9}"/>
              </a:ext>
            </a:extLst>
          </p:cNvPr>
          <p:cNvSpPr/>
          <p:nvPr/>
        </p:nvSpPr>
        <p:spPr>
          <a:xfrm>
            <a:off x="470983" y="1333652"/>
            <a:ext cx="4336918" cy="4023137"/>
          </a:xfrm>
          <a:prstGeom prst="rect">
            <a:avLst/>
          </a:prstGeom>
          <a:solidFill>
            <a:srgbClr val="A7CCED">
              <a:alpha val="14000"/>
            </a:srgbClr>
          </a:solidFill>
          <a:ln>
            <a:noFill/>
          </a:ln>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dirty="0">
              <a:solidFill>
                <a:schemeClr val="lt1"/>
              </a:solidFill>
              <a:latin typeface="Poppins"/>
              <a:ea typeface="Poppins"/>
              <a:cs typeface="Poppins"/>
              <a:sym typeface="Poppins"/>
            </a:endParaRPr>
          </a:p>
        </p:txBody>
      </p:sp>
      <p:pic>
        <p:nvPicPr>
          <p:cNvPr id="47" name="Graphic 46" descr="Stethoscope with solid fill">
            <a:extLst>
              <a:ext uri="{FF2B5EF4-FFF2-40B4-BE49-F238E27FC236}">
                <a16:creationId xmlns:a16="http://schemas.microsoft.com/office/drawing/2014/main" id="{19D0148F-7BF0-5F6D-94E7-D1330172F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52634" y="2571371"/>
            <a:ext cx="460298" cy="460298"/>
          </a:xfrm>
          <a:prstGeom prst="rect">
            <a:avLst/>
          </a:prstGeom>
        </p:spPr>
      </p:pic>
      <p:grpSp>
        <p:nvGrpSpPr>
          <p:cNvPr id="48" name="Google Shape;170;p36">
            <a:extLst>
              <a:ext uri="{FF2B5EF4-FFF2-40B4-BE49-F238E27FC236}">
                <a16:creationId xmlns:a16="http://schemas.microsoft.com/office/drawing/2014/main" id="{F17D12EB-100B-8F2E-EF8B-E464A926780E}"/>
              </a:ext>
            </a:extLst>
          </p:cNvPr>
          <p:cNvGrpSpPr/>
          <p:nvPr/>
        </p:nvGrpSpPr>
        <p:grpSpPr>
          <a:xfrm>
            <a:off x="5277857" y="4525308"/>
            <a:ext cx="3317861" cy="930994"/>
            <a:chOff x="6547757" y="4049108"/>
            <a:chExt cx="3988465" cy="1020371"/>
          </a:xfrm>
        </p:grpSpPr>
        <p:grpSp>
          <p:nvGrpSpPr>
            <p:cNvPr id="49" name="Google Shape;171;p36">
              <a:extLst>
                <a:ext uri="{FF2B5EF4-FFF2-40B4-BE49-F238E27FC236}">
                  <a16:creationId xmlns:a16="http://schemas.microsoft.com/office/drawing/2014/main" id="{C527C41D-3918-0AC4-5F13-07D31E9889A9}"/>
                </a:ext>
              </a:extLst>
            </p:cNvPr>
            <p:cNvGrpSpPr/>
            <p:nvPr/>
          </p:nvGrpSpPr>
          <p:grpSpPr>
            <a:xfrm>
              <a:off x="7427703" y="4049108"/>
              <a:ext cx="3108519" cy="1020371"/>
              <a:chOff x="6172701" y="1839682"/>
              <a:chExt cx="3108519" cy="1020371"/>
            </a:xfrm>
          </p:grpSpPr>
          <p:sp>
            <p:nvSpPr>
              <p:cNvPr id="53" name="Google Shape;172;p36">
                <a:extLst>
                  <a:ext uri="{FF2B5EF4-FFF2-40B4-BE49-F238E27FC236}">
                    <a16:creationId xmlns:a16="http://schemas.microsoft.com/office/drawing/2014/main" id="{6B87296A-75F9-7CEB-6965-618047A0B31D}"/>
                  </a:ext>
                </a:extLst>
              </p:cNvPr>
              <p:cNvSpPr txBox="1"/>
              <p:nvPr/>
            </p:nvSpPr>
            <p:spPr>
              <a:xfrm>
                <a:off x="6172701" y="1839682"/>
                <a:ext cx="3108519" cy="102037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b="1" dirty="0">
                    <a:solidFill>
                      <a:srgbClr val="005791"/>
                    </a:solidFill>
                    <a:latin typeface="Poppins Black" panose="00000A00000000000000" pitchFamily="2" charset="0"/>
                    <a:ea typeface="Cabin"/>
                    <a:cs typeface="Poppins Black" panose="00000A00000000000000" pitchFamily="2" charset="0"/>
                    <a:sym typeface="Cabin"/>
                  </a:rPr>
                  <a:t>{#benefits.section125}Section 125 Cafeteria Plan{/benefits.section125}</a:t>
                </a:r>
                <a:endParaRPr b="1" dirty="0">
                  <a:solidFill>
                    <a:srgbClr val="005791"/>
                  </a:solidFill>
                  <a:latin typeface="Poppins Black" panose="00000A00000000000000" pitchFamily="2" charset="0"/>
                  <a:ea typeface="Cabin"/>
                  <a:cs typeface="Poppins Black" panose="00000A00000000000000" pitchFamily="2" charset="0"/>
                  <a:sym typeface="Cabin"/>
                </a:endParaRPr>
              </a:p>
            </p:txBody>
          </p:sp>
          <p:sp>
            <p:nvSpPr>
              <p:cNvPr id="54" name="Google Shape;173;p36">
                <a:extLst>
                  <a:ext uri="{FF2B5EF4-FFF2-40B4-BE49-F238E27FC236}">
                    <a16:creationId xmlns:a16="http://schemas.microsoft.com/office/drawing/2014/main" id="{0BD1F0DD-8C06-E810-1D54-F34AD5C1D8DA}"/>
                  </a:ext>
                </a:extLst>
              </p:cNvPr>
              <p:cNvSpPr txBox="1"/>
              <p:nvPr/>
            </p:nvSpPr>
            <p:spPr>
              <a:xfrm>
                <a:off x="6197757" y="2190898"/>
                <a:ext cx="3058406" cy="470533"/>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30000"/>
                  </a:lnSpc>
                  <a:spcBef>
                    <a:spcPts val="0"/>
                  </a:spcBef>
                  <a:spcAft>
                    <a:spcPts val="0"/>
                  </a:spcAft>
                  <a:buNone/>
                </a:pPr>
                <a:r>
                  <a:rPr lang="en-US" sz="900" dirty="0">
                    <a:solidFill>
                      <a:schemeClr val="dk1"/>
                    </a:solidFill>
                    <a:latin typeface="Poppins Light" panose="00000400000000000000" pitchFamily="2" charset="0"/>
                    <a:ea typeface="Poppins"/>
                    <a:cs typeface="Poppins Light" panose="00000400000000000000" pitchFamily="2" charset="0"/>
                    <a:sym typeface="Poppins"/>
                  </a:rPr>
                  <a:t>Pre-tax dependent care and out of pocket medical like copays, deductibles, etc.</a:t>
                </a:r>
                <a:endParaRPr sz="900" dirty="0">
                  <a:solidFill>
                    <a:schemeClr val="dk1"/>
                  </a:solidFill>
                  <a:latin typeface="Poppins Light" panose="00000400000000000000" pitchFamily="2" charset="0"/>
                  <a:ea typeface="Poppins"/>
                  <a:cs typeface="Poppins Light" panose="00000400000000000000" pitchFamily="2" charset="0"/>
                  <a:sym typeface="Poppins"/>
                </a:endParaRPr>
              </a:p>
            </p:txBody>
          </p:sp>
        </p:grpSp>
        <p:sp>
          <p:nvSpPr>
            <p:cNvPr id="51" name="Google Shape;175;p36">
              <a:extLst>
                <a:ext uri="{FF2B5EF4-FFF2-40B4-BE49-F238E27FC236}">
                  <a16:creationId xmlns:a16="http://schemas.microsoft.com/office/drawing/2014/main" id="{3A6A138C-45FB-3453-4701-7D17AF690923}"/>
                </a:ext>
              </a:extLst>
            </p:cNvPr>
            <p:cNvSpPr/>
            <p:nvPr/>
          </p:nvSpPr>
          <p:spPr>
            <a:xfrm>
              <a:off x="6547757" y="4143087"/>
              <a:ext cx="727770" cy="727770"/>
            </a:xfrm>
            <a:prstGeom prst="rect">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grpSp>
      <p:grpSp>
        <p:nvGrpSpPr>
          <p:cNvPr id="55" name="Google Shape;170;p36">
            <a:extLst>
              <a:ext uri="{FF2B5EF4-FFF2-40B4-BE49-F238E27FC236}">
                <a16:creationId xmlns:a16="http://schemas.microsoft.com/office/drawing/2014/main" id="{D61BB374-B615-6E93-788A-A13050FDFED2}"/>
              </a:ext>
            </a:extLst>
          </p:cNvPr>
          <p:cNvGrpSpPr/>
          <p:nvPr/>
        </p:nvGrpSpPr>
        <p:grpSpPr>
          <a:xfrm>
            <a:off x="5277856" y="5579104"/>
            <a:ext cx="3235100" cy="930994"/>
            <a:chOff x="6547757" y="4049105"/>
            <a:chExt cx="3888977" cy="1020371"/>
          </a:xfrm>
        </p:grpSpPr>
        <p:grpSp>
          <p:nvGrpSpPr>
            <p:cNvPr id="56" name="Google Shape;171;p36">
              <a:extLst>
                <a:ext uri="{FF2B5EF4-FFF2-40B4-BE49-F238E27FC236}">
                  <a16:creationId xmlns:a16="http://schemas.microsoft.com/office/drawing/2014/main" id="{89E301B7-24B2-4898-EFFC-AF0A7E1E2ACE}"/>
                </a:ext>
              </a:extLst>
            </p:cNvPr>
            <p:cNvGrpSpPr/>
            <p:nvPr/>
          </p:nvGrpSpPr>
          <p:grpSpPr>
            <a:xfrm>
              <a:off x="7427702" y="4049105"/>
              <a:ext cx="3009032" cy="1020371"/>
              <a:chOff x="6172700" y="1839679"/>
              <a:chExt cx="3009032" cy="1020371"/>
            </a:xfrm>
          </p:grpSpPr>
          <p:sp>
            <p:nvSpPr>
              <p:cNvPr id="60" name="Google Shape;172;p36">
                <a:extLst>
                  <a:ext uri="{FF2B5EF4-FFF2-40B4-BE49-F238E27FC236}">
                    <a16:creationId xmlns:a16="http://schemas.microsoft.com/office/drawing/2014/main" id="{643C0F86-DEB8-DC93-231C-3ACFB0E8836A}"/>
                  </a:ext>
                </a:extLst>
              </p:cNvPr>
              <p:cNvSpPr txBox="1"/>
              <p:nvPr/>
            </p:nvSpPr>
            <p:spPr>
              <a:xfrm>
                <a:off x="6172700" y="1839679"/>
                <a:ext cx="2983974" cy="102037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b="1" dirty="0">
                    <a:solidFill>
                      <a:srgbClr val="005791"/>
                    </a:solidFill>
                    <a:latin typeface="Poppins Black" panose="00000A00000000000000" pitchFamily="2" charset="0"/>
                    <a:ea typeface="Cabin"/>
                    <a:cs typeface="Poppins Black" panose="00000A00000000000000" pitchFamily="2" charset="0"/>
                    <a:sym typeface="Cabin"/>
                  </a:rPr>
                  <a:t>{#benefits.supplemental}Voluntary Group Plans{/</a:t>
                </a:r>
                <a:r>
                  <a:rPr lang="en-US" b="1" dirty="0" err="1">
                    <a:solidFill>
                      <a:srgbClr val="005791"/>
                    </a:solidFill>
                    <a:latin typeface="Poppins Black" panose="00000A00000000000000" pitchFamily="2" charset="0"/>
                    <a:ea typeface="Cabin"/>
                    <a:cs typeface="Poppins Black" panose="00000A00000000000000" pitchFamily="2" charset="0"/>
                    <a:sym typeface="Cabin"/>
                  </a:rPr>
                  <a:t>benefits.supplemental</a:t>
                </a:r>
                <a:r>
                  <a:rPr lang="en-US" b="1" dirty="0">
                    <a:solidFill>
                      <a:srgbClr val="005791"/>
                    </a:solidFill>
                    <a:latin typeface="Poppins Black" panose="00000A00000000000000" pitchFamily="2" charset="0"/>
                    <a:ea typeface="Cabin"/>
                    <a:cs typeface="Poppins Black" panose="00000A00000000000000" pitchFamily="2" charset="0"/>
                    <a:sym typeface="Cabin"/>
                  </a:rPr>
                  <a:t>}</a:t>
                </a:r>
                <a:endParaRPr b="1" dirty="0">
                  <a:solidFill>
                    <a:srgbClr val="005791"/>
                  </a:solidFill>
                  <a:latin typeface="Poppins Black" panose="00000A00000000000000" pitchFamily="2" charset="0"/>
                  <a:ea typeface="Cabin"/>
                  <a:cs typeface="Poppins Black" panose="00000A00000000000000" pitchFamily="2" charset="0"/>
                  <a:sym typeface="Cabin"/>
                </a:endParaRPr>
              </a:p>
            </p:txBody>
          </p:sp>
          <p:sp>
            <p:nvSpPr>
              <p:cNvPr id="61" name="Google Shape;173;p36">
                <a:extLst>
                  <a:ext uri="{FF2B5EF4-FFF2-40B4-BE49-F238E27FC236}">
                    <a16:creationId xmlns:a16="http://schemas.microsoft.com/office/drawing/2014/main" id="{DB460748-99A6-4BEE-4DBA-56F966DE1008}"/>
                  </a:ext>
                </a:extLst>
              </p:cNvPr>
              <p:cNvSpPr txBox="1"/>
              <p:nvPr/>
            </p:nvSpPr>
            <p:spPr>
              <a:xfrm>
                <a:off x="6197758" y="2210852"/>
                <a:ext cx="2983974" cy="470533"/>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30000"/>
                  </a:lnSpc>
                  <a:spcBef>
                    <a:spcPts val="0"/>
                  </a:spcBef>
                  <a:spcAft>
                    <a:spcPts val="0"/>
                  </a:spcAft>
                  <a:buNone/>
                </a:pPr>
                <a:r>
                  <a:rPr lang="en-US" sz="900" dirty="0">
                    <a:solidFill>
                      <a:schemeClr val="dk1"/>
                    </a:solidFill>
                    <a:latin typeface="Poppins Light" panose="00000400000000000000" pitchFamily="2" charset="0"/>
                    <a:ea typeface="Poppins"/>
                    <a:cs typeface="Poppins Light" panose="00000400000000000000" pitchFamily="2" charset="0"/>
                    <a:sym typeface="Poppins"/>
                  </a:rPr>
                  <a:t>Voluntary dental, life, STD/LTD, and other ancillary benefits are available.</a:t>
                </a:r>
                <a:endParaRPr sz="900" dirty="0">
                  <a:solidFill>
                    <a:schemeClr val="dk1"/>
                  </a:solidFill>
                  <a:latin typeface="Poppins Light" panose="00000400000000000000" pitchFamily="2" charset="0"/>
                  <a:ea typeface="Poppins"/>
                  <a:cs typeface="Poppins Light" panose="00000400000000000000" pitchFamily="2" charset="0"/>
                  <a:sym typeface="Poppins"/>
                </a:endParaRPr>
              </a:p>
            </p:txBody>
          </p:sp>
        </p:grpSp>
        <p:sp>
          <p:nvSpPr>
            <p:cNvPr id="58" name="Google Shape;175;p36">
              <a:extLst>
                <a:ext uri="{FF2B5EF4-FFF2-40B4-BE49-F238E27FC236}">
                  <a16:creationId xmlns:a16="http://schemas.microsoft.com/office/drawing/2014/main" id="{B382BB91-197A-DCFB-F761-316CDE882BE7}"/>
                </a:ext>
              </a:extLst>
            </p:cNvPr>
            <p:cNvSpPr/>
            <p:nvPr/>
          </p:nvSpPr>
          <p:spPr>
            <a:xfrm>
              <a:off x="6547757" y="4143087"/>
              <a:ext cx="727770" cy="727770"/>
            </a:xfrm>
            <a:prstGeom prst="rect">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grpSp>
      <p:grpSp>
        <p:nvGrpSpPr>
          <p:cNvPr id="62" name="Google Shape;177;p36">
            <a:extLst>
              <a:ext uri="{FF2B5EF4-FFF2-40B4-BE49-F238E27FC236}">
                <a16:creationId xmlns:a16="http://schemas.microsoft.com/office/drawing/2014/main" id="{AE75907D-26D8-E362-EB39-62867DA0BF30}"/>
              </a:ext>
            </a:extLst>
          </p:cNvPr>
          <p:cNvGrpSpPr/>
          <p:nvPr/>
        </p:nvGrpSpPr>
        <p:grpSpPr>
          <a:xfrm>
            <a:off x="8884233" y="3490362"/>
            <a:ext cx="2886137" cy="860446"/>
            <a:chOff x="6547757" y="4049108"/>
            <a:chExt cx="3469480" cy="943050"/>
          </a:xfrm>
        </p:grpSpPr>
        <p:grpSp>
          <p:nvGrpSpPr>
            <p:cNvPr id="63" name="Google Shape;178;p36">
              <a:extLst>
                <a:ext uri="{FF2B5EF4-FFF2-40B4-BE49-F238E27FC236}">
                  <a16:creationId xmlns:a16="http://schemas.microsoft.com/office/drawing/2014/main" id="{FE6C03BD-A85F-9640-11C9-403798892838}"/>
                </a:ext>
              </a:extLst>
            </p:cNvPr>
            <p:cNvGrpSpPr/>
            <p:nvPr/>
          </p:nvGrpSpPr>
          <p:grpSpPr>
            <a:xfrm>
              <a:off x="7427702" y="4049108"/>
              <a:ext cx="2589535" cy="943050"/>
              <a:chOff x="6172700" y="1839682"/>
              <a:chExt cx="2589535" cy="943050"/>
            </a:xfrm>
          </p:grpSpPr>
          <p:sp>
            <p:nvSpPr>
              <p:cNvPr id="67" name="Google Shape;179;p36">
                <a:extLst>
                  <a:ext uri="{FF2B5EF4-FFF2-40B4-BE49-F238E27FC236}">
                    <a16:creationId xmlns:a16="http://schemas.microsoft.com/office/drawing/2014/main" id="{2EE5D1C7-D67D-834A-71BF-EAC5F81920DE}"/>
                  </a:ext>
                </a:extLst>
              </p:cNvPr>
              <p:cNvSpPr txBox="1"/>
              <p:nvPr/>
            </p:nvSpPr>
            <p:spPr>
              <a:xfrm>
                <a:off x="6172701" y="1839682"/>
                <a:ext cx="2284194" cy="311991"/>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spcBef>
                    <a:spcPts val="0"/>
                  </a:spcBef>
                  <a:spcAft>
                    <a:spcPts val="0"/>
                  </a:spcAft>
                  <a:buNone/>
                </a:pPr>
                <a:r>
                  <a:rPr lang="en-US" b="1" dirty="0">
                    <a:solidFill>
                      <a:srgbClr val="005791"/>
                    </a:solidFill>
                    <a:latin typeface="Poppins Black" panose="00000A00000000000000" pitchFamily="2" charset="0"/>
                    <a:ea typeface="Cabin"/>
                    <a:cs typeface="Poppins Black" panose="00000A00000000000000" pitchFamily="2" charset="0"/>
                    <a:sym typeface="Cabin"/>
                  </a:rPr>
                  <a:t>Competitive Rates</a:t>
                </a:r>
                <a:endParaRPr b="1" dirty="0">
                  <a:solidFill>
                    <a:srgbClr val="005791"/>
                  </a:solidFill>
                  <a:latin typeface="Poppins Black" panose="00000A00000000000000" pitchFamily="2" charset="0"/>
                  <a:ea typeface="Cabin"/>
                  <a:cs typeface="Poppins Black" panose="00000A00000000000000" pitchFamily="2" charset="0"/>
                  <a:sym typeface="Cabin"/>
                </a:endParaRPr>
              </a:p>
            </p:txBody>
          </p:sp>
          <p:sp>
            <p:nvSpPr>
              <p:cNvPr id="68" name="Google Shape;180;p36">
                <a:extLst>
                  <a:ext uri="{FF2B5EF4-FFF2-40B4-BE49-F238E27FC236}">
                    <a16:creationId xmlns:a16="http://schemas.microsoft.com/office/drawing/2014/main" id="{6ECC9B7A-7307-B422-89FD-A1D2CABA6843}"/>
                  </a:ext>
                </a:extLst>
              </p:cNvPr>
              <p:cNvSpPr txBox="1"/>
              <p:nvPr/>
            </p:nvSpPr>
            <p:spPr>
              <a:xfrm>
                <a:off x="6172700" y="2114865"/>
                <a:ext cx="2589535" cy="667867"/>
              </a:xfrm>
              <a:prstGeom prst="rect">
                <a:avLst/>
              </a:prstGeom>
              <a:noFill/>
              <a:ln>
                <a:noFill/>
              </a:ln>
            </p:spPr>
            <p:txBody>
              <a:bodyPr spcFirstLastPara="1" wrap="square" lIns="68575" tIns="34275" rIns="68575" bIns="3427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rtl="0">
                  <a:lnSpc>
                    <a:spcPct val="130000"/>
                  </a:lnSpc>
                  <a:spcBef>
                    <a:spcPts val="0"/>
                  </a:spcBef>
                  <a:spcAft>
                    <a:spcPts val="0"/>
                  </a:spcAft>
                  <a:buNone/>
                </a:pPr>
                <a:r>
                  <a:rPr lang="en-US" sz="900" dirty="0">
                    <a:solidFill>
                      <a:schemeClr val="dk1"/>
                    </a:solidFill>
                    <a:latin typeface="Poppins Light" panose="00000400000000000000" pitchFamily="2" charset="0"/>
                    <a:ea typeface="Poppins"/>
                    <a:cs typeface="Poppins Light" panose="00000400000000000000" pitchFamily="2" charset="0"/>
                    <a:sym typeface="Poppins"/>
                  </a:rPr>
                  <a:t>Galactic offers competitive rates on company paid Life and Disability Insurance</a:t>
                </a:r>
                <a:endParaRPr sz="900" dirty="0">
                  <a:solidFill>
                    <a:schemeClr val="dk1"/>
                  </a:solidFill>
                  <a:latin typeface="Poppins Light" panose="00000400000000000000" pitchFamily="2" charset="0"/>
                  <a:ea typeface="Poppins"/>
                  <a:cs typeface="Poppins Light" panose="00000400000000000000" pitchFamily="2" charset="0"/>
                  <a:sym typeface="Poppins"/>
                </a:endParaRPr>
              </a:p>
            </p:txBody>
          </p:sp>
        </p:grpSp>
        <p:sp>
          <p:nvSpPr>
            <p:cNvPr id="65" name="Google Shape;182;p36">
              <a:extLst>
                <a:ext uri="{FF2B5EF4-FFF2-40B4-BE49-F238E27FC236}">
                  <a16:creationId xmlns:a16="http://schemas.microsoft.com/office/drawing/2014/main" id="{82715D47-0B37-FCBF-7EFF-675FD79C4850}"/>
                </a:ext>
              </a:extLst>
            </p:cNvPr>
            <p:cNvSpPr/>
            <p:nvPr/>
          </p:nvSpPr>
          <p:spPr>
            <a:xfrm>
              <a:off x="6547757" y="4143087"/>
              <a:ext cx="727770" cy="727770"/>
            </a:xfrm>
            <a:prstGeom prst="rect">
              <a:avLst/>
            </a:prstGeom>
            <a:solidFill>
              <a:srgbClr val="005791"/>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grpSp>
      <p:pic>
        <p:nvPicPr>
          <p:cNvPr id="70" name="Graphic 69" descr="Family with boy with solid fill">
            <a:extLst>
              <a:ext uri="{FF2B5EF4-FFF2-40B4-BE49-F238E27FC236}">
                <a16:creationId xmlns:a16="http://schemas.microsoft.com/office/drawing/2014/main" id="{666B4FB1-15F8-7259-9019-5546F52720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60098" y="4696535"/>
            <a:ext cx="440924" cy="440924"/>
          </a:xfrm>
          <a:prstGeom prst="rect">
            <a:avLst/>
          </a:prstGeom>
        </p:spPr>
      </p:pic>
      <p:pic>
        <p:nvPicPr>
          <p:cNvPr id="72" name="Graphic 71" descr="Dental Care with solid fill">
            <a:extLst>
              <a:ext uri="{FF2B5EF4-FFF2-40B4-BE49-F238E27FC236}">
                <a16:creationId xmlns:a16="http://schemas.microsoft.com/office/drawing/2014/main" id="{E874B6B8-2092-1CFB-9071-550201C109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60995" y="5785572"/>
            <a:ext cx="451937" cy="451937"/>
          </a:xfrm>
          <a:prstGeom prst="rect">
            <a:avLst/>
          </a:prstGeom>
        </p:spPr>
      </p:pic>
      <p:pic>
        <p:nvPicPr>
          <p:cNvPr id="75" name="Graphic 74" descr="Dollar with solid fill">
            <a:extLst>
              <a:ext uri="{FF2B5EF4-FFF2-40B4-BE49-F238E27FC236}">
                <a16:creationId xmlns:a16="http://schemas.microsoft.com/office/drawing/2014/main" id="{F68A86EA-EAD4-5C51-9FB1-AA0603557A3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56466" y="3667502"/>
            <a:ext cx="460938" cy="460938"/>
          </a:xfrm>
          <a:prstGeom prst="rect">
            <a:avLst/>
          </a:prstGeom>
        </p:spPr>
      </p:pic>
      <p:pic>
        <p:nvPicPr>
          <p:cNvPr id="77" name="Graphic 76" descr="Clipboard Partially Checked with solid fill">
            <a:extLst>
              <a:ext uri="{FF2B5EF4-FFF2-40B4-BE49-F238E27FC236}">
                <a16:creationId xmlns:a16="http://schemas.microsoft.com/office/drawing/2014/main" id="{7A57742A-DE2B-3DBD-7D9B-870A6C8EA9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22536" y="4678008"/>
            <a:ext cx="528797" cy="528797"/>
          </a:xfrm>
          <a:prstGeom prst="rect">
            <a:avLst/>
          </a:prstGeom>
        </p:spPr>
      </p:pic>
      <p:pic>
        <p:nvPicPr>
          <p:cNvPr id="79" name="Graphic 78" descr="Phone Vibration with solid fill">
            <a:extLst>
              <a:ext uri="{FF2B5EF4-FFF2-40B4-BE49-F238E27FC236}">
                <a16:creationId xmlns:a16="http://schemas.microsoft.com/office/drawing/2014/main" id="{3543C7CB-BB10-8A1A-2BEA-80FB0BC58BD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936894" y="2551480"/>
            <a:ext cx="500080" cy="500080"/>
          </a:xfrm>
          <a:prstGeom prst="rect">
            <a:avLst/>
          </a:prstGeom>
        </p:spPr>
      </p:pic>
      <p:pic>
        <p:nvPicPr>
          <p:cNvPr id="87" name="Graphic 86">
            <a:extLst>
              <a:ext uri="{FF2B5EF4-FFF2-40B4-BE49-F238E27FC236}">
                <a16:creationId xmlns:a16="http://schemas.microsoft.com/office/drawing/2014/main" id="{CBFB28EB-540B-5795-EC57-2EB969D289C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23837" y="3168390"/>
            <a:ext cx="1510765" cy="1510765"/>
          </a:xfrm>
          <a:prstGeom prst="rect">
            <a:avLst/>
          </a:prstGeom>
        </p:spPr>
      </p:pic>
      <p:pic>
        <p:nvPicPr>
          <p:cNvPr id="88" name="Graphic 87">
            <a:extLst>
              <a:ext uri="{FF2B5EF4-FFF2-40B4-BE49-F238E27FC236}">
                <a16:creationId xmlns:a16="http://schemas.microsoft.com/office/drawing/2014/main" id="{8A01056B-1B99-0715-743A-FD09F6F821A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315335" y="3624831"/>
            <a:ext cx="513970" cy="513970"/>
          </a:xfrm>
          <a:prstGeom prst="rect">
            <a:avLst/>
          </a:prstGeom>
        </p:spPr>
      </p:pic>
      <p:pic>
        <p:nvPicPr>
          <p:cNvPr id="4" name="Picture 3">
            <a:extLst>
              <a:ext uri="{FF2B5EF4-FFF2-40B4-BE49-F238E27FC236}">
                <a16:creationId xmlns:a16="http://schemas.microsoft.com/office/drawing/2014/main" id="{936C5BBC-D1E3-82F0-3C26-ED492A83262A}"/>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4105338" y="-235704"/>
            <a:ext cx="7921768" cy="2520701"/>
          </a:xfrm>
          <a:prstGeom prst="rect">
            <a:avLst/>
          </a:prstGeom>
        </p:spPr>
      </p:pic>
      <p:pic>
        <p:nvPicPr>
          <p:cNvPr id="11" name="Graphic 10">
            <a:extLst>
              <a:ext uri="{FF2B5EF4-FFF2-40B4-BE49-F238E27FC236}">
                <a16:creationId xmlns:a16="http://schemas.microsoft.com/office/drawing/2014/main" id="{80402C56-C906-FF60-5A7B-0E17EC08356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324683" y="6514945"/>
            <a:ext cx="1774506" cy="260163"/>
          </a:xfrm>
          <a:prstGeom prst="rect">
            <a:avLst/>
          </a:prstGeom>
        </p:spPr>
      </p:pic>
    </p:spTree>
    <p:extLst>
      <p:ext uri="{BB962C8B-B14F-4D97-AF65-F5344CB8AC3E}">
        <p14:creationId xmlns:p14="http://schemas.microsoft.com/office/powerpoint/2010/main" val="2329793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21BD9D-FDD4-1FF7-BB92-657050123A61}"/>
              </a:ext>
            </a:extLst>
          </p:cNvPr>
          <p:cNvSpPr txBox="1"/>
          <p:nvPr/>
        </p:nvSpPr>
        <p:spPr>
          <a:xfrm>
            <a:off x="992650" y="5050044"/>
            <a:ext cx="2090205" cy="1133644"/>
          </a:xfrm>
          <a:prstGeom prst="rect">
            <a:avLst/>
          </a:prstGeom>
          <a:noFill/>
        </p:spPr>
        <p:txBody>
          <a:bodyPr wrap="square" rtlCol="0">
            <a:spAutoFit/>
          </a:bodyPr>
          <a:lstStyle/>
          <a:p>
            <a:pPr marL="0" marR="0">
              <a:spcBef>
                <a:spcPts val="200"/>
              </a:spcBef>
              <a:spcAft>
                <a:spcPts val="0"/>
              </a:spcAft>
            </a:pPr>
            <a:r>
              <a:rPr lang="en-US" sz="1200" b="1" dirty="0">
                <a:solidFill>
                  <a:srgbClr val="005791"/>
                </a:solidFill>
                <a:effectLst/>
                <a:latin typeface="Poppins Black" panose="00000A00000000000000" pitchFamily="2" charset="0"/>
                <a:cs typeface="Poppins Black" panose="00000A00000000000000" pitchFamily="2" charset="0"/>
              </a:rPr>
              <a:t>Easy Enrollment on Any Device</a:t>
            </a:r>
          </a:p>
          <a:p>
            <a:pPr marL="0" marR="0">
              <a:spcBef>
                <a:spcPts val="200"/>
              </a:spcBef>
              <a:spcAft>
                <a:spcPts val="0"/>
              </a:spcAft>
            </a:pPr>
            <a:r>
              <a:rPr lang="en-US" sz="1050" dirty="0">
                <a:effectLst/>
                <a:latin typeface="Poppins Light" panose="00000400000000000000" pitchFamily="2" charset="0"/>
                <a:cs typeface="Poppins Light" panose="00000400000000000000" pitchFamily="2" charset="0"/>
              </a:rPr>
              <a:t>Managing benefit elections is simple no matter what device an employee uses (desktop, laptop, or mobile).</a:t>
            </a:r>
          </a:p>
        </p:txBody>
      </p:sp>
      <p:sp>
        <p:nvSpPr>
          <p:cNvPr id="5" name="TextBox 4">
            <a:extLst>
              <a:ext uri="{FF2B5EF4-FFF2-40B4-BE49-F238E27FC236}">
                <a16:creationId xmlns:a16="http://schemas.microsoft.com/office/drawing/2014/main" id="{8260DD96-BA08-2FF1-7A17-6CD1252A4E83}"/>
              </a:ext>
            </a:extLst>
          </p:cNvPr>
          <p:cNvSpPr txBox="1"/>
          <p:nvPr/>
        </p:nvSpPr>
        <p:spPr>
          <a:xfrm>
            <a:off x="3804041" y="5055353"/>
            <a:ext cx="2090205" cy="1133644"/>
          </a:xfrm>
          <a:prstGeom prst="rect">
            <a:avLst/>
          </a:prstGeom>
          <a:noFill/>
        </p:spPr>
        <p:txBody>
          <a:bodyPr wrap="square" rtlCol="0">
            <a:spAutoFit/>
          </a:bodyPr>
          <a:lstStyle/>
          <a:p>
            <a:pPr marL="0" marR="0">
              <a:spcBef>
                <a:spcPts val="200"/>
              </a:spcBef>
              <a:spcAft>
                <a:spcPts val="0"/>
              </a:spcAft>
            </a:pPr>
            <a:r>
              <a:rPr lang="en-US" sz="1200" b="1" dirty="0">
                <a:solidFill>
                  <a:srgbClr val="005791"/>
                </a:solidFill>
                <a:effectLst/>
                <a:latin typeface="Poppins Black" panose="00000A00000000000000" pitchFamily="2" charset="0"/>
                <a:cs typeface="Poppins Black" panose="00000A00000000000000" pitchFamily="2" charset="0"/>
              </a:rPr>
              <a:t>Crystal Clear Plan Comparison</a:t>
            </a:r>
          </a:p>
          <a:p>
            <a:pPr marL="0" marR="0">
              <a:spcBef>
                <a:spcPts val="200"/>
              </a:spcBef>
              <a:spcAft>
                <a:spcPts val="0"/>
              </a:spcAft>
            </a:pPr>
            <a:r>
              <a:rPr lang="en-US" sz="1050" dirty="0">
                <a:effectLst/>
                <a:latin typeface="Poppins Light" panose="00000400000000000000" pitchFamily="2" charset="0"/>
                <a:cs typeface="Poppins Light" panose="00000400000000000000" pitchFamily="2" charset="0"/>
              </a:rPr>
              <a:t>An intuitive user experience and online tools help employees make selections that fit their needs.</a:t>
            </a:r>
          </a:p>
        </p:txBody>
      </p:sp>
      <p:sp>
        <p:nvSpPr>
          <p:cNvPr id="6" name="TextBox 5">
            <a:extLst>
              <a:ext uri="{FF2B5EF4-FFF2-40B4-BE49-F238E27FC236}">
                <a16:creationId xmlns:a16="http://schemas.microsoft.com/office/drawing/2014/main" id="{B96C2FF3-C995-DDCD-0E01-BB57A62875E3}"/>
              </a:ext>
            </a:extLst>
          </p:cNvPr>
          <p:cNvSpPr txBox="1"/>
          <p:nvPr/>
        </p:nvSpPr>
        <p:spPr>
          <a:xfrm>
            <a:off x="6642389" y="5049851"/>
            <a:ext cx="2270189" cy="1502976"/>
          </a:xfrm>
          <a:prstGeom prst="rect">
            <a:avLst/>
          </a:prstGeom>
          <a:noFill/>
        </p:spPr>
        <p:txBody>
          <a:bodyPr wrap="square" rtlCol="0">
            <a:spAutoFit/>
          </a:bodyPr>
          <a:lstStyle/>
          <a:p>
            <a:pPr marL="0" marR="0">
              <a:spcBef>
                <a:spcPts val="200"/>
              </a:spcBef>
              <a:spcAft>
                <a:spcPts val="0"/>
              </a:spcAft>
            </a:pPr>
            <a:r>
              <a:rPr lang="en-US" sz="1200" b="1" dirty="0">
                <a:solidFill>
                  <a:srgbClr val="005791"/>
                </a:solidFill>
                <a:effectLst/>
                <a:latin typeface="Poppins Black" panose="00000A00000000000000" pitchFamily="2" charset="0"/>
                <a:cs typeface="Poppins Black" panose="00000A00000000000000" pitchFamily="2" charset="0"/>
              </a:rPr>
              <a:t>Faster, More Accurate Enrollment</a:t>
            </a:r>
          </a:p>
          <a:p>
            <a:pPr marL="0" marR="0">
              <a:spcBef>
                <a:spcPts val="200"/>
              </a:spcBef>
              <a:spcAft>
                <a:spcPts val="0"/>
              </a:spcAft>
            </a:pPr>
            <a:r>
              <a:rPr lang="en-US" sz="1050" dirty="0">
                <a:effectLst/>
                <a:latin typeface="Poppins Light" panose="00000400000000000000" pitchFamily="2" charset="0"/>
                <a:cs typeface="Poppins Light" panose="00000400000000000000" pitchFamily="2" charset="0"/>
              </a:rPr>
              <a:t>Alerts let employees know when required information is missing, taking the manual effort out of following up to ensure selections are completed.</a:t>
            </a:r>
          </a:p>
        </p:txBody>
      </p:sp>
      <p:sp>
        <p:nvSpPr>
          <p:cNvPr id="7" name="TextBox 6">
            <a:extLst>
              <a:ext uri="{FF2B5EF4-FFF2-40B4-BE49-F238E27FC236}">
                <a16:creationId xmlns:a16="http://schemas.microsoft.com/office/drawing/2014/main" id="{0653F589-9246-8A62-2351-C63D08FFD7E0}"/>
              </a:ext>
            </a:extLst>
          </p:cNvPr>
          <p:cNvSpPr txBox="1"/>
          <p:nvPr/>
        </p:nvSpPr>
        <p:spPr>
          <a:xfrm>
            <a:off x="9615489" y="5049851"/>
            <a:ext cx="2168377" cy="1295226"/>
          </a:xfrm>
          <a:prstGeom prst="rect">
            <a:avLst/>
          </a:prstGeom>
          <a:noFill/>
        </p:spPr>
        <p:txBody>
          <a:bodyPr wrap="square" rtlCol="0">
            <a:spAutoFit/>
          </a:bodyPr>
          <a:lstStyle/>
          <a:p>
            <a:pPr marL="0" marR="0">
              <a:spcBef>
                <a:spcPts val="200"/>
              </a:spcBef>
              <a:spcAft>
                <a:spcPts val="0"/>
              </a:spcAft>
            </a:pPr>
            <a:r>
              <a:rPr lang="en-US" sz="1200" b="1" dirty="0">
                <a:solidFill>
                  <a:srgbClr val="005791"/>
                </a:solidFill>
                <a:effectLst/>
                <a:latin typeface="Poppins Black" panose="00000A00000000000000" pitchFamily="2" charset="0"/>
                <a:cs typeface="Poppins Black" panose="00000A00000000000000" pitchFamily="2" charset="0"/>
              </a:rPr>
              <a:t>Happier, Healthier Employees</a:t>
            </a:r>
          </a:p>
          <a:p>
            <a:pPr marL="0" marR="0">
              <a:spcBef>
                <a:spcPts val="200"/>
              </a:spcBef>
              <a:spcAft>
                <a:spcPts val="0"/>
              </a:spcAft>
            </a:pPr>
            <a:r>
              <a:rPr lang="en-US" sz="1050" dirty="0">
                <a:effectLst/>
                <a:latin typeface="Poppins Light" panose="00000400000000000000" pitchFamily="2" charset="0"/>
                <a:cs typeface="Poppins Light" panose="00000400000000000000" pitchFamily="2" charset="0"/>
              </a:rPr>
              <a:t>Employees who are better informed about their plan options can more confidently enroll in the right plans and take advantage of benefits.</a:t>
            </a:r>
          </a:p>
        </p:txBody>
      </p:sp>
      <p:pic>
        <p:nvPicPr>
          <p:cNvPr id="8" name="Picture 7" descr="A screenshot of a computer&#10;&#10;Description automatically generated">
            <a:extLst>
              <a:ext uri="{FF2B5EF4-FFF2-40B4-BE49-F238E27FC236}">
                <a16:creationId xmlns:a16="http://schemas.microsoft.com/office/drawing/2014/main" id="{E16B8810-8131-F385-0349-BF015ED72FAB}"/>
              </a:ext>
            </a:extLst>
          </p:cNvPr>
          <p:cNvPicPr/>
          <p:nvPr/>
        </p:nvPicPr>
        <p:blipFill>
          <a:blip r:embed="rId3">
            <a:extLst>
              <a:ext uri="{28A0092B-C50C-407E-A947-70E740481C1C}">
                <a14:useLocalDpi xmlns:a14="http://schemas.microsoft.com/office/drawing/2010/main" val="0"/>
              </a:ext>
            </a:extLst>
          </a:blip>
          <a:stretch>
            <a:fillRect/>
          </a:stretch>
        </p:blipFill>
        <p:spPr>
          <a:xfrm>
            <a:off x="2810427" y="1487822"/>
            <a:ext cx="6167637" cy="3294838"/>
          </a:xfrm>
          <a:prstGeom prst="rect">
            <a:avLst/>
          </a:prstGeom>
        </p:spPr>
      </p:pic>
      <p:pic>
        <p:nvPicPr>
          <p:cNvPr id="9" name="Graphic 3">
            <a:extLst>
              <a:ext uri="{FF2B5EF4-FFF2-40B4-BE49-F238E27FC236}">
                <a16:creationId xmlns:a16="http://schemas.microsoft.com/office/drawing/2014/main" id="{A0025A5D-EBDC-B187-814F-7F568FCD36B1}"/>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3384" y="5227574"/>
            <a:ext cx="314325" cy="503238"/>
          </a:xfrm>
          <a:prstGeom prst="rect">
            <a:avLst/>
          </a:prstGeom>
        </p:spPr>
      </p:pic>
      <p:pic>
        <p:nvPicPr>
          <p:cNvPr id="10" name="Graphic 18">
            <a:extLst>
              <a:ext uri="{FF2B5EF4-FFF2-40B4-BE49-F238E27FC236}">
                <a16:creationId xmlns:a16="http://schemas.microsoft.com/office/drawing/2014/main" id="{361E593E-ED6B-C93D-7C0C-250301BB3B23}"/>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64015" y="5241435"/>
            <a:ext cx="474662" cy="474663"/>
          </a:xfrm>
          <a:prstGeom prst="rect">
            <a:avLst/>
          </a:prstGeom>
        </p:spPr>
      </p:pic>
      <p:pic>
        <p:nvPicPr>
          <p:cNvPr id="11" name="Graphic 16">
            <a:extLst>
              <a:ext uri="{FF2B5EF4-FFF2-40B4-BE49-F238E27FC236}">
                <a16:creationId xmlns:a16="http://schemas.microsoft.com/office/drawing/2014/main" id="{75464552-8A02-A54C-C75F-09C10C5FFE27}"/>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94519" y="5191350"/>
            <a:ext cx="511175" cy="457200"/>
          </a:xfrm>
          <a:prstGeom prst="rect">
            <a:avLst/>
          </a:prstGeom>
        </p:spPr>
      </p:pic>
      <p:pic>
        <p:nvPicPr>
          <p:cNvPr id="12" name="Graphic 8">
            <a:extLst>
              <a:ext uri="{FF2B5EF4-FFF2-40B4-BE49-F238E27FC236}">
                <a16:creationId xmlns:a16="http://schemas.microsoft.com/office/drawing/2014/main" id="{2D14EE59-20B7-165E-5798-8556EA904DD2}"/>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912578" y="5177063"/>
            <a:ext cx="485775" cy="485775"/>
          </a:xfrm>
          <a:prstGeom prst="rect">
            <a:avLst/>
          </a:prstGeom>
        </p:spPr>
      </p:pic>
      <p:sp>
        <p:nvSpPr>
          <p:cNvPr id="13" name="TextBox 12">
            <a:extLst>
              <a:ext uri="{FF2B5EF4-FFF2-40B4-BE49-F238E27FC236}">
                <a16:creationId xmlns:a16="http://schemas.microsoft.com/office/drawing/2014/main" id="{22920BA2-E674-E058-302A-141CA89652F9}"/>
              </a:ext>
            </a:extLst>
          </p:cNvPr>
          <p:cNvSpPr txBox="1"/>
          <p:nvPr/>
        </p:nvSpPr>
        <p:spPr>
          <a:xfrm>
            <a:off x="677525" y="2586867"/>
            <a:ext cx="1360228" cy="646331"/>
          </a:xfrm>
          <a:prstGeom prst="rect">
            <a:avLst/>
          </a:prstGeom>
          <a:noFill/>
        </p:spPr>
        <p:txBody>
          <a:bodyPr wrap="square">
            <a:spAutoFit/>
          </a:bodyPr>
          <a:lstStyle/>
          <a:p>
            <a:r>
              <a:rPr lang="en-US" sz="1800" dirty="0">
                <a:solidFill>
                  <a:schemeClr val="bg1"/>
                </a:solidFill>
                <a:latin typeface="Poppins Medium" panose="00000600000000000000" pitchFamily="2" charset="0"/>
                <a:cs typeface="Poppins Medium" panose="00000600000000000000" pitchFamily="2" charset="0"/>
              </a:rPr>
              <a:t>Services &amp; Features</a:t>
            </a:r>
          </a:p>
        </p:txBody>
      </p:sp>
      <p:sp>
        <p:nvSpPr>
          <p:cNvPr id="16" name="Rectangle 15">
            <a:extLst>
              <a:ext uri="{FF2B5EF4-FFF2-40B4-BE49-F238E27FC236}">
                <a16:creationId xmlns:a16="http://schemas.microsoft.com/office/drawing/2014/main" id="{A2193ECD-6409-47B3-284A-73DB55B99806}"/>
              </a:ext>
            </a:extLst>
          </p:cNvPr>
          <p:cNvSpPr/>
          <p:nvPr/>
        </p:nvSpPr>
        <p:spPr>
          <a:xfrm>
            <a:off x="0" y="0"/>
            <a:ext cx="12191999" cy="1127188"/>
          </a:xfrm>
          <a:prstGeom prst="rect">
            <a:avLst/>
          </a:prstGeom>
          <a:solidFill>
            <a:srgbClr val="0057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64DDE82-A3F3-C902-F107-72B4C6EF6A42}"/>
              </a:ext>
            </a:extLst>
          </p:cNvPr>
          <p:cNvSpPr/>
          <p:nvPr/>
        </p:nvSpPr>
        <p:spPr>
          <a:xfrm>
            <a:off x="-2" y="1111307"/>
            <a:ext cx="12192000" cy="199764"/>
          </a:xfrm>
          <a:prstGeom prst="rect">
            <a:avLst/>
          </a:prstGeom>
          <a:solidFill>
            <a:srgbClr val="A7CC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46FC0546-0A96-4CD7-67BD-AA9D28CF0217}"/>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712577" y="-760036"/>
            <a:ext cx="8875058" cy="6857999"/>
          </a:xfrm>
          <a:prstGeom prst="rect">
            <a:avLst/>
          </a:prstGeom>
        </p:spPr>
      </p:pic>
      <p:pic>
        <p:nvPicPr>
          <p:cNvPr id="18" name="Graphic 17">
            <a:extLst>
              <a:ext uri="{FF2B5EF4-FFF2-40B4-BE49-F238E27FC236}">
                <a16:creationId xmlns:a16="http://schemas.microsoft.com/office/drawing/2014/main" id="{BD4911B6-D727-9791-C373-2D1A93EAD2C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324683" y="6514945"/>
            <a:ext cx="1774506" cy="260163"/>
          </a:xfrm>
          <a:prstGeom prst="rect">
            <a:avLst/>
          </a:prstGeom>
        </p:spPr>
      </p:pic>
    </p:spTree>
    <p:extLst>
      <p:ext uri="{BB962C8B-B14F-4D97-AF65-F5344CB8AC3E}">
        <p14:creationId xmlns:p14="http://schemas.microsoft.com/office/powerpoint/2010/main" val="726573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01;p45">
            <a:extLst>
              <a:ext uri="{FF2B5EF4-FFF2-40B4-BE49-F238E27FC236}">
                <a16:creationId xmlns:a16="http://schemas.microsoft.com/office/drawing/2014/main" id="{69EE2DB3-571D-C5D5-8977-70BE195965CF}"/>
              </a:ext>
            </a:extLst>
          </p:cNvPr>
          <p:cNvSpPr/>
          <p:nvPr/>
        </p:nvSpPr>
        <p:spPr>
          <a:xfrm>
            <a:off x="333061" y="-1"/>
            <a:ext cx="1264381" cy="6858001"/>
          </a:xfrm>
          <a:prstGeom prst="rect">
            <a:avLst/>
          </a:prstGeom>
          <a:solidFill>
            <a:srgbClr val="FFD106"/>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37" name="Google Shape;301;p45">
            <a:extLst>
              <a:ext uri="{FF2B5EF4-FFF2-40B4-BE49-F238E27FC236}">
                <a16:creationId xmlns:a16="http://schemas.microsoft.com/office/drawing/2014/main" id="{97627B71-8CAC-B618-FE8D-962305992C5B}"/>
              </a:ext>
            </a:extLst>
          </p:cNvPr>
          <p:cNvSpPr/>
          <p:nvPr/>
        </p:nvSpPr>
        <p:spPr>
          <a:xfrm>
            <a:off x="0" y="0"/>
            <a:ext cx="1148498" cy="6874044"/>
          </a:xfrm>
          <a:prstGeom prst="rect">
            <a:avLst/>
          </a:prstGeom>
          <a:solidFill>
            <a:srgbClr val="005791"/>
          </a:solidFill>
          <a:ln>
            <a:noFill/>
          </a:ln>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pic>
        <p:nvPicPr>
          <p:cNvPr id="4" name="Picture 3" descr="A screenshot of a cell phone&#10;&#10;Description automatically generated">
            <a:extLst>
              <a:ext uri="{FF2B5EF4-FFF2-40B4-BE49-F238E27FC236}">
                <a16:creationId xmlns:a16="http://schemas.microsoft.com/office/drawing/2014/main" id="{8D91AE09-7AE2-0320-CBC4-228AEEF58CD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393647" y="1131122"/>
            <a:ext cx="8816326" cy="3750709"/>
          </a:xfrm>
          <a:prstGeom prst="rect">
            <a:avLst/>
          </a:prstGeom>
          <a:ln>
            <a:solidFill>
              <a:schemeClr val="bg2">
                <a:lumMod val="90000"/>
              </a:schemeClr>
            </a:solidFill>
          </a:ln>
        </p:spPr>
      </p:pic>
      <p:sp>
        <p:nvSpPr>
          <p:cNvPr id="41" name="TextBox 40">
            <a:extLst>
              <a:ext uri="{FF2B5EF4-FFF2-40B4-BE49-F238E27FC236}">
                <a16:creationId xmlns:a16="http://schemas.microsoft.com/office/drawing/2014/main" id="{96C16CC7-A511-2305-3F25-02CDF9985467}"/>
              </a:ext>
            </a:extLst>
          </p:cNvPr>
          <p:cNvSpPr txBox="1"/>
          <p:nvPr/>
        </p:nvSpPr>
        <p:spPr>
          <a:xfrm>
            <a:off x="1796436" y="5087442"/>
            <a:ext cx="2040970" cy="1210588"/>
          </a:xfrm>
          <a:prstGeom prst="rect">
            <a:avLst/>
          </a:prstGeom>
          <a:noFill/>
        </p:spPr>
        <p:txBody>
          <a:bodyPr wrap="square" rtlCol="0">
            <a:spAutoFit/>
          </a:bodyPr>
          <a:lstStyle/>
          <a:p>
            <a:pPr marL="0" marR="0">
              <a:spcBef>
                <a:spcPts val="200"/>
              </a:spcBef>
              <a:spcAft>
                <a:spcPts val="0"/>
              </a:spcAft>
            </a:pPr>
            <a:r>
              <a:rPr lang="en-US" sz="1100" b="1" dirty="0">
                <a:solidFill>
                  <a:srgbClr val="005791"/>
                </a:solidFill>
                <a:effectLst/>
                <a:latin typeface="Poppins Black" panose="00000A00000000000000" pitchFamily="2" charset="0"/>
                <a:cs typeface="Poppins Black" panose="00000A00000000000000" pitchFamily="2" charset="0"/>
              </a:rPr>
              <a:t>Paperless Onboarding</a:t>
            </a:r>
          </a:p>
          <a:p>
            <a:pPr marL="0" marR="0">
              <a:spcBef>
                <a:spcPts val="200"/>
              </a:spcBef>
              <a:spcAft>
                <a:spcPts val="0"/>
              </a:spcAft>
            </a:pPr>
            <a:r>
              <a:rPr lang="en-US" sz="1000" dirty="0">
                <a:effectLst/>
                <a:latin typeface="Poppins Light" panose="00000400000000000000" pitchFamily="2" charset="0"/>
                <a:cs typeface="Poppins Light" panose="00000400000000000000" pitchFamily="2" charset="0"/>
              </a:rPr>
              <a:t>New employees can quickly complete required employment forms, view faculty and organization charts, watch videos, and more.</a:t>
            </a:r>
          </a:p>
        </p:txBody>
      </p:sp>
      <p:sp>
        <p:nvSpPr>
          <p:cNvPr id="42" name="TextBox 41">
            <a:extLst>
              <a:ext uri="{FF2B5EF4-FFF2-40B4-BE49-F238E27FC236}">
                <a16:creationId xmlns:a16="http://schemas.microsoft.com/office/drawing/2014/main" id="{98FE39FE-432A-7002-84D0-D0446D7175B0}"/>
              </a:ext>
            </a:extLst>
          </p:cNvPr>
          <p:cNvSpPr txBox="1"/>
          <p:nvPr/>
        </p:nvSpPr>
        <p:spPr>
          <a:xfrm>
            <a:off x="4486487" y="5035680"/>
            <a:ext cx="1932096" cy="1141338"/>
          </a:xfrm>
          <a:prstGeom prst="rect">
            <a:avLst/>
          </a:prstGeom>
          <a:noFill/>
        </p:spPr>
        <p:txBody>
          <a:bodyPr wrap="square" rtlCol="0">
            <a:spAutoFit/>
          </a:bodyPr>
          <a:lstStyle/>
          <a:p>
            <a:pPr marL="0" marR="0">
              <a:lnSpc>
                <a:spcPct val="150000"/>
              </a:lnSpc>
              <a:spcBef>
                <a:spcPts val="200"/>
              </a:spcBef>
              <a:spcAft>
                <a:spcPts val="0"/>
              </a:spcAft>
            </a:pPr>
            <a:r>
              <a:rPr lang="en-US" sz="1100" b="1" dirty="0">
                <a:solidFill>
                  <a:srgbClr val="005791"/>
                </a:solidFill>
                <a:effectLst/>
                <a:latin typeface="Poppins Black" panose="00000A00000000000000" pitchFamily="2" charset="0"/>
                <a:cs typeface="Poppins Black" panose="00000A00000000000000" pitchFamily="2" charset="0"/>
              </a:rPr>
              <a:t>Custom Workflows</a:t>
            </a:r>
          </a:p>
          <a:p>
            <a:pPr marL="0" marR="0">
              <a:spcBef>
                <a:spcPts val="200"/>
              </a:spcBef>
              <a:spcAft>
                <a:spcPts val="0"/>
              </a:spcAft>
            </a:pPr>
            <a:r>
              <a:rPr lang="en-US" sz="1000" dirty="0">
                <a:effectLst/>
                <a:latin typeface="Poppins Light" panose="00000400000000000000" pitchFamily="2" charset="0"/>
                <a:cs typeface="Poppins Light" panose="00000400000000000000" pitchFamily="2" charset="0"/>
              </a:rPr>
              <a:t>Create custom onboarding plans for both new hires and internal movement of employees from one position to another.</a:t>
            </a:r>
          </a:p>
        </p:txBody>
      </p:sp>
      <p:sp>
        <p:nvSpPr>
          <p:cNvPr id="43" name="TextBox 42">
            <a:extLst>
              <a:ext uri="{FF2B5EF4-FFF2-40B4-BE49-F238E27FC236}">
                <a16:creationId xmlns:a16="http://schemas.microsoft.com/office/drawing/2014/main" id="{103229A9-6EE8-A8A9-6A89-91E27B6BB9F0}"/>
              </a:ext>
            </a:extLst>
          </p:cNvPr>
          <p:cNvSpPr txBox="1"/>
          <p:nvPr/>
        </p:nvSpPr>
        <p:spPr>
          <a:xfrm>
            <a:off x="7265278" y="5031739"/>
            <a:ext cx="2039056" cy="1141338"/>
          </a:xfrm>
          <a:prstGeom prst="rect">
            <a:avLst/>
          </a:prstGeom>
          <a:noFill/>
        </p:spPr>
        <p:txBody>
          <a:bodyPr wrap="square" rtlCol="0">
            <a:spAutoFit/>
          </a:bodyPr>
          <a:lstStyle/>
          <a:p>
            <a:pPr marL="0" marR="0">
              <a:lnSpc>
                <a:spcPct val="150000"/>
              </a:lnSpc>
              <a:spcBef>
                <a:spcPts val="200"/>
              </a:spcBef>
              <a:spcAft>
                <a:spcPts val="0"/>
              </a:spcAft>
            </a:pPr>
            <a:r>
              <a:rPr lang="en-US" sz="1100" b="1" dirty="0">
                <a:solidFill>
                  <a:srgbClr val="005791"/>
                </a:solidFill>
                <a:effectLst/>
                <a:latin typeface="Poppins Black" panose="00000A00000000000000" pitchFamily="2" charset="0"/>
                <a:cs typeface="Poppins Black" panose="00000A00000000000000" pitchFamily="2" charset="0"/>
              </a:rPr>
              <a:t>Employee Self-Service</a:t>
            </a:r>
          </a:p>
          <a:p>
            <a:pPr marL="0" marR="0">
              <a:spcBef>
                <a:spcPts val="200"/>
              </a:spcBef>
              <a:spcAft>
                <a:spcPts val="0"/>
              </a:spcAft>
            </a:pPr>
            <a:r>
              <a:rPr lang="en-US" sz="1000" dirty="0">
                <a:effectLst/>
                <a:latin typeface="Poppins Light" panose="00000400000000000000" pitchFamily="2" charset="0"/>
                <a:cs typeface="Poppins Light" panose="00000400000000000000" pitchFamily="2" charset="0"/>
              </a:rPr>
              <a:t>The Employee Portal allows new employees to access forms, videos, calendars, policies, and benefit information at any time.</a:t>
            </a:r>
          </a:p>
        </p:txBody>
      </p:sp>
      <p:sp>
        <p:nvSpPr>
          <p:cNvPr id="44" name="TextBox 43">
            <a:extLst>
              <a:ext uri="{FF2B5EF4-FFF2-40B4-BE49-F238E27FC236}">
                <a16:creationId xmlns:a16="http://schemas.microsoft.com/office/drawing/2014/main" id="{8C6EC086-73F2-47D6-DA4C-CAB3011E9E35}"/>
              </a:ext>
            </a:extLst>
          </p:cNvPr>
          <p:cNvSpPr txBox="1"/>
          <p:nvPr/>
        </p:nvSpPr>
        <p:spPr>
          <a:xfrm>
            <a:off x="9901824" y="5031739"/>
            <a:ext cx="2216713" cy="1295226"/>
          </a:xfrm>
          <a:prstGeom prst="rect">
            <a:avLst/>
          </a:prstGeom>
          <a:noFill/>
        </p:spPr>
        <p:txBody>
          <a:bodyPr wrap="square" rtlCol="0">
            <a:spAutoFit/>
          </a:bodyPr>
          <a:lstStyle/>
          <a:p>
            <a:pPr marL="0" marR="0">
              <a:lnSpc>
                <a:spcPct val="150000"/>
              </a:lnSpc>
              <a:spcBef>
                <a:spcPts val="200"/>
              </a:spcBef>
              <a:spcAft>
                <a:spcPts val="0"/>
              </a:spcAft>
            </a:pPr>
            <a:r>
              <a:rPr lang="en-US" sz="1100" b="1" dirty="0">
                <a:solidFill>
                  <a:srgbClr val="005791"/>
                </a:solidFill>
                <a:effectLst/>
                <a:latin typeface="Poppins Black" panose="00000A00000000000000" pitchFamily="2" charset="0"/>
                <a:cs typeface="Poppins Black" panose="00000A00000000000000" pitchFamily="2" charset="0"/>
              </a:rPr>
              <a:t>Securely Track Documents</a:t>
            </a:r>
          </a:p>
          <a:p>
            <a:pPr marL="0" marR="0">
              <a:spcBef>
                <a:spcPts val="200"/>
              </a:spcBef>
              <a:spcAft>
                <a:spcPts val="0"/>
              </a:spcAft>
            </a:pPr>
            <a:r>
              <a:rPr lang="en-US" sz="1000" dirty="0">
                <a:effectLst/>
                <a:latin typeface="Poppins Light" panose="00000400000000000000" pitchFamily="2" charset="0"/>
                <a:cs typeface="Poppins Light" panose="00000400000000000000" pitchFamily="2" charset="0"/>
              </a:rPr>
              <a:t>All forms and documents are securely tracked and stored electronically. Digital signatures can be easily captured for complete and auditable records.</a:t>
            </a:r>
          </a:p>
        </p:txBody>
      </p:sp>
      <p:pic>
        <p:nvPicPr>
          <p:cNvPr id="48" name="Graphic 7">
            <a:extLst>
              <a:ext uri="{FF2B5EF4-FFF2-40B4-BE49-F238E27FC236}">
                <a16:creationId xmlns:a16="http://schemas.microsoft.com/office/drawing/2014/main" id="{113AC7DB-31A6-0FDD-E945-6F1CC45C0D93}"/>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04334" y="5442961"/>
            <a:ext cx="410779" cy="472782"/>
          </a:xfrm>
          <a:prstGeom prst="rect">
            <a:avLst/>
          </a:prstGeom>
        </p:spPr>
      </p:pic>
      <p:pic>
        <p:nvPicPr>
          <p:cNvPr id="54" name="Graphic 53" descr="Online meeting with solid fill">
            <a:extLst>
              <a:ext uri="{FF2B5EF4-FFF2-40B4-BE49-F238E27FC236}">
                <a16:creationId xmlns:a16="http://schemas.microsoft.com/office/drawing/2014/main" id="{0F99095A-67A4-46EB-DE4D-3F1EC4AB507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50331" y="5391120"/>
            <a:ext cx="645404" cy="645404"/>
          </a:xfrm>
          <a:prstGeom prst="rect">
            <a:avLst/>
          </a:prstGeom>
        </p:spPr>
      </p:pic>
      <p:pic>
        <p:nvPicPr>
          <p:cNvPr id="60" name="Graphic 59" descr="Circles with arrows with solid fill">
            <a:extLst>
              <a:ext uri="{FF2B5EF4-FFF2-40B4-BE49-F238E27FC236}">
                <a16:creationId xmlns:a16="http://schemas.microsoft.com/office/drawing/2014/main" id="{6DA45A36-7535-B09A-6E6D-959B961D13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29094" y="5306635"/>
            <a:ext cx="745432" cy="745432"/>
          </a:xfrm>
          <a:prstGeom prst="rect">
            <a:avLst/>
          </a:prstGeom>
        </p:spPr>
      </p:pic>
      <p:pic>
        <p:nvPicPr>
          <p:cNvPr id="6" name="Picture 5">
            <a:extLst>
              <a:ext uri="{FF2B5EF4-FFF2-40B4-BE49-F238E27FC236}">
                <a16:creationId xmlns:a16="http://schemas.microsoft.com/office/drawing/2014/main" id="{127616DB-60AD-CEF0-0E3B-C4CCD540BF6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94499" y="-115164"/>
            <a:ext cx="11231903" cy="1350267"/>
          </a:xfrm>
          <a:prstGeom prst="rect">
            <a:avLst/>
          </a:prstGeom>
        </p:spPr>
      </p:pic>
      <p:pic>
        <p:nvPicPr>
          <p:cNvPr id="7" name="Graphic 6">
            <a:extLst>
              <a:ext uri="{FF2B5EF4-FFF2-40B4-BE49-F238E27FC236}">
                <a16:creationId xmlns:a16="http://schemas.microsoft.com/office/drawing/2014/main" id="{7184E908-ECFB-F9ED-E016-A65B1CA1C6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24683" y="6514945"/>
            <a:ext cx="1774506" cy="260163"/>
          </a:xfrm>
          <a:prstGeom prst="rect">
            <a:avLst/>
          </a:prstGeom>
        </p:spPr>
      </p:pic>
    </p:spTree>
    <p:extLst>
      <p:ext uri="{BB962C8B-B14F-4D97-AF65-F5344CB8AC3E}">
        <p14:creationId xmlns:p14="http://schemas.microsoft.com/office/powerpoint/2010/main" val="2291736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EB39B0D-FDF4-53C1-16BB-24D9FD9E6E97}"/>
              </a:ext>
            </a:extLst>
          </p:cNvPr>
          <p:cNvSpPr/>
          <p:nvPr/>
        </p:nvSpPr>
        <p:spPr>
          <a:xfrm>
            <a:off x="0" y="921484"/>
            <a:ext cx="12192000" cy="199764"/>
          </a:xfrm>
          <a:prstGeom prst="rect">
            <a:avLst/>
          </a:prstGeom>
          <a:solidFill>
            <a:srgbClr val="63AD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D5446B3-DBCD-729F-67FC-2CBB172A9924}"/>
              </a:ext>
            </a:extLst>
          </p:cNvPr>
          <p:cNvSpPr/>
          <p:nvPr/>
        </p:nvSpPr>
        <p:spPr>
          <a:xfrm>
            <a:off x="0" y="1"/>
            <a:ext cx="12192000" cy="923926"/>
          </a:xfrm>
          <a:prstGeom prst="rect">
            <a:avLst/>
          </a:prstGeom>
          <a:solidFill>
            <a:srgbClr val="0057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4">
            <a:extLst>
              <a:ext uri="{FF2B5EF4-FFF2-40B4-BE49-F238E27FC236}">
                <a16:creationId xmlns:a16="http://schemas.microsoft.com/office/drawing/2014/main" id="{7B946DAE-B247-F840-72DF-2B964A016F7A}"/>
              </a:ext>
            </a:extLst>
          </p:cNvPr>
          <p:cNvSpPr txBox="1">
            <a:spLocks noChangeArrowheads="1"/>
          </p:cNvSpPr>
          <p:nvPr/>
        </p:nvSpPr>
        <p:spPr>
          <a:xfrm>
            <a:off x="1" y="-24306"/>
            <a:ext cx="12192000" cy="92392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altLang="en-US" sz="5400" b="1" dirty="0">
              <a:solidFill>
                <a:schemeClr val="bg1"/>
              </a:solidFill>
              <a:latin typeface="Tondu Beta" pitchFamily="2" charset="0"/>
              <a:cs typeface="Gisha" panose="020B0502040204020203" pitchFamily="34" charset="-79"/>
            </a:endParaRPr>
          </a:p>
        </p:txBody>
      </p:sp>
      <p:pic>
        <p:nvPicPr>
          <p:cNvPr id="5" name="Picture 4" descr="A screen shot of a computer&#10;&#10;Description automatically generated">
            <a:extLst>
              <a:ext uri="{FF2B5EF4-FFF2-40B4-BE49-F238E27FC236}">
                <a16:creationId xmlns:a16="http://schemas.microsoft.com/office/drawing/2014/main" id="{F55E8B0A-BF08-0DBF-E747-2E7F4A030C82}"/>
              </a:ext>
            </a:extLst>
          </p:cNvPr>
          <p:cNvPicPr/>
          <p:nvPr/>
        </p:nvPicPr>
        <p:blipFill>
          <a:blip r:embed="rId2">
            <a:extLst>
              <a:ext uri="{28A0092B-C50C-407E-A947-70E740481C1C}">
                <a14:useLocalDpi xmlns:a14="http://schemas.microsoft.com/office/drawing/2010/main" val="0"/>
              </a:ext>
            </a:extLst>
          </a:blip>
          <a:stretch>
            <a:fillRect/>
          </a:stretch>
        </p:blipFill>
        <p:spPr>
          <a:xfrm>
            <a:off x="706754" y="1409938"/>
            <a:ext cx="5943600" cy="2649855"/>
          </a:xfrm>
          <a:prstGeom prst="rect">
            <a:avLst/>
          </a:prstGeom>
        </p:spPr>
      </p:pic>
      <p:graphicFrame>
        <p:nvGraphicFramePr>
          <p:cNvPr id="6" name="Table 5">
            <a:extLst>
              <a:ext uri="{FF2B5EF4-FFF2-40B4-BE49-F238E27FC236}">
                <a16:creationId xmlns:a16="http://schemas.microsoft.com/office/drawing/2014/main" id="{A1BF2589-2527-25CC-E08D-6CB799A93734}"/>
              </a:ext>
            </a:extLst>
          </p:cNvPr>
          <p:cNvGraphicFramePr>
            <a:graphicFrameLocks noGrp="1"/>
          </p:cNvGraphicFramePr>
          <p:nvPr>
            <p:extLst>
              <p:ext uri="{D42A27DB-BD31-4B8C-83A1-F6EECF244321}">
                <p14:modId xmlns:p14="http://schemas.microsoft.com/office/powerpoint/2010/main" val="3894709677"/>
              </p:ext>
            </p:extLst>
          </p:nvPr>
        </p:nvGraphicFramePr>
        <p:xfrm>
          <a:off x="706754" y="4210049"/>
          <a:ext cx="5943600" cy="2288540"/>
        </p:xfrm>
        <a:graphic>
          <a:graphicData uri="http://schemas.openxmlformats.org/drawingml/2006/table">
            <a:tbl>
              <a:tblPr firstRow="1" firstCol="1" bandRow="1">
                <a:tableStyleId>{5C22544A-7EE6-4342-B048-85BDC9FD1C3A}</a:tableStyleId>
              </a:tblPr>
              <a:tblGrid>
                <a:gridCol w="791848">
                  <a:extLst>
                    <a:ext uri="{9D8B030D-6E8A-4147-A177-3AD203B41FA5}">
                      <a16:colId xmlns:a16="http://schemas.microsoft.com/office/drawing/2014/main" val="2024643626"/>
                    </a:ext>
                  </a:extLst>
                </a:gridCol>
                <a:gridCol w="2179636">
                  <a:extLst>
                    <a:ext uri="{9D8B030D-6E8A-4147-A177-3AD203B41FA5}">
                      <a16:colId xmlns:a16="http://schemas.microsoft.com/office/drawing/2014/main" val="4126944537"/>
                    </a:ext>
                  </a:extLst>
                </a:gridCol>
                <a:gridCol w="779209">
                  <a:extLst>
                    <a:ext uri="{9D8B030D-6E8A-4147-A177-3AD203B41FA5}">
                      <a16:colId xmlns:a16="http://schemas.microsoft.com/office/drawing/2014/main" val="2700330635"/>
                    </a:ext>
                  </a:extLst>
                </a:gridCol>
                <a:gridCol w="2192907">
                  <a:extLst>
                    <a:ext uri="{9D8B030D-6E8A-4147-A177-3AD203B41FA5}">
                      <a16:colId xmlns:a16="http://schemas.microsoft.com/office/drawing/2014/main" val="1271940760"/>
                    </a:ext>
                  </a:extLst>
                </a:gridCol>
              </a:tblGrid>
              <a:tr h="91440">
                <a:tc>
                  <a:txBody>
                    <a:bodyPr/>
                    <a:lstStyle/>
                    <a:p>
                      <a:pPr marL="0" marR="0" algn="ctr">
                        <a:spcBef>
                          <a:spcPts val="0"/>
                        </a:spcBef>
                        <a:spcAft>
                          <a:spcPts val="0"/>
                        </a:spcAft>
                      </a:pPr>
                      <a:endParaRPr lang="en-US" sz="1200" dirty="0">
                        <a:solidFill>
                          <a:schemeClr val="tx1"/>
                        </a:solidFill>
                        <a:effectLst/>
                        <a:latin typeface="Gisha" panose="020B0502040204020203" pitchFamily="34" charset="-79"/>
                        <a:ea typeface="Calibri" panose="020F0502020204030204" pitchFamily="34" charset="0"/>
                        <a:cs typeface="Gisha" panose="020B0502040204020203" pitchFamily="34" charset="-79"/>
                      </a:endParaRPr>
                    </a:p>
                  </a:txBody>
                  <a:tcPr marL="68580" marR="68580" marT="0" marB="0">
                    <a:noFill/>
                  </a:tcPr>
                </a:tc>
                <a:tc>
                  <a:txBody>
                    <a:bodyPr/>
                    <a:lstStyle/>
                    <a:p>
                      <a:pPr marL="0" marR="0">
                        <a:spcBef>
                          <a:spcPts val="200"/>
                        </a:spcBef>
                        <a:spcAft>
                          <a:spcPts val="0"/>
                        </a:spcAft>
                      </a:pPr>
                      <a:endParaRPr lang="en-US" sz="1050" dirty="0">
                        <a:solidFill>
                          <a:schemeClr val="tx1"/>
                        </a:solidFill>
                        <a:effectLst/>
                        <a:latin typeface="Poppins Black" panose="00000A00000000000000" pitchFamily="2" charset="0"/>
                        <a:cs typeface="Poppins Black" panose="00000A00000000000000" pitchFamily="2" charset="0"/>
                      </a:endParaRPr>
                    </a:p>
                    <a:p>
                      <a:pPr marL="0" marR="0">
                        <a:lnSpc>
                          <a:spcPct val="150000"/>
                        </a:lnSpc>
                        <a:spcBef>
                          <a:spcPts val="200"/>
                        </a:spcBef>
                        <a:spcAft>
                          <a:spcPts val="0"/>
                        </a:spcAft>
                      </a:pPr>
                      <a:r>
                        <a:rPr lang="en-US" sz="1050" dirty="0">
                          <a:solidFill>
                            <a:srgbClr val="005791"/>
                          </a:solidFill>
                          <a:effectLst/>
                          <a:latin typeface="Poppins Black" panose="00000A00000000000000" pitchFamily="2" charset="0"/>
                          <a:cs typeface="Poppins Black" panose="00000A00000000000000" pitchFamily="2" charset="0"/>
                        </a:rPr>
                        <a:t>24/7 Access from Any Device                                                  </a:t>
                      </a:r>
                    </a:p>
                    <a:p>
                      <a:pPr marL="0" marR="0">
                        <a:lnSpc>
                          <a:spcPct val="107000"/>
                        </a:lnSpc>
                        <a:spcBef>
                          <a:spcPts val="0"/>
                        </a:spcBef>
                        <a:spcAft>
                          <a:spcPts val="0"/>
                        </a:spcAft>
                      </a:pPr>
                      <a:r>
                        <a:rPr lang="en-US" sz="1050" b="0" dirty="0">
                          <a:solidFill>
                            <a:schemeClr val="tx1"/>
                          </a:solidFill>
                          <a:effectLst/>
                          <a:latin typeface="Poppins Light" panose="00000400000000000000" pitchFamily="2" charset="0"/>
                          <a:cs typeface="Poppins Light" panose="00000400000000000000" pitchFamily="2" charset="0"/>
                        </a:rPr>
                        <a:t>With its responsive design, Employee Portal looks and works great on a smartphone, tablet, laptop or desktop.</a:t>
                      </a:r>
                    </a:p>
                    <a:p>
                      <a:pPr marL="0" marR="0">
                        <a:lnSpc>
                          <a:spcPct val="107000"/>
                        </a:lnSpc>
                        <a:spcBef>
                          <a:spcPts val="0"/>
                        </a:spcBef>
                        <a:spcAft>
                          <a:spcPts val="0"/>
                        </a:spcAft>
                      </a:pPr>
                      <a:endParaRPr lang="en-US" sz="1200" b="0" dirty="0">
                        <a:solidFill>
                          <a:schemeClr val="tx1"/>
                        </a:solidFill>
                        <a:effectLst/>
                        <a:latin typeface="Gisha" panose="020B0502040204020203" pitchFamily="34" charset="-79"/>
                        <a:ea typeface="Calibri" panose="020F0502020204030204" pitchFamily="34" charset="0"/>
                        <a:cs typeface="Gisha" panose="020B0502040204020203" pitchFamily="34" charset="-79"/>
                      </a:endParaRPr>
                    </a:p>
                  </a:txBody>
                  <a:tcPr marL="68580" marR="68580" marT="0" marB="0">
                    <a:noFill/>
                  </a:tcPr>
                </a:tc>
                <a:tc>
                  <a:txBody>
                    <a:bodyPr/>
                    <a:lstStyle/>
                    <a:p>
                      <a:pPr marL="0" marR="0" algn="ctr">
                        <a:spcBef>
                          <a:spcPts val="0"/>
                        </a:spcBef>
                        <a:spcAft>
                          <a:spcPts val="0"/>
                        </a:spcAft>
                      </a:pPr>
                      <a:endParaRPr lang="en-US" sz="1200" dirty="0">
                        <a:solidFill>
                          <a:schemeClr val="tx1"/>
                        </a:solidFill>
                        <a:effectLst/>
                        <a:latin typeface="Gisha" panose="020B0502040204020203" pitchFamily="34" charset="-79"/>
                        <a:ea typeface="Calibri" panose="020F0502020204030204" pitchFamily="34" charset="0"/>
                        <a:cs typeface="Gisha" panose="020B0502040204020203" pitchFamily="34" charset="-79"/>
                      </a:endParaRPr>
                    </a:p>
                  </a:txBody>
                  <a:tcPr marL="68580" marR="68580" marT="0" marB="0">
                    <a:noFill/>
                  </a:tcPr>
                </a:tc>
                <a:tc>
                  <a:txBody>
                    <a:bodyPr/>
                    <a:lstStyle/>
                    <a:p>
                      <a:pPr marL="0" marR="0">
                        <a:spcBef>
                          <a:spcPts val="200"/>
                        </a:spcBef>
                        <a:spcAft>
                          <a:spcPts val="0"/>
                        </a:spcAft>
                      </a:pPr>
                      <a:endParaRPr lang="en-US" sz="1050" dirty="0">
                        <a:solidFill>
                          <a:schemeClr val="tx1"/>
                        </a:solidFill>
                        <a:effectLst/>
                        <a:latin typeface="Poppins Black" panose="00000A00000000000000" pitchFamily="2" charset="0"/>
                        <a:cs typeface="Poppins Black" panose="00000A00000000000000" pitchFamily="2" charset="0"/>
                      </a:endParaRPr>
                    </a:p>
                    <a:p>
                      <a:pPr marL="0" marR="0">
                        <a:lnSpc>
                          <a:spcPct val="150000"/>
                        </a:lnSpc>
                        <a:spcBef>
                          <a:spcPts val="200"/>
                        </a:spcBef>
                        <a:spcAft>
                          <a:spcPts val="0"/>
                        </a:spcAft>
                      </a:pPr>
                      <a:r>
                        <a:rPr lang="en-US" sz="1050" dirty="0">
                          <a:solidFill>
                            <a:srgbClr val="005791"/>
                          </a:solidFill>
                          <a:effectLst/>
                          <a:latin typeface="Poppins Black" panose="00000A00000000000000" pitchFamily="2" charset="0"/>
                          <a:cs typeface="Poppins Black" panose="00000A00000000000000" pitchFamily="2" charset="0"/>
                        </a:rPr>
                        <a:t>Simplify Manager Approvals</a:t>
                      </a:r>
                    </a:p>
                    <a:p>
                      <a:pPr marL="0" marR="0">
                        <a:spcBef>
                          <a:spcPts val="0"/>
                        </a:spcBef>
                        <a:spcAft>
                          <a:spcPts val="0"/>
                        </a:spcAft>
                      </a:pPr>
                      <a:r>
                        <a:rPr lang="en-US" sz="1050" b="0" dirty="0">
                          <a:solidFill>
                            <a:schemeClr val="tx1"/>
                          </a:solidFill>
                          <a:effectLst/>
                          <a:latin typeface="Poppins Light" panose="00000400000000000000" pitchFamily="2" charset="0"/>
                          <a:cs typeface="Poppins Light" panose="00000400000000000000" pitchFamily="2" charset="0"/>
                        </a:rPr>
                        <a:t>At work or on the go, managers can easily review and approve time off requests—even on mobile devices.</a:t>
                      </a:r>
                    </a:p>
                    <a:p>
                      <a:pPr marL="0" marR="0">
                        <a:spcBef>
                          <a:spcPts val="0"/>
                        </a:spcBef>
                        <a:spcAft>
                          <a:spcPts val="0"/>
                        </a:spcAft>
                      </a:pPr>
                      <a:endParaRPr lang="en-US" sz="1200" b="0" dirty="0">
                        <a:solidFill>
                          <a:schemeClr val="tx1"/>
                        </a:solidFill>
                        <a:effectLst/>
                        <a:latin typeface="Gisha" panose="020B0502040204020203" pitchFamily="34" charset="-79"/>
                        <a:ea typeface="Calibri" panose="020F0502020204030204" pitchFamily="34" charset="0"/>
                        <a:cs typeface="Gisha" panose="020B0502040204020203" pitchFamily="34" charset="-79"/>
                      </a:endParaRPr>
                    </a:p>
                  </a:txBody>
                  <a:tcPr marL="68580" marR="68580" marT="0" marB="0">
                    <a:noFill/>
                  </a:tcPr>
                </a:tc>
                <a:extLst>
                  <a:ext uri="{0D108BD9-81ED-4DB2-BD59-A6C34878D82A}">
                    <a16:rowId xmlns:a16="http://schemas.microsoft.com/office/drawing/2014/main" val="525922812"/>
                  </a:ext>
                </a:extLst>
              </a:tr>
              <a:tr h="91440">
                <a:tc>
                  <a:txBody>
                    <a:bodyPr/>
                    <a:lstStyle/>
                    <a:p>
                      <a:pPr marL="0" marR="0" algn="ctr">
                        <a:spcBef>
                          <a:spcPts val="0"/>
                        </a:spcBef>
                        <a:spcAft>
                          <a:spcPts val="0"/>
                        </a:spcAft>
                      </a:pPr>
                      <a:endParaRPr lang="en-US" sz="1200" dirty="0">
                        <a:solidFill>
                          <a:schemeClr val="tx1"/>
                        </a:solidFill>
                        <a:effectLst/>
                        <a:latin typeface="Gisha" panose="020B0502040204020203" pitchFamily="34" charset="-79"/>
                        <a:ea typeface="Calibri" panose="020F0502020204030204" pitchFamily="34" charset="0"/>
                        <a:cs typeface="Gisha" panose="020B0502040204020203" pitchFamily="34" charset="-79"/>
                      </a:endParaRPr>
                    </a:p>
                  </a:txBody>
                  <a:tcPr marL="68580" marR="68580" marT="0" marB="0" anchor="ctr">
                    <a:noFill/>
                  </a:tcPr>
                </a:tc>
                <a:tc>
                  <a:txBody>
                    <a:bodyPr/>
                    <a:lstStyle/>
                    <a:p>
                      <a:pPr marL="0" marR="0">
                        <a:lnSpc>
                          <a:spcPct val="150000"/>
                        </a:lnSpc>
                        <a:spcBef>
                          <a:spcPts val="200"/>
                        </a:spcBef>
                        <a:spcAft>
                          <a:spcPts val="0"/>
                        </a:spcAft>
                      </a:pPr>
                      <a:r>
                        <a:rPr lang="en-US" sz="1050" b="1" dirty="0">
                          <a:solidFill>
                            <a:srgbClr val="005791"/>
                          </a:solidFill>
                          <a:effectLst/>
                          <a:latin typeface="Poppins Black" panose="00000A00000000000000" pitchFamily="2" charset="0"/>
                          <a:cs typeface="Poppins Black" panose="00000A00000000000000" pitchFamily="2" charset="0"/>
                        </a:rPr>
                        <a:t>Keep Employee Data Safe</a:t>
                      </a:r>
                    </a:p>
                    <a:p>
                      <a:pPr marL="0" marR="0">
                        <a:spcBef>
                          <a:spcPts val="0"/>
                        </a:spcBef>
                        <a:spcAft>
                          <a:spcPts val="0"/>
                        </a:spcAft>
                      </a:pPr>
                      <a:r>
                        <a:rPr lang="en-US" sz="1050" dirty="0">
                          <a:solidFill>
                            <a:schemeClr val="tx1"/>
                          </a:solidFill>
                          <a:effectLst/>
                          <a:latin typeface="Poppins Light" panose="00000400000000000000" pitchFamily="2" charset="0"/>
                          <a:cs typeface="Poppins Light" panose="00000400000000000000" pitchFamily="2" charset="0"/>
                        </a:rPr>
                        <a:t>Multi-factor authentication verifies a user’s identity and provides additional security against unauthorized access.</a:t>
                      </a:r>
                      <a:endParaRPr lang="en-US" sz="1050" dirty="0">
                        <a:solidFill>
                          <a:schemeClr val="tx1"/>
                        </a:solidFill>
                        <a:effectLst/>
                        <a:latin typeface="Poppins Light" panose="00000400000000000000" pitchFamily="2" charset="0"/>
                        <a:ea typeface="Calibri" panose="020F0502020204030204" pitchFamily="34" charset="0"/>
                        <a:cs typeface="Poppins Light" panose="00000400000000000000" pitchFamily="2" charset="0"/>
                      </a:endParaRPr>
                    </a:p>
                  </a:txBody>
                  <a:tcPr marL="68580" marR="68580" marT="0" marB="0" anchor="ctr">
                    <a:noFill/>
                  </a:tcPr>
                </a:tc>
                <a:tc>
                  <a:txBody>
                    <a:bodyPr/>
                    <a:lstStyle/>
                    <a:p>
                      <a:pPr marL="0" marR="0" algn="ctr">
                        <a:spcBef>
                          <a:spcPts val="0"/>
                        </a:spcBef>
                        <a:spcAft>
                          <a:spcPts val="0"/>
                        </a:spcAft>
                      </a:pPr>
                      <a:endParaRPr lang="en-US" sz="1200" dirty="0">
                        <a:solidFill>
                          <a:schemeClr val="tx1"/>
                        </a:solidFill>
                        <a:effectLst/>
                        <a:latin typeface="Gisha" panose="020B0502040204020203" pitchFamily="34" charset="-79"/>
                        <a:ea typeface="Calibri" panose="020F0502020204030204" pitchFamily="34" charset="0"/>
                        <a:cs typeface="Gisha" panose="020B0502040204020203" pitchFamily="34" charset="-79"/>
                      </a:endParaRPr>
                    </a:p>
                  </a:txBody>
                  <a:tcPr marL="68580" marR="68580" marT="0" marB="0" anchor="ctr">
                    <a:noFill/>
                  </a:tcPr>
                </a:tc>
                <a:tc>
                  <a:txBody>
                    <a:bodyPr/>
                    <a:lstStyle/>
                    <a:p>
                      <a:pPr marL="0" marR="0">
                        <a:lnSpc>
                          <a:spcPct val="150000"/>
                        </a:lnSpc>
                        <a:spcBef>
                          <a:spcPts val="200"/>
                        </a:spcBef>
                        <a:spcAft>
                          <a:spcPts val="0"/>
                        </a:spcAft>
                      </a:pPr>
                      <a:r>
                        <a:rPr lang="en-US" sz="1050" b="1" dirty="0">
                          <a:solidFill>
                            <a:srgbClr val="005791"/>
                          </a:solidFill>
                          <a:effectLst/>
                          <a:latin typeface="Poppins Black" panose="00000A00000000000000" pitchFamily="2" charset="0"/>
                          <a:cs typeface="Poppins Black" panose="00000A00000000000000" pitchFamily="2" charset="0"/>
                        </a:rPr>
                        <a:t>Reduce Support Requests</a:t>
                      </a:r>
                    </a:p>
                    <a:p>
                      <a:pPr marL="0" marR="0">
                        <a:spcBef>
                          <a:spcPts val="0"/>
                        </a:spcBef>
                        <a:spcAft>
                          <a:spcPts val="0"/>
                        </a:spcAft>
                      </a:pPr>
                      <a:r>
                        <a:rPr lang="en-US" sz="1050" dirty="0">
                          <a:solidFill>
                            <a:schemeClr val="tx1"/>
                          </a:solidFill>
                          <a:effectLst/>
                          <a:latin typeface="Poppins Light" panose="00000400000000000000" pitchFamily="2" charset="0"/>
                          <a:cs typeface="Poppins Light" panose="00000400000000000000" pitchFamily="2" charset="0"/>
                        </a:rPr>
                        <a:t>Employees can quickly retrieve their username or reset their password without assistance from support staff.</a:t>
                      </a:r>
                      <a:endParaRPr lang="en-US" sz="1050" dirty="0">
                        <a:solidFill>
                          <a:schemeClr val="tx1"/>
                        </a:solidFill>
                        <a:effectLst/>
                        <a:latin typeface="Poppins Light" panose="00000400000000000000" pitchFamily="2" charset="0"/>
                        <a:ea typeface="Calibri" panose="020F0502020204030204" pitchFamily="34" charset="0"/>
                        <a:cs typeface="Poppins Light" panose="00000400000000000000" pitchFamily="2" charset="0"/>
                      </a:endParaRPr>
                    </a:p>
                  </a:txBody>
                  <a:tcPr marL="68580" marR="68580" marT="0" marB="0" anchor="ctr">
                    <a:noFill/>
                  </a:tcPr>
                </a:tc>
                <a:extLst>
                  <a:ext uri="{0D108BD9-81ED-4DB2-BD59-A6C34878D82A}">
                    <a16:rowId xmlns:a16="http://schemas.microsoft.com/office/drawing/2014/main" val="4056011604"/>
                  </a:ext>
                </a:extLst>
              </a:tr>
            </a:tbl>
          </a:graphicData>
        </a:graphic>
      </p:graphicFrame>
      <p:pic>
        <p:nvPicPr>
          <p:cNvPr id="7" name="Graphic 3">
            <a:extLst>
              <a:ext uri="{FF2B5EF4-FFF2-40B4-BE49-F238E27FC236}">
                <a16:creationId xmlns:a16="http://schemas.microsoft.com/office/drawing/2014/main" id="{3D74E598-6564-DFB6-095D-B7E12324E27E}"/>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3779" y="4646844"/>
            <a:ext cx="312821" cy="503237"/>
          </a:xfrm>
          <a:prstGeom prst="rect">
            <a:avLst/>
          </a:prstGeom>
        </p:spPr>
      </p:pic>
      <p:pic>
        <p:nvPicPr>
          <p:cNvPr id="8" name="Graphic 13">
            <a:extLst>
              <a:ext uri="{FF2B5EF4-FFF2-40B4-BE49-F238E27FC236}">
                <a16:creationId xmlns:a16="http://schemas.microsoft.com/office/drawing/2014/main" id="{736DB65F-6485-492B-CDBE-347835DCF4A7}"/>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53748" y="4646844"/>
            <a:ext cx="426574" cy="493712"/>
          </a:xfrm>
          <a:prstGeom prst="rect">
            <a:avLst/>
          </a:prstGeom>
        </p:spPr>
      </p:pic>
      <p:pic>
        <p:nvPicPr>
          <p:cNvPr id="9" name="Graphic 4">
            <a:extLst>
              <a:ext uri="{FF2B5EF4-FFF2-40B4-BE49-F238E27FC236}">
                <a16:creationId xmlns:a16="http://schemas.microsoft.com/office/drawing/2014/main" id="{4C1614DE-941F-2C15-7485-9E414BA26EA9}"/>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0132" y="5766658"/>
            <a:ext cx="581405" cy="466725"/>
          </a:xfrm>
          <a:prstGeom prst="rect">
            <a:avLst/>
          </a:prstGeom>
        </p:spPr>
      </p:pic>
      <p:pic>
        <p:nvPicPr>
          <p:cNvPr id="10" name="Graphic 17">
            <a:extLst>
              <a:ext uri="{FF2B5EF4-FFF2-40B4-BE49-F238E27FC236}">
                <a16:creationId xmlns:a16="http://schemas.microsoft.com/office/drawing/2014/main" id="{1DAABFFA-7A66-EED3-71CB-91AD947CFFDD}"/>
              </a:ext>
            </a:extLst>
          </p:cNvPr>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53748" y="5766658"/>
            <a:ext cx="426573" cy="484187"/>
          </a:xfrm>
          <a:prstGeom prst="rect">
            <a:avLst/>
          </a:prstGeom>
        </p:spPr>
      </p:pic>
      <p:sp>
        <p:nvSpPr>
          <p:cNvPr id="11" name="TextBox 10">
            <a:extLst>
              <a:ext uri="{FF2B5EF4-FFF2-40B4-BE49-F238E27FC236}">
                <a16:creationId xmlns:a16="http://schemas.microsoft.com/office/drawing/2014/main" id="{D7091A5A-5272-C3C3-FD15-5A4D70F9F49B}"/>
              </a:ext>
            </a:extLst>
          </p:cNvPr>
          <p:cNvSpPr txBox="1"/>
          <p:nvPr/>
        </p:nvSpPr>
        <p:spPr>
          <a:xfrm>
            <a:off x="7019926" y="1495713"/>
            <a:ext cx="4880564" cy="779957"/>
          </a:xfrm>
          <a:prstGeom prst="rect">
            <a:avLst/>
          </a:prstGeom>
          <a:solidFill>
            <a:schemeClr val="bg1"/>
          </a:solidFill>
          <a:effectLst/>
        </p:spPr>
        <p:txBody>
          <a:bodyPr wrap="square" rtlCol="0">
            <a:spAutoFit/>
          </a:bodyPr>
          <a:lstStyle/>
          <a:p>
            <a:pPr marR="0">
              <a:spcBef>
                <a:spcPts val="200"/>
              </a:spcBef>
              <a:spcAft>
                <a:spcPts val="0"/>
              </a:spcAft>
            </a:pPr>
            <a:r>
              <a:rPr lang="en-US" sz="2400" b="1" dirty="0">
                <a:solidFill>
                  <a:srgbClr val="005791"/>
                </a:solidFill>
                <a:effectLst/>
                <a:latin typeface="Poppins" panose="00000500000000000000" pitchFamily="2" charset="0"/>
                <a:ea typeface="Times New Roman" panose="02020603050405020304" pitchFamily="18" charset="0"/>
                <a:cs typeface="Poppins" panose="00000500000000000000" pitchFamily="2" charset="0"/>
              </a:rPr>
              <a:t>Employee Information &amp; Tools</a:t>
            </a:r>
            <a:endParaRPr lang="en-US" sz="2000" b="1" dirty="0">
              <a:solidFill>
                <a:srgbClr val="005791"/>
              </a:solidFill>
              <a:effectLst/>
              <a:latin typeface="Poppins" panose="00000500000000000000" pitchFamily="2" charset="0"/>
              <a:ea typeface="Times New Roman" panose="02020603050405020304" pitchFamily="18" charset="0"/>
              <a:cs typeface="Poppins" panose="00000500000000000000" pitchFamily="2" charset="0"/>
            </a:endParaRPr>
          </a:p>
          <a:p>
            <a:pPr marR="0">
              <a:lnSpc>
                <a:spcPct val="150000"/>
              </a:lnSpc>
              <a:spcBef>
                <a:spcPts val="200"/>
              </a:spcBef>
              <a:spcAft>
                <a:spcPts val="0"/>
              </a:spcAft>
            </a:pPr>
            <a:endPar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endParaRPr>
          </a:p>
        </p:txBody>
      </p:sp>
      <p:sp>
        <p:nvSpPr>
          <p:cNvPr id="17" name="TextBox 16">
            <a:extLst>
              <a:ext uri="{FF2B5EF4-FFF2-40B4-BE49-F238E27FC236}">
                <a16:creationId xmlns:a16="http://schemas.microsoft.com/office/drawing/2014/main" id="{69595314-743B-3EE3-E185-05A46693E0A6}"/>
              </a:ext>
            </a:extLst>
          </p:cNvPr>
          <p:cNvSpPr txBox="1"/>
          <p:nvPr/>
        </p:nvSpPr>
        <p:spPr>
          <a:xfrm>
            <a:off x="7526275" y="2046088"/>
            <a:ext cx="4006670" cy="4452501"/>
          </a:xfrm>
          <a:prstGeom prst="rect">
            <a:avLst/>
          </a:prstGeom>
          <a:noFill/>
        </p:spPr>
        <p:txBody>
          <a:bodyPr wrap="square" rtlCol="0">
            <a:spAutoFit/>
          </a:bodyPr>
          <a:lstStyle/>
          <a:p>
            <a:pPr marL="285750" marR="0" indent="-285750">
              <a:lnSpc>
                <a:spcPct val="150000"/>
              </a:lnSpc>
              <a:spcBef>
                <a:spcPts val="200"/>
              </a:spcBef>
              <a:spcAft>
                <a:spcPts val="0"/>
              </a:spcAft>
              <a:buFont typeface="Arial" panose="020B0604020202020204" pitchFamily="34" charset="0"/>
              <a:buChar char="•"/>
            </a:pPr>
            <a:r>
              <a:rPr lang="en-US" sz="1400" dirty="0">
                <a:solidFill>
                  <a:srgbClr val="000000"/>
                </a:solidFill>
                <a:latin typeface="Poppins Light" panose="00000400000000000000" pitchFamily="2" charset="0"/>
                <a:ea typeface="Times New Roman" panose="02020603050405020304" pitchFamily="18" charset="0"/>
                <a:cs typeface="Poppins Light" panose="00000400000000000000" pitchFamily="2" charset="0"/>
              </a:rPr>
              <a:t>Benefits d</a:t>
            </a: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etails and enrollment</a:t>
            </a:r>
          </a:p>
          <a:p>
            <a:pPr marL="285750" marR="0" indent="-285750">
              <a:lnSpc>
                <a:spcPct val="150000"/>
              </a:lnSpc>
              <a:spcBef>
                <a:spcPts val="200"/>
              </a:spcBef>
              <a:spcAft>
                <a:spcPts val="0"/>
              </a:spcAft>
              <a:buFont typeface="Arial" panose="020B0604020202020204" pitchFamily="34" charset="0"/>
              <a:buChar char="•"/>
            </a:pP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Pay stubs</a:t>
            </a:r>
            <a:endParaRPr lang="en-US" sz="1400" dirty="0">
              <a:solidFill>
                <a:srgbClr val="000000"/>
              </a:solidFill>
              <a:latin typeface="Poppins Light" panose="00000400000000000000" pitchFamily="2" charset="0"/>
              <a:ea typeface="Times New Roman" panose="02020603050405020304" pitchFamily="18" charset="0"/>
              <a:cs typeface="Poppins Light" panose="00000400000000000000" pitchFamily="2" charset="0"/>
            </a:endParaRPr>
          </a:p>
          <a:p>
            <a:pPr marL="285750" marR="0" indent="-285750">
              <a:lnSpc>
                <a:spcPct val="150000"/>
              </a:lnSpc>
              <a:spcBef>
                <a:spcPts val="200"/>
              </a:spcBef>
              <a:spcAft>
                <a:spcPts val="0"/>
              </a:spcAft>
              <a:buFont typeface="Arial" panose="020B0604020202020204" pitchFamily="34" charset="0"/>
              <a:buChar char="•"/>
            </a:pP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Paid Time Off requests (and approvals for managers)</a:t>
            </a:r>
          </a:p>
          <a:p>
            <a:pPr marL="285750" marR="0" indent="-285750">
              <a:lnSpc>
                <a:spcPct val="150000"/>
              </a:lnSpc>
              <a:spcBef>
                <a:spcPts val="200"/>
              </a:spcBef>
              <a:spcAft>
                <a:spcPts val="0"/>
              </a:spcAft>
              <a:buFont typeface="Arial" panose="020B0604020202020204" pitchFamily="34" charset="0"/>
              <a:buChar char="•"/>
            </a:pP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Document management (e.g., policies</a:t>
            </a:r>
            <a:r>
              <a:rPr lang="en-US" sz="1400" dirty="0">
                <a:solidFill>
                  <a:srgbClr val="000000"/>
                </a:solidFill>
                <a:latin typeface="Poppins Light" panose="00000400000000000000" pitchFamily="2" charset="0"/>
                <a:ea typeface="Times New Roman" panose="02020603050405020304" pitchFamily="18" charset="0"/>
                <a:cs typeface="Poppins Light" panose="00000400000000000000" pitchFamily="2" charset="0"/>
              </a:rPr>
              <a:t>,  </a:t>
            </a: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handbooks)</a:t>
            </a:r>
          </a:p>
          <a:p>
            <a:pPr marL="285750" marR="0" indent="-285750">
              <a:lnSpc>
                <a:spcPct val="150000"/>
              </a:lnSpc>
              <a:spcBef>
                <a:spcPts val="200"/>
              </a:spcBef>
              <a:spcAft>
                <a:spcPts val="0"/>
              </a:spcAft>
              <a:buFont typeface="Arial" panose="020B0604020202020204" pitchFamily="34" charset="0"/>
              <a:buChar char="•"/>
            </a:pP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Personal contact and employment information</a:t>
            </a:r>
            <a:endParaRPr lang="en-US" sz="1400" dirty="0">
              <a:solidFill>
                <a:srgbClr val="000000"/>
              </a:solidFill>
              <a:latin typeface="Poppins Light" panose="00000400000000000000" pitchFamily="2" charset="0"/>
              <a:ea typeface="Times New Roman" panose="02020603050405020304" pitchFamily="18" charset="0"/>
              <a:cs typeface="Poppins Light" panose="00000400000000000000" pitchFamily="2" charset="0"/>
            </a:endParaRPr>
          </a:p>
          <a:p>
            <a:pPr marL="285750" marR="0" indent="-285750">
              <a:lnSpc>
                <a:spcPct val="150000"/>
              </a:lnSpc>
              <a:spcBef>
                <a:spcPts val="200"/>
              </a:spcBef>
              <a:spcAft>
                <a:spcPts val="0"/>
              </a:spcAft>
              <a:buFont typeface="Arial" panose="020B0604020202020204" pitchFamily="34" charset="0"/>
              <a:buChar char="•"/>
            </a:pP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Company event and holiday calendar</a:t>
            </a:r>
            <a:endParaRPr lang="en-US" sz="1400" dirty="0">
              <a:solidFill>
                <a:srgbClr val="000000"/>
              </a:solidFill>
              <a:latin typeface="Poppins Light" panose="00000400000000000000" pitchFamily="2" charset="0"/>
              <a:ea typeface="Times New Roman" panose="02020603050405020304" pitchFamily="18" charset="0"/>
              <a:cs typeface="Poppins Light" panose="00000400000000000000" pitchFamily="2" charset="0"/>
            </a:endParaRPr>
          </a:p>
          <a:p>
            <a:pPr marL="285750" marR="0" indent="-285750">
              <a:lnSpc>
                <a:spcPct val="150000"/>
              </a:lnSpc>
              <a:spcBef>
                <a:spcPts val="200"/>
              </a:spcBef>
              <a:spcAft>
                <a:spcPts val="0"/>
              </a:spcAft>
              <a:buFont typeface="Arial" panose="020B0604020202020204" pitchFamily="34" charset="0"/>
              <a:buChar char="•"/>
            </a:pP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Tax documents (e.g., W-2)</a:t>
            </a:r>
          </a:p>
          <a:p>
            <a:pPr marL="285750" marR="0" indent="-285750">
              <a:lnSpc>
                <a:spcPct val="150000"/>
              </a:lnSpc>
              <a:spcBef>
                <a:spcPts val="200"/>
              </a:spcBef>
              <a:spcAft>
                <a:spcPts val="0"/>
              </a:spcAft>
              <a:buFont typeface="Arial" panose="020B0604020202020204" pitchFamily="34" charset="0"/>
              <a:buChar char="•"/>
            </a:pP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HR support contacts</a:t>
            </a:r>
          </a:p>
          <a:p>
            <a:pPr marL="285750" marR="0" indent="-285750">
              <a:lnSpc>
                <a:spcPct val="150000"/>
              </a:lnSpc>
              <a:spcBef>
                <a:spcPts val="200"/>
              </a:spcBef>
              <a:spcAft>
                <a:spcPts val="0"/>
              </a:spcAft>
              <a:buFont typeface="Arial" panose="020B0604020202020204" pitchFamily="34" charset="0"/>
              <a:buChar char="•"/>
            </a:pPr>
            <a:r>
              <a:rPr lang="en-US" sz="1400" dirty="0">
                <a:solidFill>
                  <a:srgbClr val="000000"/>
                </a:solidFill>
                <a:effectLst/>
                <a:latin typeface="Poppins Light" panose="00000400000000000000" pitchFamily="2" charset="0"/>
                <a:ea typeface="Times New Roman" panose="02020603050405020304" pitchFamily="18" charset="0"/>
                <a:cs typeface="Poppins Light" panose="00000400000000000000" pitchFamily="2" charset="0"/>
              </a:rPr>
              <a:t>Company-wide announcements</a:t>
            </a:r>
          </a:p>
          <a:p>
            <a:endParaRPr lang="en-US" dirty="0"/>
          </a:p>
        </p:txBody>
      </p:sp>
      <p:pic>
        <p:nvPicPr>
          <p:cNvPr id="12" name="Picture 11">
            <a:extLst>
              <a:ext uri="{FF2B5EF4-FFF2-40B4-BE49-F238E27FC236}">
                <a16:creationId xmlns:a16="http://schemas.microsoft.com/office/drawing/2014/main" id="{0295D834-A823-93FB-A1FD-7C45C23E9C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0048" y="-158727"/>
            <a:ext cx="11231903" cy="1350267"/>
          </a:xfrm>
          <a:prstGeom prst="rect">
            <a:avLst/>
          </a:prstGeom>
        </p:spPr>
      </p:pic>
      <p:pic>
        <p:nvPicPr>
          <p:cNvPr id="15" name="Graphic 14">
            <a:extLst>
              <a:ext uri="{FF2B5EF4-FFF2-40B4-BE49-F238E27FC236}">
                <a16:creationId xmlns:a16="http://schemas.microsoft.com/office/drawing/2014/main" id="{EED562DD-850E-5419-D0A0-D8C00BB09E6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24683" y="6514945"/>
            <a:ext cx="1774506" cy="260163"/>
          </a:xfrm>
          <a:prstGeom prst="rect">
            <a:avLst/>
          </a:prstGeom>
        </p:spPr>
      </p:pic>
    </p:spTree>
    <p:extLst>
      <p:ext uri="{BB962C8B-B14F-4D97-AF65-F5344CB8AC3E}">
        <p14:creationId xmlns:p14="http://schemas.microsoft.com/office/powerpoint/2010/main" val="1529053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301;p45">
            <a:extLst>
              <a:ext uri="{FF2B5EF4-FFF2-40B4-BE49-F238E27FC236}">
                <a16:creationId xmlns:a16="http://schemas.microsoft.com/office/drawing/2014/main" id="{7149193F-7036-3B8F-F6B4-F33148064988}"/>
              </a:ext>
            </a:extLst>
          </p:cNvPr>
          <p:cNvSpPr/>
          <p:nvPr/>
        </p:nvSpPr>
        <p:spPr>
          <a:xfrm>
            <a:off x="333061" y="-1"/>
            <a:ext cx="1264381" cy="6858001"/>
          </a:xfrm>
          <a:prstGeom prst="rect">
            <a:avLst/>
          </a:prstGeom>
          <a:solidFill>
            <a:srgbClr val="A7CCED"/>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3" name="Google Shape;301;p45">
            <a:extLst>
              <a:ext uri="{FF2B5EF4-FFF2-40B4-BE49-F238E27FC236}">
                <a16:creationId xmlns:a16="http://schemas.microsoft.com/office/drawing/2014/main" id="{D8E8311B-40C6-D896-A492-87C16C729DF6}"/>
              </a:ext>
            </a:extLst>
          </p:cNvPr>
          <p:cNvSpPr/>
          <p:nvPr/>
        </p:nvSpPr>
        <p:spPr>
          <a:xfrm>
            <a:off x="0" y="-16044"/>
            <a:ext cx="1148498" cy="6874044"/>
          </a:xfrm>
          <a:prstGeom prst="rect">
            <a:avLst/>
          </a:prstGeom>
          <a:solidFill>
            <a:srgbClr val="005791"/>
          </a:solidFill>
          <a:ln>
            <a:noFill/>
          </a:ln>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grpSp>
        <p:nvGrpSpPr>
          <p:cNvPr id="5" name="Google Shape;302;p45">
            <a:extLst>
              <a:ext uri="{FF2B5EF4-FFF2-40B4-BE49-F238E27FC236}">
                <a16:creationId xmlns:a16="http://schemas.microsoft.com/office/drawing/2014/main" id="{693BDD55-CABA-DF2B-D948-CE0483D0C307}"/>
              </a:ext>
            </a:extLst>
          </p:cNvPr>
          <p:cNvGrpSpPr/>
          <p:nvPr/>
        </p:nvGrpSpPr>
        <p:grpSpPr>
          <a:xfrm>
            <a:off x="268107" y="1140842"/>
            <a:ext cx="2747700" cy="5326532"/>
            <a:chOff x="3421706" y="1143000"/>
            <a:chExt cx="2530932" cy="5052117"/>
          </a:xfrm>
        </p:grpSpPr>
        <p:sp>
          <p:nvSpPr>
            <p:cNvPr id="22" name="Google Shape;303;p45">
              <a:extLst>
                <a:ext uri="{FF2B5EF4-FFF2-40B4-BE49-F238E27FC236}">
                  <a16:creationId xmlns:a16="http://schemas.microsoft.com/office/drawing/2014/main" id="{3F717A4B-F329-E5D9-2FAE-7F162E06979A}"/>
                </a:ext>
              </a:extLst>
            </p:cNvPr>
            <p:cNvSpPr/>
            <p:nvPr/>
          </p:nvSpPr>
          <p:spPr>
            <a:xfrm>
              <a:off x="5772337" y="2057401"/>
              <a:ext cx="180301" cy="487680"/>
            </a:xfrm>
            <a:prstGeom prst="roundRect">
              <a:avLst>
                <a:gd name="adj" fmla="val 16667"/>
              </a:avLst>
            </a:prstGeom>
            <a:solidFill>
              <a:schemeClr val="dk1">
                <a:alpha val="29803"/>
              </a:schemeClr>
            </a:solidFill>
            <a:ln>
              <a:noFill/>
            </a:ln>
            <a:effectLst>
              <a:outerShdw blurRad="317500" dist="76200" dir="2700000" algn="tl" rotWithShape="0">
                <a:srgbClr val="000000">
                  <a:alpha val="4000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700">
                <a:solidFill>
                  <a:schemeClr val="lt1"/>
                </a:solidFill>
                <a:latin typeface="Poppins"/>
                <a:ea typeface="Poppins"/>
                <a:cs typeface="Poppins"/>
                <a:sym typeface="Poppins"/>
              </a:endParaRPr>
            </a:p>
          </p:txBody>
        </p:sp>
        <p:sp>
          <p:nvSpPr>
            <p:cNvPr id="23" name="Google Shape;304;p45">
              <a:extLst>
                <a:ext uri="{FF2B5EF4-FFF2-40B4-BE49-F238E27FC236}">
                  <a16:creationId xmlns:a16="http://schemas.microsoft.com/office/drawing/2014/main" id="{223F5510-5DCC-DAC7-FD9E-971A1D21E2A8}"/>
                </a:ext>
              </a:extLst>
            </p:cNvPr>
            <p:cNvSpPr/>
            <p:nvPr/>
          </p:nvSpPr>
          <p:spPr>
            <a:xfrm>
              <a:off x="3421706" y="1971500"/>
              <a:ext cx="180301" cy="276137"/>
            </a:xfrm>
            <a:prstGeom prst="roundRect">
              <a:avLst>
                <a:gd name="adj" fmla="val 16667"/>
              </a:avLst>
            </a:prstGeom>
            <a:solidFill>
              <a:schemeClr val="dk1">
                <a:alpha val="29803"/>
              </a:schemeClr>
            </a:solidFill>
            <a:ln>
              <a:noFill/>
            </a:ln>
            <a:effectLst>
              <a:outerShdw blurRad="317500" dist="76200" dir="2700000" algn="tl" rotWithShape="0">
                <a:srgbClr val="000000">
                  <a:alpha val="4000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700">
                <a:solidFill>
                  <a:schemeClr val="lt1"/>
                </a:solidFill>
                <a:latin typeface="Poppins"/>
                <a:ea typeface="Poppins"/>
                <a:cs typeface="Poppins"/>
                <a:sym typeface="Poppins"/>
              </a:endParaRPr>
            </a:p>
          </p:txBody>
        </p:sp>
        <p:sp>
          <p:nvSpPr>
            <p:cNvPr id="24" name="Google Shape;305;p45">
              <a:extLst>
                <a:ext uri="{FF2B5EF4-FFF2-40B4-BE49-F238E27FC236}">
                  <a16:creationId xmlns:a16="http://schemas.microsoft.com/office/drawing/2014/main" id="{184792FF-2321-AD3C-F4F5-58EBD01BC115}"/>
                </a:ext>
              </a:extLst>
            </p:cNvPr>
            <p:cNvSpPr/>
            <p:nvPr/>
          </p:nvSpPr>
          <p:spPr>
            <a:xfrm>
              <a:off x="3421706" y="2530199"/>
              <a:ext cx="180301" cy="276137"/>
            </a:xfrm>
            <a:prstGeom prst="roundRect">
              <a:avLst>
                <a:gd name="adj" fmla="val 16667"/>
              </a:avLst>
            </a:prstGeom>
            <a:solidFill>
              <a:schemeClr val="dk1">
                <a:alpha val="29803"/>
              </a:schemeClr>
            </a:solidFill>
            <a:ln>
              <a:noFill/>
            </a:ln>
            <a:effectLst>
              <a:outerShdw blurRad="317500" dist="76200" dir="2700000" algn="tl" rotWithShape="0">
                <a:srgbClr val="000000">
                  <a:alpha val="4000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700">
                <a:solidFill>
                  <a:schemeClr val="lt1"/>
                </a:solidFill>
                <a:latin typeface="Poppins"/>
                <a:ea typeface="Poppins"/>
                <a:cs typeface="Poppins"/>
                <a:sym typeface="Poppins"/>
              </a:endParaRPr>
            </a:p>
          </p:txBody>
        </p:sp>
        <p:sp>
          <p:nvSpPr>
            <p:cNvPr id="25" name="Google Shape;306;p45">
              <a:extLst>
                <a:ext uri="{FF2B5EF4-FFF2-40B4-BE49-F238E27FC236}">
                  <a16:creationId xmlns:a16="http://schemas.microsoft.com/office/drawing/2014/main" id="{0C4AA8FA-9171-F89A-E160-3C122067E98B}"/>
                </a:ext>
              </a:extLst>
            </p:cNvPr>
            <p:cNvSpPr/>
            <p:nvPr/>
          </p:nvSpPr>
          <p:spPr>
            <a:xfrm>
              <a:off x="3421706" y="3041744"/>
              <a:ext cx="180301" cy="276137"/>
            </a:xfrm>
            <a:prstGeom prst="roundRect">
              <a:avLst>
                <a:gd name="adj" fmla="val 16667"/>
              </a:avLst>
            </a:prstGeom>
            <a:solidFill>
              <a:schemeClr val="dk1">
                <a:alpha val="29803"/>
              </a:schemeClr>
            </a:solidFill>
            <a:ln>
              <a:noFill/>
            </a:ln>
            <a:effectLst>
              <a:outerShdw blurRad="317500" dist="76200" dir="2700000" algn="tl" rotWithShape="0">
                <a:srgbClr val="000000">
                  <a:alpha val="4000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700">
                <a:solidFill>
                  <a:schemeClr val="lt1"/>
                </a:solidFill>
                <a:latin typeface="Poppins"/>
                <a:ea typeface="Poppins"/>
                <a:cs typeface="Poppins"/>
                <a:sym typeface="Poppins"/>
              </a:endParaRPr>
            </a:p>
          </p:txBody>
        </p:sp>
        <p:sp>
          <p:nvSpPr>
            <p:cNvPr id="26" name="Google Shape;307;p45">
              <a:extLst>
                <a:ext uri="{FF2B5EF4-FFF2-40B4-BE49-F238E27FC236}">
                  <a16:creationId xmlns:a16="http://schemas.microsoft.com/office/drawing/2014/main" id="{2ECD77D7-EF32-BB69-7E3F-97CC1574FFC5}"/>
                </a:ext>
              </a:extLst>
            </p:cNvPr>
            <p:cNvSpPr/>
            <p:nvPr/>
          </p:nvSpPr>
          <p:spPr>
            <a:xfrm>
              <a:off x="3453659" y="1143000"/>
              <a:ext cx="2465281" cy="5052117"/>
            </a:xfrm>
            <a:prstGeom prst="roundRect">
              <a:avLst>
                <a:gd name="adj" fmla="val 16667"/>
              </a:avLst>
            </a:prstGeom>
            <a:solidFill>
              <a:schemeClr val="tx1"/>
            </a:solidFill>
            <a:ln w="19050" cap="flat" cmpd="sng">
              <a:solidFill>
                <a:srgbClr val="000000"/>
              </a:solidFill>
              <a:prstDash val="solid"/>
              <a:miter lim="800000"/>
              <a:headEnd type="none" w="sm" len="sm"/>
              <a:tailEnd type="none" w="sm" len="sm"/>
            </a:ln>
            <a:effectLst>
              <a:outerShdw blurRad="317500" dist="76200" dir="2700000" algn="tl" rotWithShape="0">
                <a:srgbClr val="000000">
                  <a:alpha val="4000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700">
                <a:solidFill>
                  <a:schemeClr val="lt1"/>
                </a:solidFill>
                <a:latin typeface="Poppins"/>
                <a:ea typeface="Poppins"/>
                <a:cs typeface="Poppins"/>
                <a:sym typeface="Poppins"/>
              </a:endParaRPr>
            </a:p>
          </p:txBody>
        </p:sp>
        <p:sp>
          <p:nvSpPr>
            <p:cNvPr id="28" name="Google Shape;309;p45">
              <a:extLst>
                <a:ext uri="{FF2B5EF4-FFF2-40B4-BE49-F238E27FC236}">
                  <a16:creationId xmlns:a16="http://schemas.microsoft.com/office/drawing/2014/main" id="{5950BC31-0DD6-3647-ABC8-333F78204C06}"/>
                </a:ext>
              </a:extLst>
            </p:cNvPr>
            <p:cNvSpPr/>
            <p:nvPr/>
          </p:nvSpPr>
          <p:spPr>
            <a:xfrm>
              <a:off x="4372270" y="1457767"/>
              <a:ext cx="628058" cy="45719"/>
            </a:xfrm>
            <a:prstGeom prst="roundRect">
              <a:avLst>
                <a:gd name="adj" fmla="val 16667"/>
              </a:avLst>
            </a:prstGeom>
            <a:solidFill>
              <a:schemeClr val="dk1">
                <a:alpha val="20000"/>
              </a:schemeClr>
            </a:solidFill>
            <a:ln>
              <a:noFill/>
            </a:ln>
            <a:effectLst>
              <a:outerShdw blurRad="317500" dist="76200" dir="2700000" algn="tl" rotWithShape="0">
                <a:srgbClr val="000000">
                  <a:alpha val="4000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700">
                <a:solidFill>
                  <a:schemeClr val="lt1"/>
                </a:solidFill>
                <a:latin typeface="Poppins"/>
                <a:ea typeface="Poppins"/>
                <a:cs typeface="Poppins"/>
                <a:sym typeface="Poppins"/>
              </a:endParaRPr>
            </a:p>
          </p:txBody>
        </p:sp>
        <p:sp>
          <p:nvSpPr>
            <p:cNvPr id="29" name="Google Shape;310;p45">
              <a:extLst>
                <a:ext uri="{FF2B5EF4-FFF2-40B4-BE49-F238E27FC236}">
                  <a16:creationId xmlns:a16="http://schemas.microsoft.com/office/drawing/2014/main" id="{8287C8C6-CFFF-5263-C3B4-F8D8B7941F0C}"/>
                </a:ext>
              </a:extLst>
            </p:cNvPr>
            <p:cNvSpPr/>
            <p:nvPr/>
          </p:nvSpPr>
          <p:spPr>
            <a:xfrm flipH="1">
              <a:off x="4159907" y="1451578"/>
              <a:ext cx="59518" cy="58098"/>
            </a:xfrm>
            <a:prstGeom prst="ellipse">
              <a:avLst/>
            </a:prstGeom>
            <a:solidFill>
              <a:schemeClr val="dk1">
                <a:alpha val="20000"/>
              </a:schemeClr>
            </a:solidFill>
            <a:ln>
              <a:noFill/>
            </a:ln>
            <a:effectLst>
              <a:outerShdw blurRad="317500" dist="76200" dir="2700000" algn="tl" rotWithShape="0">
                <a:srgbClr val="000000">
                  <a:alpha val="4000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700">
                <a:solidFill>
                  <a:schemeClr val="lt1"/>
                </a:solidFill>
                <a:latin typeface="Poppins"/>
                <a:ea typeface="Poppins"/>
                <a:cs typeface="Poppins"/>
                <a:sym typeface="Poppins"/>
              </a:endParaRPr>
            </a:p>
          </p:txBody>
        </p:sp>
        <p:sp>
          <p:nvSpPr>
            <p:cNvPr id="30" name="Google Shape;311;p45">
              <a:extLst>
                <a:ext uri="{FF2B5EF4-FFF2-40B4-BE49-F238E27FC236}">
                  <a16:creationId xmlns:a16="http://schemas.microsoft.com/office/drawing/2014/main" id="{B13E7394-E2EC-8D1D-970E-92BDA1EF5DA1}"/>
                </a:ext>
              </a:extLst>
            </p:cNvPr>
            <p:cNvSpPr/>
            <p:nvPr/>
          </p:nvSpPr>
          <p:spPr>
            <a:xfrm flipH="1">
              <a:off x="4656540" y="1271335"/>
              <a:ext cx="59518" cy="58098"/>
            </a:xfrm>
            <a:prstGeom prst="ellipse">
              <a:avLst/>
            </a:prstGeom>
            <a:solidFill>
              <a:schemeClr val="dk1">
                <a:alpha val="20000"/>
              </a:schemeClr>
            </a:solidFill>
            <a:ln>
              <a:noFill/>
            </a:ln>
            <a:effectLst>
              <a:outerShdw blurRad="317500" dist="76200" dir="2700000" algn="tl" rotWithShape="0">
                <a:srgbClr val="000000">
                  <a:alpha val="40000"/>
                </a:srgbClr>
              </a:outerShdw>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700">
                <a:solidFill>
                  <a:schemeClr val="lt1"/>
                </a:solidFill>
                <a:latin typeface="Poppins"/>
                <a:ea typeface="Poppins"/>
                <a:cs typeface="Poppins"/>
                <a:sym typeface="Poppins"/>
              </a:endParaRPr>
            </a:p>
          </p:txBody>
        </p:sp>
      </p:grpSp>
      <p:pic>
        <p:nvPicPr>
          <p:cNvPr id="9" name="Google Shape;337;p45">
            <a:extLst>
              <a:ext uri="{FF2B5EF4-FFF2-40B4-BE49-F238E27FC236}">
                <a16:creationId xmlns:a16="http://schemas.microsoft.com/office/drawing/2014/main" id="{C40FB99B-38B9-301C-901F-06AB2F7578F9}"/>
              </a:ext>
            </a:extLst>
          </p:cNvPr>
          <p:cNvPicPr preferRelativeResize="0"/>
          <p:nvPr/>
        </p:nvPicPr>
        <p:blipFill rotWithShape="1">
          <a:blip r:embed="rId3">
            <a:extLst>
              <a:ext uri="{28A0092B-C50C-407E-A947-70E740481C1C}">
                <a14:useLocalDpi xmlns:a14="http://schemas.microsoft.com/office/drawing/2010/main" val="0"/>
              </a:ext>
            </a:extLst>
          </a:blip>
          <a:srcRect t="420" b="420"/>
          <a:stretch/>
        </p:blipFill>
        <p:spPr>
          <a:xfrm>
            <a:off x="490859" y="1696587"/>
            <a:ext cx="2278240" cy="4043705"/>
          </a:xfrm>
          <a:custGeom>
            <a:avLst/>
            <a:gdLst/>
            <a:ahLst/>
            <a:cxnLst/>
            <a:rect l="l" t="t" r="r" b="b"/>
            <a:pathLst>
              <a:path w="2212496" h="4043705" extrusionOk="0">
                <a:moveTo>
                  <a:pt x="0" y="0"/>
                </a:moveTo>
                <a:lnTo>
                  <a:pt x="2212496" y="0"/>
                </a:lnTo>
                <a:lnTo>
                  <a:pt x="2212496" y="4043705"/>
                </a:lnTo>
                <a:lnTo>
                  <a:pt x="0" y="4043705"/>
                </a:lnTo>
                <a:close/>
              </a:path>
            </a:pathLst>
          </a:custGeom>
          <a:noFill/>
          <a:ln>
            <a:noFill/>
          </a:ln>
        </p:spPr>
      </p:pic>
      <p:sp>
        <p:nvSpPr>
          <p:cNvPr id="31" name="Content Placeholder 2">
            <a:extLst>
              <a:ext uri="{FF2B5EF4-FFF2-40B4-BE49-F238E27FC236}">
                <a16:creationId xmlns:a16="http://schemas.microsoft.com/office/drawing/2014/main" id="{DE05BDA3-4A69-E143-21B1-F73E893134FE}"/>
              </a:ext>
            </a:extLst>
          </p:cNvPr>
          <p:cNvSpPr>
            <a:spLocks noGrp="1"/>
          </p:cNvSpPr>
          <p:nvPr>
            <p:ph idx="1"/>
          </p:nvPr>
        </p:nvSpPr>
        <p:spPr>
          <a:xfrm>
            <a:off x="3362241" y="1280110"/>
            <a:ext cx="4009837" cy="5187264"/>
          </a:xfrm>
        </p:spPr>
        <p:txBody>
          <a:bodyPr>
            <a:normAutofit lnSpcReduction="10000"/>
          </a:bodyPr>
          <a:lstStyle/>
          <a:p>
            <a:pPr marL="0" indent="0">
              <a:buNone/>
            </a:pPr>
            <a:r>
              <a:rPr lang="en-US" sz="1400" dirty="0">
                <a:solidFill>
                  <a:srgbClr val="005791"/>
                </a:solidFill>
                <a:latin typeface="Poppins Medium" panose="00000600000000000000" pitchFamily="2" charset="0"/>
                <a:cs typeface="Poppins Medium" panose="00000600000000000000" pitchFamily="2" charset="0"/>
              </a:rPr>
              <a:t>Fewer Errors</a:t>
            </a:r>
          </a:p>
          <a:p>
            <a:pPr marL="0" indent="0">
              <a:spcBef>
                <a:spcPts val="600"/>
              </a:spcBef>
              <a:buNone/>
            </a:pPr>
            <a:r>
              <a:rPr lang="en-US" sz="1000" dirty="0">
                <a:latin typeface="Poppins Light" panose="00000400000000000000" pitchFamily="2" charset="0"/>
                <a:cs typeface="Poppins Light" panose="00000400000000000000" pitchFamily="2" charset="0"/>
              </a:rPr>
              <a:t>Intelligent clock technology helps eliminate duplicate or missed punches and errors computing total hours and pay.</a:t>
            </a:r>
          </a:p>
          <a:p>
            <a:pPr marL="0" indent="0">
              <a:spcBef>
                <a:spcPts val="600"/>
              </a:spcBef>
              <a:buNone/>
            </a:pPr>
            <a:endParaRPr lang="en-US" sz="1000" dirty="0">
              <a:latin typeface="Poppins Light" panose="00000400000000000000" pitchFamily="2" charset="0"/>
              <a:cs typeface="Poppins Light" panose="00000400000000000000" pitchFamily="2" charset="0"/>
            </a:endParaRPr>
          </a:p>
          <a:p>
            <a:pPr marL="0" indent="0">
              <a:buNone/>
            </a:pPr>
            <a:r>
              <a:rPr lang="en-US" sz="1400" dirty="0">
                <a:solidFill>
                  <a:srgbClr val="005791"/>
                </a:solidFill>
                <a:latin typeface="Poppins Medium" panose="00000600000000000000" pitchFamily="2" charset="0"/>
                <a:cs typeface="Poppins Medium" panose="00000600000000000000" pitchFamily="2" charset="0"/>
              </a:rPr>
              <a:t>Clock Lockout</a:t>
            </a:r>
          </a:p>
          <a:p>
            <a:pPr marL="0" indent="0">
              <a:spcBef>
                <a:spcPts val="600"/>
              </a:spcBef>
              <a:buNone/>
            </a:pPr>
            <a:r>
              <a:rPr lang="en-US" sz="1000" dirty="0">
                <a:latin typeface="Poppins Light" panose="00000400000000000000" pitchFamily="2" charset="0"/>
                <a:cs typeface="Poppins Light" panose="00000400000000000000" pitchFamily="2" charset="0"/>
              </a:rPr>
              <a:t>Limit early clock in, scheduling warns when overtime approaches, managers easily view timecards in real time.</a:t>
            </a:r>
          </a:p>
          <a:p>
            <a:pPr marL="0" indent="0">
              <a:spcBef>
                <a:spcPts val="600"/>
              </a:spcBef>
              <a:buNone/>
            </a:pPr>
            <a:endParaRPr lang="en-US" sz="1000" dirty="0">
              <a:latin typeface="Poppins Light" panose="00000400000000000000" pitchFamily="2" charset="0"/>
              <a:cs typeface="Poppins Light" panose="00000400000000000000" pitchFamily="2" charset="0"/>
            </a:endParaRPr>
          </a:p>
          <a:p>
            <a:pPr marL="0" indent="0">
              <a:buNone/>
            </a:pPr>
            <a:r>
              <a:rPr lang="en-US" sz="1400" dirty="0">
                <a:solidFill>
                  <a:srgbClr val="005791"/>
                </a:solidFill>
                <a:latin typeface="Poppins Medium" panose="00000600000000000000" pitchFamily="2" charset="0"/>
                <a:cs typeface="Poppins Medium" panose="00000600000000000000" pitchFamily="2" charset="0"/>
              </a:rPr>
              <a:t>Eliminate Unplanned Overtime</a:t>
            </a:r>
          </a:p>
          <a:p>
            <a:pPr marL="0" indent="0">
              <a:spcBef>
                <a:spcPts val="600"/>
              </a:spcBef>
              <a:buNone/>
            </a:pPr>
            <a:r>
              <a:rPr lang="en-US" sz="1000" dirty="0">
                <a:latin typeface="Poppins Light" panose="00000400000000000000" pitchFamily="2" charset="0"/>
                <a:cs typeface="Poppins Light" panose="00000400000000000000" pitchFamily="2" charset="0"/>
              </a:rPr>
              <a:t>Restrict unplanned overtime with rules and alerts. Compare budgeted hours to actual worked time in real time.</a:t>
            </a:r>
          </a:p>
          <a:p>
            <a:pPr marL="0" indent="0">
              <a:spcBef>
                <a:spcPts val="600"/>
              </a:spcBef>
              <a:buNone/>
            </a:pPr>
            <a:endParaRPr lang="en-US" sz="1000" dirty="0">
              <a:latin typeface="Poppins Light" panose="00000400000000000000" pitchFamily="2" charset="0"/>
              <a:cs typeface="Poppins Light" panose="00000400000000000000" pitchFamily="2" charset="0"/>
            </a:endParaRPr>
          </a:p>
          <a:p>
            <a:pPr marL="0" indent="0">
              <a:buNone/>
            </a:pPr>
            <a:r>
              <a:rPr lang="en-US" sz="1400" dirty="0">
                <a:solidFill>
                  <a:srgbClr val="005791"/>
                </a:solidFill>
                <a:latin typeface="Poppins Medium" panose="00000600000000000000" pitchFamily="2" charset="0"/>
                <a:cs typeface="Poppins Medium" panose="00000600000000000000" pitchFamily="2" charset="0"/>
              </a:rPr>
              <a:t>Flexible Configuration</a:t>
            </a:r>
          </a:p>
          <a:p>
            <a:pPr marL="0" indent="0">
              <a:spcBef>
                <a:spcPts val="600"/>
              </a:spcBef>
              <a:buNone/>
            </a:pPr>
            <a:r>
              <a:rPr lang="en-US" sz="1000" dirty="0">
                <a:latin typeface="Poppins Light" panose="00000400000000000000" pitchFamily="2" charset="0"/>
                <a:cs typeface="Poppins Light" panose="00000400000000000000" pitchFamily="2" charset="0"/>
              </a:rPr>
              <a:t>Customized pay rules, overtime calculations, compliance requirements and accrual application. Wide range of physical and online clock options.</a:t>
            </a:r>
          </a:p>
          <a:p>
            <a:pPr marL="0" indent="0">
              <a:spcBef>
                <a:spcPts val="600"/>
              </a:spcBef>
              <a:buNone/>
            </a:pPr>
            <a:endParaRPr lang="en-US" sz="1000" dirty="0">
              <a:latin typeface="Poppins Light" panose="00000400000000000000" pitchFamily="2" charset="0"/>
              <a:cs typeface="Poppins Light" panose="00000400000000000000" pitchFamily="2" charset="0"/>
            </a:endParaRPr>
          </a:p>
          <a:p>
            <a:pPr marL="0" indent="0">
              <a:buNone/>
            </a:pPr>
            <a:r>
              <a:rPr lang="en-US" sz="1400" dirty="0">
                <a:solidFill>
                  <a:srgbClr val="005791"/>
                </a:solidFill>
                <a:latin typeface="Poppins Medium" panose="00000600000000000000" pitchFamily="2" charset="0"/>
                <a:cs typeface="Poppins Medium" panose="00000600000000000000" pitchFamily="2" charset="0"/>
              </a:rPr>
              <a:t>Mobile Access</a:t>
            </a:r>
          </a:p>
          <a:p>
            <a:pPr marL="0" indent="0">
              <a:spcBef>
                <a:spcPts val="600"/>
              </a:spcBef>
              <a:buNone/>
            </a:pPr>
            <a:r>
              <a:rPr lang="en-US" sz="1000" dirty="0">
                <a:latin typeface="Poppins Light" panose="00000400000000000000" pitchFamily="2" charset="0"/>
                <a:cs typeface="Poppins Light" panose="00000400000000000000" pitchFamily="2" charset="0"/>
              </a:rPr>
              <a:t>Administrators and employees have convenient access to mobile punch clocks and administration tools from any mobile device.</a:t>
            </a:r>
          </a:p>
          <a:p>
            <a:pPr marL="0" indent="0">
              <a:spcBef>
                <a:spcPts val="600"/>
              </a:spcBef>
              <a:buNone/>
            </a:pPr>
            <a:endParaRPr lang="en-US" sz="1000" dirty="0">
              <a:latin typeface="Poppins Light" panose="00000400000000000000" pitchFamily="2" charset="0"/>
              <a:cs typeface="Poppins Light" panose="00000400000000000000" pitchFamily="2" charset="0"/>
            </a:endParaRPr>
          </a:p>
          <a:p>
            <a:pPr marL="0" indent="0">
              <a:buNone/>
            </a:pPr>
            <a:r>
              <a:rPr lang="en-US" sz="1400" dirty="0">
                <a:solidFill>
                  <a:srgbClr val="005791"/>
                </a:solidFill>
                <a:latin typeface="Poppins Medium" panose="00000600000000000000" pitchFamily="2" charset="0"/>
                <a:cs typeface="Poppins Medium" panose="00000600000000000000" pitchFamily="2" charset="0"/>
              </a:rPr>
              <a:t>Faster Payroll Processing</a:t>
            </a:r>
          </a:p>
          <a:p>
            <a:pPr marL="0" indent="0">
              <a:spcBef>
                <a:spcPts val="600"/>
              </a:spcBef>
              <a:buNone/>
            </a:pPr>
            <a:r>
              <a:rPr lang="en-US" sz="1000" dirty="0">
                <a:latin typeface="Poppins Light" panose="00000400000000000000" pitchFamily="2" charset="0"/>
                <a:cs typeface="Poppins Light" panose="00000400000000000000" pitchFamily="2" charset="0"/>
              </a:rPr>
              <a:t>Fewer errors, instant access for timecard review and export to payroll reduces time spent processing payroll.</a:t>
            </a:r>
          </a:p>
        </p:txBody>
      </p:sp>
      <p:sp>
        <p:nvSpPr>
          <p:cNvPr id="33" name="Content Placeholder 2">
            <a:extLst>
              <a:ext uri="{FF2B5EF4-FFF2-40B4-BE49-F238E27FC236}">
                <a16:creationId xmlns:a16="http://schemas.microsoft.com/office/drawing/2014/main" id="{150F6750-1DEE-AEBC-2A3C-A35F9EE8683E}"/>
              </a:ext>
            </a:extLst>
          </p:cNvPr>
          <p:cNvSpPr txBox="1">
            <a:spLocks/>
          </p:cNvSpPr>
          <p:nvPr/>
        </p:nvSpPr>
        <p:spPr>
          <a:xfrm>
            <a:off x="7953520" y="1362757"/>
            <a:ext cx="3656564" cy="48610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lang="en-US" sz="1400" dirty="0">
                <a:solidFill>
                  <a:srgbClr val="005791"/>
                </a:solidFill>
                <a:latin typeface="Poppins Medium" panose="00000600000000000000" pitchFamily="2" charset="0"/>
                <a:cs typeface="Poppins Medium" panose="00000600000000000000" pitchFamily="2" charset="0"/>
              </a:rPr>
              <a:t>Timekeeping</a:t>
            </a:r>
          </a:p>
          <a:p>
            <a:pPr marL="0" indent="0">
              <a:spcBef>
                <a:spcPts val="600"/>
              </a:spcBef>
              <a:buNone/>
            </a:pPr>
            <a:r>
              <a:rPr lang="en-US" sz="1050" dirty="0">
                <a:latin typeface="Poppins Light" panose="00000400000000000000" pitchFamily="2" charset="0"/>
                <a:cs typeface="Poppins Light" panose="00000400000000000000" pitchFamily="2" charset="0"/>
              </a:rPr>
              <a:t>Captures time data from clocks, calculate multiple rates, accruals, and keeps audit trail.</a:t>
            </a:r>
          </a:p>
          <a:p>
            <a:pPr marL="0" indent="0">
              <a:spcBef>
                <a:spcPts val="600"/>
              </a:spcBef>
              <a:buNone/>
            </a:pPr>
            <a:endParaRPr lang="en-US" sz="1050" dirty="0">
              <a:latin typeface="Poppins Light" panose="00000400000000000000" pitchFamily="2" charset="0"/>
              <a:cs typeface="Poppins Light" panose="00000400000000000000" pitchFamily="2" charset="0"/>
            </a:endParaRPr>
          </a:p>
          <a:p>
            <a:pPr marL="0" indent="0">
              <a:spcBef>
                <a:spcPts val="600"/>
              </a:spcBef>
              <a:buNone/>
            </a:pPr>
            <a:r>
              <a:rPr lang="en-US" sz="1400" dirty="0">
                <a:solidFill>
                  <a:srgbClr val="005791"/>
                </a:solidFill>
                <a:latin typeface="Poppins Medium" panose="00000600000000000000" pitchFamily="2" charset="0"/>
                <a:cs typeface="Poppins Medium" panose="00000600000000000000" pitchFamily="2" charset="0"/>
              </a:rPr>
              <a:t>Geofencing</a:t>
            </a:r>
          </a:p>
          <a:p>
            <a:pPr marL="0" indent="0">
              <a:spcBef>
                <a:spcPts val="600"/>
              </a:spcBef>
              <a:buNone/>
            </a:pPr>
            <a:r>
              <a:rPr lang="en-US" sz="1050" dirty="0">
                <a:latin typeface="Poppins Light" panose="00000400000000000000" pitchFamily="2" charset="0"/>
                <a:cs typeface="Poppins Light" panose="00000400000000000000" pitchFamily="2" charset="0"/>
              </a:rPr>
              <a:t>Makes it easy to see who showed up at the right place and when. Unlimited geofences allow you to track every location. Mobile clocks simplify compliance.</a:t>
            </a:r>
          </a:p>
          <a:p>
            <a:pPr marL="0" indent="0">
              <a:spcBef>
                <a:spcPts val="600"/>
              </a:spcBef>
              <a:buNone/>
            </a:pPr>
            <a:endParaRPr lang="en-US" sz="1050" dirty="0">
              <a:latin typeface="Poppins Light" panose="00000400000000000000" pitchFamily="2" charset="0"/>
              <a:cs typeface="Poppins Light" panose="00000400000000000000" pitchFamily="2" charset="0"/>
            </a:endParaRPr>
          </a:p>
          <a:p>
            <a:pPr marL="0" indent="0">
              <a:spcBef>
                <a:spcPts val="600"/>
              </a:spcBef>
              <a:buNone/>
            </a:pPr>
            <a:r>
              <a:rPr lang="en-US" sz="1400" dirty="0">
                <a:solidFill>
                  <a:srgbClr val="005791"/>
                </a:solidFill>
                <a:latin typeface="Poppins Medium" panose="00000600000000000000" pitchFamily="2" charset="0"/>
                <a:cs typeface="Poppins Medium" panose="00000600000000000000" pitchFamily="2" charset="0"/>
              </a:rPr>
              <a:t>Filtered Clock Prompts </a:t>
            </a:r>
            <a:endParaRPr lang="en-US" sz="1200" dirty="0">
              <a:solidFill>
                <a:srgbClr val="005791"/>
              </a:solidFill>
              <a:latin typeface="Poppins Light" panose="00000400000000000000" pitchFamily="2" charset="0"/>
              <a:cs typeface="Poppins Light" panose="00000400000000000000" pitchFamily="2" charset="0"/>
            </a:endParaRPr>
          </a:p>
          <a:p>
            <a:pPr marL="0" indent="0">
              <a:spcBef>
                <a:spcPts val="600"/>
              </a:spcBef>
              <a:buNone/>
            </a:pPr>
            <a:r>
              <a:rPr lang="en-US" sz="1050" dirty="0">
                <a:latin typeface="Poppins Light" panose="00000400000000000000" pitchFamily="2" charset="0"/>
                <a:cs typeface="Poppins Light" panose="00000400000000000000" pitchFamily="2" charset="0"/>
              </a:rPr>
              <a:t>Filter clock prompts by employee or group to reduce punch choice, save time and reduce errors.</a:t>
            </a:r>
          </a:p>
          <a:p>
            <a:pPr marL="0" indent="0">
              <a:spcBef>
                <a:spcPts val="600"/>
              </a:spcBef>
              <a:buNone/>
            </a:pPr>
            <a:endParaRPr lang="en-US" sz="1050" dirty="0">
              <a:latin typeface="Poppins Light" panose="00000400000000000000" pitchFamily="2" charset="0"/>
              <a:cs typeface="Poppins Light" panose="00000400000000000000" pitchFamily="2" charset="0"/>
            </a:endParaRPr>
          </a:p>
          <a:p>
            <a:pPr marL="0" indent="0">
              <a:spcBef>
                <a:spcPts val="600"/>
              </a:spcBef>
              <a:buNone/>
            </a:pPr>
            <a:r>
              <a:rPr lang="en-US" sz="1400" dirty="0">
                <a:solidFill>
                  <a:srgbClr val="005791"/>
                </a:solidFill>
                <a:latin typeface="Poppins Medium" panose="00000600000000000000" pitchFamily="2" charset="0"/>
                <a:cs typeface="Poppins Medium" panose="00000600000000000000" pitchFamily="2" charset="0"/>
              </a:rPr>
              <a:t>Overtime Management </a:t>
            </a:r>
            <a:endParaRPr lang="en-US" sz="1200" dirty="0">
              <a:solidFill>
                <a:srgbClr val="005791"/>
              </a:solidFill>
              <a:latin typeface="Poppins Light" panose="00000400000000000000" pitchFamily="2" charset="0"/>
              <a:cs typeface="Poppins Light" panose="00000400000000000000" pitchFamily="2" charset="0"/>
            </a:endParaRPr>
          </a:p>
          <a:p>
            <a:pPr marL="0" indent="0">
              <a:spcBef>
                <a:spcPts val="600"/>
              </a:spcBef>
              <a:buNone/>
            </a:pPr>
            <a:r>
              <a:rPr lang="en-US" sz="1050" dirty="0">
                <a:latin typeface="Poppins Light" panose="00000400000000000000" pitchFamily="2" charset="0"/>
                <a:cs typeface="Poppins Light" panose="00000400000000000000" pitchFamily="2" charset="0"/>
              </a:rPr>
              <a:t>Auto-apply overtime or proactively alert as thresholds approach. Flexible calculations and application.</a:t>
            </a:r>
          </a:p>
          <a:p>
            <a:pPr marL="0" indent="0">
              <a:spcBef>
                <a:spcPts val="600"/>
              </a:spcBef>
              <a:buNone/>
            </a:pPr>
            <a:endParaRPr lang="en-US" sz="1050" dirty="0">
              <a:latin typeface="Poppins Light" panose="00000400000000000000" pitchFamily="2" charset="0"/>
              <a:cs typeface="Poppins Light" panose="00000400000000000000" pitchFamily="2" charset="0"/>
            </a:endParaRPr>
          </a:p>
          <a:p>
            <a:pPr marL="0" indent="0">
              <a:spcBef>
                <a:spcPts val="600"/>
              </a:spcBef>
              <a:buNone/>
            </a:pPr>
            <a:r>
              <a:rPr lang="en-US" sz="1400" dirty="0">
                <a:solidFill>
                  <a:srgbClr val="005791"/>
                </a:solidFill>
                <a:latin typeface="Poppins Medium" panose="00000600000000000000" pitchFamily="2" charset="0"/>
                <a:cs typeface="Poppins Medium" panose="00000600000000000000" pitchFamily="2" charset="0"/>
              </a:rPr>
              <a:t>Payroll Integration </a:t>
            </a:r>
            <a:endParaRPr lang="en-US" sz="1200" dirty="0">
              <a:solidFill>
                <a:srgbClr val="005791"/>
              </a:solidFill>
              <a:latin typeface="Poppins Light" panose="00000400000000000000" pitchFamily="2" charset="0"/>
              <a:cs typeface="Poppins Light" panose="00000400000000000000" pitchFamily="2" charset="0"/>
            </a:endParaRPr>
          </a:p>
          <a:p>
            <a:pPr marL="0" indent="0">
              <a:spcBef>
                <a:spcPts val="600"/>
              </a:spcBef>
              <a:buNone/>
            </a:pPr>
            <a:r>
              <a:rPr lang="en-US" sz="1050" dirty="0">
                <a:latin typeface="Poppins Light" panose="00000400000000000000" pitchFamily="2" charset="0"/>
                <a:cs typeface="Poppins Light" panose="00000400000000000000" pitchFamily="2" charset="0"/>
              </a:rPr>
              <a:t>Easy timecard review and approval. Connects time data to payroll processing for fewer errors and faster completion.</a:t>
            </a:r>
          </a:p>
        </p:txBody>
      </p:sp>
      <p:pic>
        <p:nvPicPr>
          <p:cNvPr id="39" name="Picture 38">
            <a:extLst>
              <a:ext uri="{FF2B5EF4-FFF2-40B4-BE49-F238E27FC236}">
                <a16:creationId xmlns:a16="http://schemas.microsoft.com/office/drawing/2014/main" id="{53E5ACBE-C588-2DFB-9218-594A8CFF8938}"/>
              </a:ext>
            </a:extLst>
          </p:cNvPr>
          <p:cNvPicPr>
            <a:picLocks noChangeAspect="1"/>
          </p:cNvPicPr>
          <p:nvPr/>
        </p:nvPicPr>
        <p:blipFill>
          <a:blip r:embed="rId4"/>
          <a:stretch>
            <a:fillRect/>
          </a:stretch>
        </p:blipFill>
        <p:spPr>
          <a:xfrm>
            <a:off x="7816957" y="290052"/>
            <a:ext cx="3709479" cy="548162"/>
          </a:xfrm>
          <a:prstGeom prst="rect">
            <a:avLst/>
          </a:prstGeom>
        </p:spPr>
      </p:pic>
      <p:pic>
        <p:nvPicPr>
          <p:cNvPr id="4" name="Picture 3">
            <a:extLst>
              <a:ext uri="{FF2B5EF4-FFF2-40B4-BE49-F238E27FC236}">
                <a16:creationId xmlns:a16="http://schemas.microsoft.com/office/drawing/2014/main" id="{306BF443-C933-01BB-D6F3-3B37550F69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1352" y="-90431"/>
            <a:ext cx="11231903" cy="1350267"/>
          </a:xfrm>
          <a:prstGeom prst="rect">
            <a:avLst/>
          </a:prstGeom>
        </p:spPr>
      </p:pic>
      <p:pic>
        <p:nvPicPr>
          <p:cNvPr id="7" name="Graphic 6">
            <a:extLst>
              <a:ext uri="{FF2B5EF4-FFF2-40B4-BE49-F238E27FC236}">
                <a16:creationId xmlns:a16="http://schemas.microsoft.com/office/drawing/2014/main" id="{8F1391A7-C8A2-5B68-7AED-34987116D31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24683" y="6514945"/>
            <a:ext cx="1774506" cy="260163"/>
          </a:xfrm>
          <a:prstGeom prst="rect">
            <a:avLst/>
          </a:prstGeom>
        </p:spPr>
      </p:pic>
    </p:spTree>
    <p:extLst>
      <p:ext uri="{BB962C8B-B14F-4D97-AF65-F5344CB8AC3E}">
        <p14:creationId xmlns:p14="http://schemas.microsoft.com/office/powerpoint/2010/main" val="199927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B96973-5DF5-98BB-452B-39952F5BA18F}"/>
              </a:ext>
            </a:extLst>
          </p:cNvPr>
          <p:cNvSpPr/>
          <p:nvPr/>
        </p:nvSpPr>
        <p:spPr>
          <a:xfrm>
            <a:off x="-4266" y="1347596"/>
            <a:ext cx="12192000" cy="151854"/>
          </a:xfrm>
          <a:prstGeom prst="rect">
            <a:avLst/>
          </a:prstGeom>
          <a:solidFill>
            <a:srgbClr val="FFB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2DA4DD2-FE69-DC6E-7155-D93619DB75A1}"/>
              </a:ext>
            </a:extLst>
          </p:cNvPr>
          <p:cNvSpPr/>
          <p:nvPr/>
        </p:nvSpPr>
        <p:spPr>
          <a:xfrm>
            <a:off x="0" y="0"/>
            <a:ext cx="12192000" cy="1347595"/>
          </a:xfrm>
          <a:prstGeom prst="rect">
            <a:avLst/>
          </a:prstGeom>
          <a:solidFill>
            <a:srgbClr val="0057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9832F4AB-EFA6-16DE-E0B1-6B614C83D40B}"/>
              </a:ext>
            </a:extLst>
          </p:cNvPr>
          <p:cNvSpPr/>
          <p:nvPr/>
        </p:nvSpPr>
        <p:spPr>
          <a:xfrm>
            <a:off x="0" y="1344811"/>
            <a:ext cx="12192000" cy="199764"/>
          </a:xfrm>
          <a:prstGeom prst="rect">
            <a:avLst/>
          </a:prstGeom>
          <a:solidFill>
            <a:srgbClr val="FFD10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4">
            <a:extLst>
              <a:ext uri="{FF2B5EF4-FFF2-40B4-BE49-F238E27FC236}">
                <a16:creationId xmlns:a16="http://schemas.microsoft.com/office/drawing/2014/main" id="{2F6AF88E-27D0-0CA8-A2B9-2E01B721D406}"/>
              </a:ext>
            </a:extLst>
          </p:cNvPr>
          <p:cNvSpPr txBox="1">
            <a:spLocks noChangeArrowheads="1"/>
          </p:cNvSpPr>
          <p:nvPr/>
        </p:nvSpPr>
        <p:spPr>
          <a:xfrm>
            <a:off x="441251" y="402541"/>
            <a:ext cx="9474274" cy="923925"/>
          </a:xfrm>
          <a:prstGeom prst="rect">
            <a:avLst/>
          </a:prstGeom>
        </p:spPr>
        <p:txBody>
          <a:bodyPr vert="horz" lIns="91440" tIns="45720" rIns="91440" bIns="45720" rtlCol="0" anchor="b">
            <a:noAutofit/>
          </a:bodyPr>
          <a:lstStyle>
            <a:defPPr>
              <a:defRPr lang="en-US"/>
            </a:defPPr>
            <a:lvl1pPr algn="r">
              <a:lnSpc>
                <a:spcPct val="90000"/>
              </a:lnSpc>
              <a:spcBef>
                <a:spcPct val="0"/>
              </a:spcBef>
              <a:buNone/>
              <a:defRPr sz="4400" b="1">
                <a:latin typeface="Gisha" panose="020B0502040204020203" pitchFamily="34" charset="-79"/>
                <a:ea typeface="+mj-ea"/>
                <a:cs typeface="Gisha" panose="020B0502040204020203" pitchFamily="34" charset="-79"/>
              </a:defRPr>
            </a:lvl1pPr>
          </a:lstStyle>
          <a:p>
            <a:pPr algn="l"/>
            <a:endParaRPr lang="en-US" altLang="en-US" sz="8000" dirty="0">
              <a:solidFill>
                <a:schemeClr val="bg2"/>
              </a:solidFill>
              <a:latin typeface="Tondu Beta" pitchFamily="2" charset="0"/>
            </a:endParaRPr>
          </a:p>
        </p:txBody>
      </p:sp>
      <p:pic>
        <p:nvPicPr>
          <p:cNvPr id="5" name="Picture 4">
            <a:extLst>
              <a:ext uri="{FF2B5EF4-FFF2-40B4-BE49-F238E27FC236}">
                <a16:creationId xmlns:a16="http://schemas.microsoft.com/office/drawing/2014/main" id="{4AFFF042-732B-2EB2-3CBE-A2752862DE5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18989" y="3416365"/>
            <a:ext cx="5353099" cy="3234164"/>
          </a:xfrm>
          <a:prstGeom prst="rect">
            <a:avLst/>
          </a:prstGeom>
          <a:noFill/>
          <a:ln>
            <a:noFill/>
          </a:ln>
        </p:spPr>
      </p:pic>
      <p:pic>
        <p:nvPicPr>
          <p:cNvPr id="7" name="Picture 6">
            <a:extLst>
              <a:ext uri="{FF2B5EF4-FFF2-40B4-BE49-F238E27FC236}">
                <a16:creationId xmlns:a16="http://schemas.microsoft.com/office/drawing/2014/main" id="{E812D01E-1F50-03EA-D037-A72E21DCFF23}"/>
              </a:ext>
            </a:extLst>
          </p:cNvPr>
          <p:cNvPicPr/>
          <p:nvPr/>
        </p:nvPicPr>
        <p:blipFill>
          <a:blip r:embed="rId4">
            <a:extLst>
              <a:ext uri="{28A0092B-C50C-407E-A947-70E740481C1C}">
                <a14:useLocalDpi xmlns:a14="http://schemas.microsoft.com/office/drawing/2010/main" val="0"/>
              </a:ext>
            </a:extLst>
          </a:blip>
          <a:stretch>
            <a:fillRect/>
          </a:stretch>
        </p:blipFill>
        <p:spPr>
          <a:xfrm>
            <a:off x="6270086" y="1768517"/>
            <a:ext cx="5146588" cy="2531554"/>
          </a:xfrm>
          <a:prstGeom prst="rect">
            <a:avLst/>
          </a:prstGeom>
          <a:ln>
            <a:solidFill>
              <a:schemeClr val="bg2">
                <a:lumMod val="75000"/>
              </a:schemeClr>
            </a:solidFill>
          </a:ln>
        </p:spPr>
      </p:pic>
      <p:sp>
        <p:nvSpPr>
          <p:cNvPr id="9" name="TextBox 8">
            <a:extLst>
              <a:ext uri="{FF2B5EF4-FFF2-40B4-BE49-F238E27FC236}">
                <a16:creationId xmlns:a16="http://schemas.microsoft.com/office/drawing/2014/main" id="{A5221553-F5F4-270F-85D8-7CA0FD5D08CE}"/>
              </a:ext>
            </a:extLst>
          </p:cNvPr>
          <p:cNvSpPr txBox="1"/>
          <p:nvPr/>
        </p:nvSpPr>
        <p:spPr>
          <a:xfrm>
            <a:off x="6428264" y="4520685"/>
            <a:ext cx="4830232" cy="1834156"/>
          </a:xfrm>
          <a:prstGeom prst="rect">
            <a:avLst/>
          </a:prstGeom>
          <a:noFill/>
        </p:spPr>
        <p:txBody>
          <a:bodyPr wrap="square" rtlCol="0">
            <a:spAutoFit/>
          </a:bodyPr>
          <a:lstStyle/>
          <a:p>
            <a:pPr marL="0" marR="0">
              <a:spcBef>
                <a:spcPts val="0"/>
              </a:spcBef>
              <a:spcAft>
                <a:spcPts val="800"/>
              </a:spcAft>
            </a:pPr>
            <a:r>
              <a:rPr lang="en-US" sz="1600" b="1" dirty="0">
                <a:solidFill>
                  <a:srgbClr val="005791"/>
                </a:solidFill>
                <a:effectLst/>
                <a:latin typeface="Poppins Black" panose="00000A00000000000000" pitchFamily="2" charset="0"/>
                <a:ea typeface="Times New Roman" panose="02020603050405020304" pitchFamily="18" charset="0"/>
                <a:cs typeface="Poppins Black" panose="00000A00000000000000" pitchFamily="2" charset="0"/>
              </a:rPr>
              <a:t>Advanced Reporting with Data Retriever </a:t>
            </a:r>
            <a:endParaRPr lang="en-US" sz="1600" dirty="0">
              <a:solidFill>
                <a:srgbClr val="005791"/>
              </a:solidFill>
              <a:effectLst/>
              <a:latin typeface="Poppins Black" panose="00000A00000000000000" pitchFamily="2" charset="0"/>
              <a:ea typeface="Calibri" panose="020F0502020204030204" pitchFamily="34" charset="0"/>
              <a:cs typeface="Poppins Black" panose="00000A00000000000000" pitchFamily="2" charset="0"/>
            </a:endParaRPr>
          </a:p>
          <a:p>
            <a:pPr marL="0" marR="0">
              <a:lnSpc>
                <a:spcPct val="107000"/>
              </a:lnSpc>
              <a:spcBef>
                <a:spcPts val="0"/>
              </a:spcBef>
              <a:spcAft>
                <a:spcPts val="800"/>
              </a:spcAft>
            </a:pPr>
            <a:r>
              <a:rPr lang="en-US" sz="1400" dirty="0">
                <a:effectLst/>
                <a:latin typeface="Poppins Light" panose="00000400000000000000" pitchFamily="2" charset="0"/>
                <a:ea typeface="Calibri" panose="020F0502020204030204" pitchFamily="34" charset="0"/>
                <a:cs typeface="Poppins Light" panose="00000400000000000000" pitchFamily="2" charset="0"/>
              </a:rPr>
              <a:t>Go deeper and get the specific data you want with Data Retriever. Data Retriever makes it easy to select the data you want and quickly view or export to Excel. Additionally, if there is information that you need to access on an ongoing basis, you can create and save templates within Data Retriever.</a:t>
            </a:r>
            <a:endParaRPr lang="en-US" sz="1400" dirty="0">
              <a:latin typeface="Poppins Light" panose="00000400000000000000" pitchFamily="2" charset="0"/>
              <a:cs typeface="Poppins Light" panose="00000400000000000000" pitchFamily="2" charset="0"/>
            </a:endParaRPr>
          </a:p>
        </p:txBody>
      </p:sp>
      <p:sp>
        <p:nvSpPr>
          <p:cNvPr id="10" name="TextBox 9">
            <a:extLst>
              <a:ext uri="{FF2B5EF4-FFF2-40B4-BE49-F238E27FC236}">
                <a16:creationId xmlns:a16="http://schemas.microsoft.com/office/drawing/2014/main" id="{78B7226E-2352-3574-8411-E96930161AF4}"/>
              </a:ext>
            </a:extLst>
          </p:cNvPr>
          <p:cNvSpPr txBox="1"/>
          <p:nvPr/>
        </p:nvSpPr>
        <p:spPr>
          <a:xfrm>
            <a:off x="780422" y="1567200"/>
            <a:ext cx="4830232" cy="1877437"/>
          </a:xfrm>
          <a:prstGeom prst="rect">
            <a:avLst/>
          </a:prstGeom>
          <a:noFill/>
        </p:spPr>
        <p:txBody>
          <a:bodyPr wrap="square" rtlCol="0">
            <a:spAutoFit/>
          </a:bodyPr>
          <a:lstStyle/>
          <a:p>
            <a:pPr marL="0" marR="0">
              <a:lnSpc>
                <a:spcPct val="200000"/>
              </a:lnSpc>
              <a:spcBef>
                <a:spcPts val="0"/>
              </a:spcBef>
              <a:spcAft>
                <a:spcPts val="0"/>
              </a:spcAft>
            </a:pPr>
            <a:r>
              <a:rPr lang="en-US" sz="1600" b="1" dirty="0">
                <a:solidFill>
                  <a:srgbClr val="005791"/>
                </a:solidFill>
                <a:effectLst/>
                <a:latin typeface="Poppins Black" panose="00000A00000000000000" pitchFamily="2" charset="0"/>
                <a:ea typeface="Times New Roman" panose="02020603050405020304" pitchFamily="18" charset="0"/>
                <a:cs typeface="Poppins Black" panose="00000A00000000000000" pitchFamily="2" charset="0"/>
              </a:rPr>
              <a:t>Simple, </a:t>
            </a:r>
            <a:r>
              <a:rPr lang="en-US" sz="1600" b="1" spc="-150" dirty="0">
                <a:solidFill>
                  <a:srgbClr val="005791"/>
                </a:solidFill>
                <a:effectLst/>
                <a:latin typeface="Poppins Black" panose="00000A00000000000000" pitchFamily="2" charset="0"/>
                <a:ea typeface="Times New Roman" panose="02020603050405020304" pitchFamily="18" charset="0"/>
                <a:cs typeface="Poppins Black" panose="00000A00000000000000" pitchFamily="2" charset="0"/>
              </a:rPr>
              <a:t>Y</a:t>
            </a:r>
            <a:r>
              <a:rPr lang="en-US" sz="1600" b="1" dirty="0">
                <a:solidFill>
                  <a:srgbClr val="005791"/>
                </a:solidFill>
                <a:effectLst/>
                <a:latin typeface="Poppins Black" panose="00000A00000000000000" pitchFamily="2" charset="0"/>
                <a:ea typeface="Times New Roman" panose="02020603050405020304" pitchFamily="18" charset="0"/>
                <a:cs typeface="Poppins Black" panose="00000A00000000000000" pitchFamily="2" charset="0"/>
              </a:rPr>
              <a:t>et Powerful Reporting</a:t>
            </a:r>
            <a:endParaRPr lang="en-US" sz="1600" dirty="0">
              <a:solidFill>
                <a:srgbClr val="005791"/>
              </a:solidFill>
              <a:effectLst/>
              <a:latin typeface="Poppins Black" panose="00000A00000000000000" pitchFamily="2" charset="0"/>
              <a:ea typeface="Calibri" panose="020F0502020204030204" pitchFamily="34" charset="0"/>
              <a:cs typeface="Poppins Black" panose="00000A00000000000000" pitchFamily="2" charset="0"/>
            </a:endParaRPr>
          </a:p>
          <a:p>
            <a:pPr marL="0" marR="0">
              <a:spcBef>
                <a:spcPts val="0"/>
              </a:spcBef>
              <a:spcAft>
                <a:spcPts val="0"/>
              </a:spcAft>
            </a:pPr>
            <a:r>
              <a:rPr lang="en-US" sz="1400" dirty="0">
                <a:effectLst/>
                <a:latin typeface="Poppins Light" panose="00000400000000000000" pitchFamily="2" charset="0"/>
                <a:ea typeface="Calibri" panose="020F0502020204030204" pitchFamily="34" charset="0"/>
                <a:cs typeface="Poppins Light" panose="00000400000000000000" pitchFamily="2" charset="0"/>
              </a:rPr>
              <a:t>Using a simple and easy-to-use dashboard, you can search to quickly find any report you need and add frequently-used reports to the “favorites” menu for faster access. Pre-built reports let you quickly access payroll, HR and employee data that can be filtered using a wide range of parameters.</a:t>
            </a:r>
          </a:p>
        </p:txBody>
      </p:sp>
      <p:pic>
        <p:nvPicPr>
          <p:cNvPr id="12" name="Picture 11">
            <a:extLst>
              <a:ext uri="{FF2B5EF4-FFF2-40B4-BE49-F238E27FC236}">
                <a16:creationId xmlns:a16="http://schemas.microsoft.com/office/drawing/2014/main" id="{600ACC49-668B-57BB-175F-9C62EFC26A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3736" y="34206"/>
            <a:ext cx="11231903" cy="1350267"/>
          </a:xfrm>
          <a:prstGeom prst="rect">
            <a:avLst/>
          </a:prstGeom>
        </p:spPr>
      </p:pic>
      <p:pic>
        <p:nvPicPr>
          <p:cNvPr id="14" name="Graphic 13">
            <a:extLst>
              <a:ext uri="{FF2B5EF4-FFF2-40B4-BE49-F238E27FC236}">
                <a16:creationId xmlns:a16="http://schemas.microsoft.com/office/drawing/2014/main" id="{A25F0FAC-EE1B-F68A-4200-32E047B37FE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24683" y="6514945"/>
            <a:ext cx="1774506" cy="260163"/>
          </a:xfrm>
          <a:prstGeom prst="rect">
            <a:avLst/>
          </a:prstGeom>
        </p:spPr>
      </p:pic>
    </p:spTree>
    <p:extLst>
      <p:ext uri="{BB962C8B-B14F-4D97-AF65-F5344CB8AC3E}">
        <p14:creationId xmlns:p14="http://schemas.microsoft.com/office/powerpoint/2010/main" val="809941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01;p45">
            <a:extLst>
              <a:ext uri="{FF2B5EF4-FFF2-40B4-BE49-F238E27FC236}">
                <a16:creationId xmlns:a16="http://schemas.microsoft.com/office/drawing/2014/main" id="{E1FCD8E1-D893-7896-40AB-F51B438C9514}"/>
              </a:ext>
            </a:extLst>
          </p:cNvPr>
          <p:cNvSpPr/>
          <p:nvPr/>
        </p:nvSpPr>
        <p:spPr>
          <a:xfrm>
            <a:off x="333061" y="-1"/>
            <a:ext cx="1264381" cy="6858001"/>
          </a:xfrm>
          <a:prstGeom prst="rect">
            <a:avLst/>
          </a:prstGeom>
          <a:solidFill>
            <a:srgbClr val="63ADF2"/>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sp>
        <p:nvSpPr>
          <p:cNvPr id="8" name="TextBox 7">
            <a:extLst>
              <a:ext uri="{FF2B5EF4-FFF2-40B4-BE49-F238E27FC236}">
                <a16:creationId xmlns:a16="http://schemas.microsoft.com/office/drawing/2014/main" id="{D12E8B22-3849-542B-C054-E80501DEA1D4}"/>
              </a:ext>
            </a:extLst>
          </p:cNvPr>
          <p:cNvSpPr txBox="1"/>
          <p:nvPr/>
        </p:nvSpPr>
        <p:spPr>
          <a:xfrm>
            <a:off x="2346493" y="1623024"/>
            <a:ext cx="9334186" cy="615553"/>
          </a:xfrm>
          <a:prstGeom prst="rect">
            <a:avLst/>
          </a:prstGeom>
          <a:noFill/>
        </p:spPr>
        <p:txBody>
          <a:bodyPr wrap="square">
            <a:spAutoFit/>
          </a:bodyPr>
          <a:lstStyle/>
          <a:p>
            <a:pPr>
              <a:buNone/>
            </a:pPr>
            <a:r>
              <a:rPr lang="en-US" sz="1700" dirty="0">
                <a:latin typeface="Poppins Medium" panose="00000600000000000000" pitchFamily="2" charset="0"/>
                <a:cs typeface="Poppins Medium" panose="00000600000000000000" pitchFamily="2" charset="0"/>
              </a:rPr>
              <a:t>By joining the Galactic Employer Services 401(k) Plan, you can provide an outstanding retirement plan, help save money and spend less time administering it. </a:t>
            </a:r>
          </a:p>
        </p:txBody>
      </p:sp>
      <p:sp>
        <p:nvSpPr>
          <p:cNvPr id="9" name="Rectangle 8">
            <a:extLst>
              <a:ext uri="{FF2B5EF4-FFF2-40B4-BE49-F238E27FC236}">
                <a16:creationId xmlns:a16="http://schemas.microsoft.com/office/drawing/2014/main" id="{52B9A534-0985-A663-F92D-6C98A1C19582}"/>
              </a:ext>
            </a:extLst>
          </p:cNvPr>
          <p:cNvSpPr/>
          <p:nvPr/>
        </p:nvSpPr>
        <p:spPr>
          <a:xfrm>
            <a:off x="1930817" y="2606976"/>
            <a:ext cx="3949591" cy="3669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000" dirty="0">
                <a:solidFill>
                  <a:srgbClr val="005791"/>
                </a:solidFill>
                <a:latin typeface="Poppins Black" panose="00000A00000000000000" pitchFamily="2" charset="0"/>
                <a:cs typeface="Poppins Black" panose="00000A00000000000000" pitchFamily="2" charset="0"/>
              </a:rPr>
              <a:t>Member Benefits</a:t>
            </a:r>
          </a:p>
          <a:p>
            <a:pPr marL="285750" indent="-285750">
              <a:lnSpc>
                <a:spcPct val="200000"/>
              </a:lnSpc>
              <a:buFont typeface="Arial" panose="020B0604020202020204" pitchFamily="34" charset="0"/>
              <a:buChar char="•"/>
            </a:pPr>
            <a:r>
              <a:rPr lang="en-US" sz="1200" dirty="0">
                <a:solidFill>
                  <a:srgbClr val="000000"/>
                </a:solidFill>
                <a:latin typeface="Poppins Light" panose="00000400000000000000" pitchFamily="2" charset="0"/>
                <a:cs typeface="Poppins Light" panose="00000400000000000000" pitchFamily="2" charset="0"/>
              </a:rPr>
              <a:t>No annual audit</a:t>
            </a:r>
          </a:p>
          <a:p>
            <a:pPr marL="285750" indent="-285750">
              <a:lnSpc>
                <a:spcPct val="200000"/>
              </a:lnSpc>
              <a:buFont typeface="Arial" panose="020B0604020202020204" pitchFamily="34" charset="0"/>
              <a:buChar char="•"/>
            </a:pPr>
            <a:r>
              <a:rPr lang="en-US" sz="1200" dirty="0">
                <a:solidFill>
                  <a:srgbClr val="000000"/>
                </a:solidFill>
                <a:latin typeface="Poppins Light" panose="00000400000000000000" pitchFamily="2" charset="0"/>
                <a:cs typeface="Poppins Light" panose="00000400000000000000" pitchFamily="2" charset="0"/>
              </a:rPr>
              <a:t>Cost savings on the investments</a:t>
            </a:r>
          </a:p>
          <a:p>
            <a:pPr marL="285750" indent="-285750">
              <a:lnSpc>
                <a:spcPct val="200000"/>
              </a:lnSpc>
              <a:buFont typeface="Arial" panose="020B0604020202020204" pitchFamily="34" charset="0"/>
              <a:buChar char="•"/>
            </a:pPr>
            <a:r>
              <a:rPr lang="en-US" sz="1200" dirty="0">
                <a:solidFill>
                  <a:srgbClr val="000000"/>
                </a:solidFill>
                <a:latin typeface="Poppins Light" panose="00000400000000000000" pitchFamily="2" charset="0"/>
                <a:cs typeface="Poppins Light" panose="00000400000000000000" pitchFamily="2" charset="0"/>
              </a:rPr>
              <a:t>No individual Form 5500 reporting</a:t>
            </a:r>
          </a:p>
          <a:p>
            <a:pPr marL="285750" indent="-285750">
              <a:lnSpc>
                <a:spcPct val="200000"/>
              </a:lnSpc>
              <a:buFont typeface="Arial" panose="020B0604020202020204" pitchFamily="34" charset="0"/>
              <a:buChar char="•"/>
            </a:pPr>
            <a:r>
              <a:rPr lang="en-US" sz="1200" dirty="0">
                <a:solidFill>
                  <a:srgbClr val="000000"/>
                </a:solidFill>
                <a:latin typeface="Poppins Light" panose="00000400000000000000" pitchFamily="2" charset="0"/>
                <a:cs typeface="Poppins Light" panose="00000400000000000000" pitchFamily="2" charset="0"/>
              </a:rPr>
              <a:t>Minimal plan maintenance</a:t>
            </a:r>
          </a:p>
          <a:p>
            <a:pPr marL="285750" indent="-285750">
              <a:lnSpc>
                <a:spcPct val="200000"/>
              </a:lnSpc>
              <a:buFont typeface="Arial" panose="020B0604020202020204" pitchFamily="34" charset="0"/>
              <a:buChar char="•"/>
            </a:pPr>
            <a:r>
              <a:rPr lang="en-US" sz="1200" dirty="0">
                <a:solidFill>
                  <a:srgbClr val="000000"/>
                </a:solidFill>
                <a:latin typeface="Poppins Light" panose="00000400000000000000" pitchFamily="2" charset="0"/>
                <a:cs typeface="Poppins Light" panose="00000400000000000000" pitchFamily="2" charset="0"/>
              </a:rPr>
              <a:t>Flexible plan features, including safe harbor, Roth, and profit sharing</a:t>
            </a:r>
          </a:p>
          <a:p>
            <a:pPr marL="285750" indent="-285750">
              <a:lnSpc>
                <a:spcPct val="200000"/>
              </a:lnSpc>
              <a:buFont typeface="Arial" panose="020B0604020202020204" pitchFamily="34" charset="0"/>
              <a:buChar char="•"/>
            </a:pPr>
            <a:r>
              <a:rPr lang="en-US" sz="1200" dirty="0">
                <a:solidFill>
                  <a:srgbClr val="000000"/>
                </a:solidFill>
                <a:latin typeface="Poppins Light" panose="00000400000000000000" pitchFamily="2" charset="0"/>
                <a:cs typeface="Poppins Light" panose="00000400000000000000" pitchFamily="2" charset="0"/>
              </a:rPr>
              <a:t>Customizable 401(k) plan design options involving eligibility, matches, vesting schedules, and more</a:t>
            </a:r>
          </a:p>
          <a:p>
            <a:endParaRPr lang="en-US" dirty="0">
              <a:solidFill>
                <a:srgbClr val="005791"/>
              </a:solidFill>
              <a:latin typeface="Poppins Light" panose="00000400000000000000" pitchFamily="2" charset="0"/>
              <a:cs typeface="Poppins Light" panose="00000400000000000000" pitchFamily="2" charset="0"/>
            </a:endParaRPr>
          </a:p>
        </p:txBody>
      </p:sp>
      <p:sp>
        <p:nvSpPr>
          <p:cNvPr id="10" name="TextBox 9">
            <a:extLst>
              <a:ext uri="{FF2B5EF4-FFF2-40B4-BE49-F238E27FC236}">
                <a16:creationId xmlns:a16="http://schemas.microsoft.com/office/drawing/2014/main" id="{1C66DDCF-AB45-9370-AB7E-02AD58849681}"/>
              </a:ext>
            </a:extLst>
          </p:cNvPr>
          <p:cNvSpPr txBox="1"/>
          <p:nvPr/>
        </p:nvSpPr>
        <p:spPr>
          <a:xfrm>
            <a:off x="7739618" y="976447"/>
            <a:ext cx="2333789" cy="400110"/>
          </a:xfrm>
          <a:prstGeom prst="rect">
            <a:avLst/>
          </a:prstGeom>
          <a:noFill/>
        </p:spPr>
        <p:txBody>
          <a:bodyPr wrap="square" rtlCol="0">
            <a:spAutoFit/>
          </a:bodyPr>
          <a:lstStyle/>
          <a:p>
            <a:r>
              <a:rPr lang="en-US" sz="2000" dirty="0">
                <a:latin typeface="Poppins" panose="00000500000000000000" pitchFamily="2" charset="0"/>
                <a:cs typeface="Poppins" panose="00000500000000000000" pitchFamily="2" charset="0"/>
              </a:rPr>
              <a:t>Partnered with:</a:t>
            </a:r>
          </a:p>
        </p:txBody>
      </p:sp>
      <p:sp>
        <p:nvSpPr>
          <p:cNvPr id="17" name="Rectangle 16">
            <a:extLst>
              <a:ext uri="{FF2B5EF4-FFF2-40B4-BE49-F238E27FC236}">
                <a16:creationId xmlns:a16="http://schemas.microsoft.com/office/drawing/2014/main" id="{0DE03F64-9E32-829E-AA95-40A18DB03D35}"/>
              </a:ext>
            </a:extLst>
          </p:cNvPr>
          <p:cNvSpPr/>
          <p:nvPr/>
        </p:nvSpPr>
        <p:spPr>
          <a:xfrm rot="5400000">
            <a:off x="-557063" y="842288"/>
            <a:ext cx="1321141" cy="55664"/>
          </a:xfrm>
          <a:prstGeom prst="rect">
            <a:avLst/>
          </a:prstGeom>
          <a:solidFill>
            <a:srgbClr val="0057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540955-45FD-F28F-EE12-217C20536EA7}"/>
              </a:ext>
            </a:extLst>
          </p:cNvPr>
          <p:cNvSpPr/>
          <p:nvPr/>
        </p:nvSpPr>
        <p:spPr>
          <a:xfrm rot="5400000">
            <a:off x="418082" y="870120"/>
            <a:ext cx="1321141" cy="104775"/>
          </a:xfrm>
          <a:prstGeom prst="rect">
            <a:avLst/>
          </a:prstGeom>
          <a:solidFill>
            <a:srgbClr val="0057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9D00E73-C5A9-21A4-116E-8B5315F1BFA0}"/>
              </a:ext>
            </a:extLst>
          </p:cNvPr>
          <p:cNvSpPr txBox="1"/>
          <p:nvPr/>
        </p:nvSpPr>
        <p:spPr>
          <a:xfrm>
            <a:off x="6894721" y="2876702"/>
            <a:ext cx="5097255" cy="3482492"/>
          </a:xfrm>
          <a:prstGeom prst="rect">
            <a:avLst/>
          </a:prstGeom>
          <a:noFill/>
        </p:spPr>
        <p:txBody>
          <a:bodyPr wrap="square" rtlCol="0">
            <a:spAutoFit/>
          </a:bodyPr>
          <a:lstStyle/>
          <a:p>
            <a:pPr>
              <a:lnSpc>
                <a:spcPct val="150000"/>
              </a:lnSpc>
            </a:pPr>
            <a:r>
              <a:rPr lang="en-US" sz="1200" dirty="0">
                <a:latin typeface="Poppins Light" panose="00000400000000000000" pitchFamily="2" charset="0"/>
                <a:cs typeface="Poppins Light" panose="00000400000000000000" pitchFamily="2" charset="0"/>
              </a:rPr>
              <a:t>By participating in the Galactic Employer Services 401(k) Plan, virtually all administrative tasks can be offloaded from you                  to                 and Galactic Employer Services. </a:t>
            </a:r>
          </a:p>
          <a:p>
            <a:pPr>
              <a:lnSpc>
                <a:spcPct val="150000"/>
              </a:lnSpc>
            </a:pPr>
            <a:endParaRPr lang="en-US" sz="1200" dirty="0">
              <a:latin typeface="Poppins Light" panose="00000400000000000000" pitchFamily="2" charset="0"/>
              <a:cs typeface="Poppins Light" panose="00000400000000000000" pitchFamily="2" charset="0"/>
            </a:endParaRPr>
          </a:p>
          <a:p>
            <a:r>
              <a:rPr lang="en-US" sz="1200" dirty="0">
                <a:latin typeface="Poppins Light" panose="00000400000000000000" pitchFamily="2" charset="0"/>
                <a:cs typeface="Poppins Light" panose="00000400000000000000" pitchFamily="2" charset="0"/>
              </a:rPr>
              <a:t>Tasks that can be shifted may include: </a:t>
            </a:r>
          </a:p>
          <a:p>
            <a:endParaRPr lang="en-US" sz="1200" dirty="0">
              <a:latin typeface="Poppins Light" panose="00000400000000000000" pitchFamily="2" charset="0"/>
              <a:cs typeface="Poppins Light" panose="00000400000000000000" pitchFamily="2" charset="0"/>
            </a:endParaRPr>
          </a:p>
          <a:p>
            <a:pPr marL="742950" lvl="1" indent="-285750">
              <a:lnSpc>
                <a:spcPct val="150000"/>
              </a:lnSpc>
              <a:buFont typeface="Arial" panose="020B0604020202020204" pitchFamily="34" charset="0"/>
              <a:buChar char="•"/>
            </a:pPr>
            <a:r>
              <a:rPr lang="en-US" sz="1200" dirty="0">
                <a:latin typeface="Poppins Light" panose="00000400000000000000" pitchFamily="2" charset="0"/>
                <a:cs typeface="Poppins Light" panose="00000400000000000000" pitchFamily="2" charset="0"/>
              </a:rPr>
              <a:t>Administrative responsibilities</a:t>
            </a:r>
          </a:p>
          <a:p>
            <a:pPr marL="742950" lvl="1" indent="-285750">
              <a:lnSpc>
                <a:spcPct val="150000"/>
              </a:lnSpc>
              <a:buFont typeface="Arial" panose="020B0604020202020204" pitchFamily="34" charset="0"/>
              <a:buChar char="•"/>
            </a:pPr>
            <a:r>
              <a:rPr lang="en-US" sz="1200" dirty="0">
                <a:latin typeface="Poppins Light" panose="00000400000000000000" pitchFamily="2" charset="0"/>
                <a:cs typeface="Poppins Light" panose="00000400000000000000" pitchFamily="2" charset="0"/>
              </a:rPr>
              <a:t>Employee eligibility tracking</a:t>
            </a:r>
          </a:p>
          <a:p>
            <a:pPr marL="742950" lvl="1" indent="-285750">
              <a:lnSpc>
                <a:spcPct val="150000"/>
              </a:lnSpc>
              <a:buFont typeface="Arial" panose="020B0604020202020204" pitchFamily="34" charset="0"/>
              <a:buChar char="•"/>
            </a:pPr>
            <a:r>
              <a:rPr lang="en-US" sz="1200" dirty="0">
                <a:latin typeface="Poppins Light" panose="00000400000000000000" pitchFamily="2" charset="0"/>
                <a:cs typeface="Poppins Light" panose="00000400000000000000" pitchFamily="2" charset="0"/>
              </a:rPr>
              <a:t>Distribution processing</a:t>
            </a:r>
          </a:p>
          <a:p>
            <a:pPr marL="742950" lvl="1" indent="-285750">
              <a:lnSpc>
                <a:spcPct val="150000"/>
              </a:lnSpc>
              <a:buFont typeface="Arial" panose="020B0604020202020204" pitchFamily="34" charset="0"/>
              <a:buChar char="•"/>
            </a:pPr>
            <a:r>
              <a:rPr lang="en-US" sz="1200" dirty="0">
                <a:latin typeface="Poppins Light" panose="00000400000000000000" pitchFamily="2" charset="0"/>
                <a:cs typeface="Poppins Light" panose="00000400000000000000" pitchFamily="2" charset="0"/>
              </a:rPr>
              <a:t>Plan compliance</a:t>
            </a:r>
          </a:p>
          <a:p>
            <a:pPr marL="742950" lvl="1" indent="-285750">
              <a:lnSpc>
                <a:spcPct val="150000"/>
              </a:lnSpc>
              <a:buFont typeface="Arial" panose="020B0604020202020204" pitchFamily="34" charset="0"/>
              <a:buChar char="•"/>
            </a:pPr>
            <a:r>
              <a:rPr lang="en-US" sz="1200" dirty="0">
                <a:latin typeface="Poppins Light" panose="00000400000000000000" pitchFamily="2" charset="0"/>
                <a:cs typeface="Poppins Light" panose="00000400000000000000" pitchFamily="2" charset="0"/>
              </a:rPr>
              <a:t>Nondiscrimination testing</a:t>
            </a:r>
          </a:p>
          <a:p>
            <a:pPr marL="742950" lvl="1" indent="-285750">
              <a:lnSpc>
                <a:spcPct val="150000"/>
              </a:lnSpc>
              <a:buFont typeface="Arial" panose="020B0604020202020204" pitchFamily="34" charset="0"/>
              <a:buChar char="•"/>
            </a:pPr>
            <a:r>
              <a:rPr lang="en-US" sz="1200" dirty="0">
                <a:latin typeface="Poppins Light" panose="00000400000000000000" pitchFamily="2" charset="0"/>
                <a:cs typeface="Poppins Light" panose="00000400000000000000" pitchFamily="2" charset="0"/>
              </a:rPr>
              <a:t>Annual reporting</a:t>
            </a:r>
          </a:p>
          <a:p>
            <a:pPr marL="742950" lvl="1" indent="-285750">
              <a:lnSpc>
                <a:spcPct val="150000"/>
              </a:lnSpc>
              <a:buFont typeface="Arial" panose="020B0604020202020204" pitchFamily="34" charset="0"/>
              <a:buChar char="•"/>
            </a:pPr>
            <a:r>
              <a:rPr lang="en-US" sz="1200" dirty="0">
                <a:latin typeface="Poppins Light" panose="00000400000000000000" pitchFamily="2" charset="0"/>
                <a:cs typeface="Poppins Light" panose="00000400000000000000" pitchFamily="2" charset="0"/>
              </a:rPr>
              <a:t>Participant enrollment/education</a:t>
            </a:r>
          </a:p>
        </p:txBody>
      </p:sp>
      <p:pic>
        <p:nvPicPr>
          <p:cNvPr id="23" name="Graphic 22">
            <a:extLst>
              <a:ext uri="{FF2B5EF4-FFF2-40B4-BE49-F238E27FC236}">
                <a16:creationId xmlns:a16="http://schemas.microsoft.com/office/drawing/2014/main" id="{42126A12-45A8-EAD2-4D4F-2F7F109850D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25701" y="3286269"/>
            <a:ext cx="758617" cy="758617"/>
          </a:xfrm>
          <a:prstGeom prst="rect">
            <a:avLst/>
          </a:prstGeom>
        </p:spPr>
      </p:pic>
      <p:sp>
        <p:nvSpPr>
          <p:cNvPr id="4" name="Google Shape;301;p45">
            <a:extLst>
              <a:ext uri="{FF2B5EF4-FFF2-40B4-BE49-F238E27FC236}">
                <a16:creationId xmlns:a16="http://schemas.microsoft.com/office/drawing/2014/main" id="{402F0831-3865-5316-2465-A3205BE63540}"/>
              </a:ext>
            </a:extLst>
          </p:cNvPr>
          <p:cNvSpPr/>
          <p:nvPr/>
        </p:nvSpPr>
        <p:spPr>
          <a:xfrm>
            <a:off x="-314" y="134"/>
            <a:ext cx="1148498" cy="6874044"/>
          </a:xfrm>
          <a:prstGeom prst="rect">
            <a:avLst/>
          </a:prstGeom>
          <a:solidFill>
            <a:srgbClr val="005791"/>
          </a:solidFill>
          <a:ln>
            <a:noFill/>
          </a:ln>
          <a:effectLst/>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spcBef>
                <a:spcPts val="0"/>
              </a:spcBef>
              <a:spcAft>
                <a:spcPts val="0"/>
              </a:spcAft>
              <a:buNone/>
            </a:pPr>
            <a:endParaRPr sz="1400">
              <a:solidFill>
                <a:schemeClr val="lt1"/>
              </a:solidFill>
              <a:latin typeface="Poppins"/>
              <a:ea typeface="Poppins"/>
              <a:cs typeface="Poppins"/>
              <a:sym typeface="Poppins"/>
            </a:endParaRPr>
          </a:p>
        </p:txBody>
      </p:sp>
      <p:pic>
        <p:nvPicPr>
          <p:cNvPr id="1026" name="Picture 2" descr="Voya Financial announces fourth-quarter and full-year 2024 ...">
            <a:extLst>
              <a:ext uri="{FF2B5EF4-FFF2-40B4-BE49-F238E27FC236}">
                <a16:creationId xmlns:a16="http://schemas.microsoft.com/office/drawing/2014/main" id="{0F16EA1E-B11B-BAB4-64D6-8452B7229B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08" t="9456" r="6089" b="10539"/>
          <a:stretch/>
        </p:blipFill>
        <p:spPr bwMode="auto">
          <a:xfrm>
            <a:off x="9745492" y="915138"/>
            <a:ext cx="1337245" cy="61555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ACEFD46-1F06-EF04-366D-A736D11CE9A9}"/>
              </a:ext>
            </a:extLst>
          </p:cNvPr>
          <p:cNvSpPr txBox="1"/>
          <p:nvPr/>
        </p:nvSpPr>
        <p:spPr>
          <a:xfrm>
            <a:off x="6212820" y="2369629"/>
            <a:ext cx="6097508" cy="510396"/>
          </a:xfrm>
          <a:prstGeom prst="rect">
            <a:avLst/>
          </a:prstGeom>
          <a:noFill/>
        </p:spPr>
        <p:txBody>
          <a:bodyPr wrap="square">
            <a:spAutoFit/>
          </a:bodyPr>
          <a:lstStyle/>
          <a:p>
            <a:pPr algn="ctr">
              <a:lnSpc>
                <a:spcPct val="150000"/>
              </a:lnSpc>
            </a:pPr>
            <a:r>
              <a:rPr lang="en-US" sz="2000" dirty="0">
                <a:solidFill>
                  <a:srgbClr val="005791"/>
                </a:solidFill>
                <a:latin typeface="Poppins Black" panose="00000A00000000000000" pitchFamily="2" charset="0"/>
                <a:cs typeface="Poppins Black" panose="00000A00000000000000" pitchFamily="2" charset="0"/>
              </a:rPr>
              <a:t>Let us Handle the Paperwork For You</a:t>
            </a:r>
          </a:p>
        </p:txBody>
      </p:sp>
      <p:pic>
        <p:nvPicPr>
          <p:cNvPr id="12" name="Picture 11">
            <a:extLst>
              <a:ext uri="{FF2B5EF4-FFF2-40B4-BE49-F238E27FC236}">
                <a16:creationId xmlns:a16="http://schemas.microsoft.com/office/drawing/2014/main" id="{4D3882C1-2BEC-8634-F4E7-2FA97B4729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4173" y="-56022"/>
            <a:ext cx="11231903" cy="1350267"/>
          </a:xfrm>
          <a:prstGeom prst="rect">
            <a:avLst/>
          </a:prstGeom>
        </p:spPr>
      </p:pic>
      <p:pic>
        <p:nvPicPr>
          <p:cNvPr id="13" name="Graphic 12">
            <a:extLst>
              <a:ext uri="{FF2B5EF4-FFF2-40B4-BE49-F238E27FC236}">
                <a16:creationId xmlns:a16="http://schemas.microsoft.com/office/drawing/2014/main" id="{2E0DAAA8-C4B4-CAB0-26BA-8B8730DAF14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24683" y="6514945"/>
            <a:ext cx="1774506" cy="260163"/>
          </a:xfrm>
          <a:prstGeom prst="rect">
            <a:avLst/>
          </a:prstGeom>
        </p:spPr>
      </p:pic>
    </p:spTree>
    <p:extLst>
      <p:ext uri="{BB962C8B-B14F-4D97-AF65-F5344CB8AC3E}">
        <p14:creationId xmlns:p14="http://schemas.microsoft.com/office/powerpoint/2010/main" val="636440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C10034E7-97A1-07B8-AD7A-FD925549D2FC}"/>
              </a:ext>
            </a:extLst>
          </p:cNvPr>
          <p:cNvSpPr/>
          <p:nvPr/>
        </p:nvSpPr>
        <p:spPr>
          <a:xfrm>
            <a:off x="0" y="0"/>
            <a:ext cx="12192000" cy="1758411"/>
          </a:xfrm>
          <a:prstGeom prst="rect">
            <a:avLst/>
          </a:prstGeom>
          <a:solidFill>
            <a:srgbClr val="00579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BCA44AD9-D82F-45E3-0624-3393AA5D60CA}"/>
              </a:ext>
            </a:extLst>
          </p:cNvPr>
          <p:cNvSpPr/>
          <p:nvPr/>
        </p:nvSpPr>
        <p:spPr>
          <a:xfrm>
            <a:off x="0" y="1574032"/>
            <a:ext cx="12192000" cy="199764"/>
          </a:xfrm>
          <a:prstGeom prst="rect">
            <a:avLst/>
          </a:prstGeom>
          <a:solidFill>
            <a:srgbClr val="FFD10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EF3F4D9-5D0B-1CC9-F1BF-E7D6335DE60B}"/>
              </a:ext>
            </a:extLst>
          </p:cNvPr>
          <p:cNvSpPr/>
          <p:nvPr/>
        </p:nvSpPr>
        <p:spPr>
          <a:xfrm>
            <a:off x="400815" y="1153244"/>
            <a:ext cx="4182262" cy="4182262"/>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8B25BB4C-CEEF-9417-9B46-03A8BE77A3B1}"/>
              </a:ext>
            </a:extLst>
          </p:cNvPr>
          <p:cNvSpPr txBox="1"/>
          <p:nvPr/>
        </p:nvSpPr>
        <p:spPr>
          <a:xfrm>
            <a:off x="4759723" y="1876488"/>
            <a:ext cx="7317262" cy="4728410"/>
          </a:xfrm>
          <a:prstGeom prst="rect">
            <a:avLst/>
          </a:prstGeom>
          <a:noFill/>
        </p:spPr>
        <p:txBody>
          <a:bodyPr wrap="square" rtlCol="0">
            <a:spAutoFit/>
          </a:bodyPr>
          <a:lstStyle/>
          <a:p>
            <a:pPr>
              <a:lnSpc>
                <a:spcPct val="200000"/>
              </a:lnSpc>
            </a:pPr>
            <a:r>
              <a:rPr lang="en-US" sz="1200" b="1" dirty="0">
                <a:solidFill>
                  <a:srgbClr val="005791"/>
                </a:solidFill>
                <a:latin typeface="Poppins" panose="00000500000000000000" pitchFamily="2" charset="0"/>
                <a:ea typeface="Verdana" panose="020B0604030504040204" pitchFamily="34" charset="0"/>
                <a:cs typeface="Poppins" panose="00000500000000000000" pitchFamily="2" charset="0"/>
              </a:rPr>
              <a:t>Number of Employees:</a:t>
            </a:r>
            <a:r>
              <a:rPr lang="en-US" sz="1200" dirty="0">
                <a:solidFill>
                  <a:srgbClr val="005791"/>
                </a:solidFill>
                <a:latin typeface="Poppins" panose="00000500000000000000" pitchFamily="2" charset="0"/>
                <a:ea typeface="Verdana" panose="020B0604030504040204" pitchFamily="34" charset="0"/>
                <a:cs typeface="Poppins" panose="00000500000000000000" pitchFamily="2" charset="0"/>
              </a:rPr>
              <a:t> </a:t>
            </a:r>
            <a:r>
              <a:rPr lang="en-US" sz="1200" dirty="0">
                <a:latin typeface="Poppins" panose="00000500000000000000" pitchFamily="2" charset="0"/>
                <a:ea typeface="Verdana" panose="020B0604030504040204" pitchFamily="34" charset="0"/>
                <a:cs typeface="Poppins" panose="00000500000000000000" pitchFamily="2" charset="0"/>
              </a:rPr>
              <a:t>{{employees_count}}                   </a:t>
            </a:r>
          </a:p>
          <a:p>
            <a:pPr>
              <a:lnSpc>
                <a:spcPct val="150000"/>
              </a:lnSpc>
            </a:pPr>
            <a:r>
              <a:rPr lang="en-US" sz="1200" b="1" dirty="0">
                <a:solidFill>
                  <a:srgbClr val="005791"/>
                </a:solidFill>
                <a:latin typeface="Poppins" panose="00000500000000000000" pitchFamily="2" charset="0"/>
                <a:ea typeface="Verdana" panose="020B0604030504040204" pitchFamily="34" charset="0"/>
                <a:cs typeface="Poppins" panose="00000500000000000000" pitchFamily="2" charset="0"/>
              </a:rPr>
              <a:t>Pay Frequency: </a:t>
            </a:r>
            <a:r>
              <a:rPr lang="en-US" sz="1200" dirty="0">
                <a:latin typeface="Poppins" panose="00000500000000000000" pitchFamily="2" charset="0"/>
                <a:ea typeface="Verdana" panose="020B0604030504040204" pitchFamily="34" charset="0"/>
                <a:cs typeface="Poppins" panose="00000500000000000000" pitchFamily="2" charset="0"/>
              </a:rPr>
              <a:t>Bi-Weekly / Monthly / Quarterly</a:t>
            </a:r>
          </a:p>
          <a:p>
            <a:pPr>
              <a:lnSpc>
                <a:spcPct val="150000"/>
              </a:lnSpc>
            </a:pPr>
            <a:r>
              <a:rPr lang="en-US" sz="1200" b="1" dirty="0">
                <a:solidFill>
                  <a:srgbClr val="005791"/>
                </a:solidFill>
                <a:latin typeface="Poppins" panose="00000500000000000000" pitchFamily="2" charset="0"/>
                <a:ea typeface="Verdana" panose="020B0604030504040204" pitchFamily="34" charset="0"/>
                <a:cs typeface="Poppins" panose="00000500000000000000" pitchFamily="2" charset="0"/>
              </a:rPr>
              <a:t>Initial Setup Fee: </a:t>
            </a:r>
            <a:r>
              <a:rPr lang="en-US" sz="1200" dirty="0">
                <a:latin typeface="Poppins" panose="00000500000000000000" pitchFamily="2" charset="0"/>
                <a:ea typeface="Verdana" panose="020B0604030504040204" pitchFamily="34" charset="0"/>
                <a:cs typeface="Poppins" panose="00000500000000000000" pitchFamily="2" charset="0"/>
              </a:rPr>
              <a:t>{{fees.initial_setup}}</a:t>
            </a:r>
          </a:p>
          <a:p>
            <a:pPr>
              <a:lnSpc>
                <a:spcPct val="150000"/>
              </a:lnSpc>
            </a:pPr>
            <a:r>
              <a:rPr lang="en-US" sz="1200" b="1" dirty="0">
                <a:solidFill>
                  <a:srgbClr val="005791"/>
                </a:solidFill>
                <a:latin typeface="Poppins" panose="00000500000000000000" pitchFamily="2" charset="0"/>
                <a:ea typeface="Verdana" panose="020B0604030504040204" pitchFamily="34" charset="0"/>
                <a:cs typeface="Poppins" panose="00000500000000000000" pitchFamily="2" charset="0"/>
              </a:rPr>
              <a:t>ACA Conversion/Setup: </a:t>
            </a:r>
            <a:r>
              <a:rPr lang="en-US" sz="1200" dirty="0">
                <a:latin typeface="Poppins" panose="00000500000000000000" pitchFamily="2" charset="0"/>
                <a:ea typeface="Verdana" panose="020B0604030504040204" pitchFamily="34" charset="0"/>
                <a:cs typeface="Poppins" panose="00000500000000000000" pitchFamily="2" charset="0"/>
              </a:rPr>
              <a:t>{{fees.aca_setup}}</a:t>
            </a:r>
          </a:p>
          <a:p>
            <a:pPr>
              <a:lnSpc>
                <a:spcPct val="150000"/>
              </a:lnSpc>
            </a:pPr>
            <a:r>
              <a:rPr lang="en-US" sz="1200" b="1" dirty="0">
                <a:solidFill>
                  <a:srgbClr val="005791"/>
                </a:solidFill>
                <a:latin typeface="Poppins" panose="00000500000000000000" pitchFamily="2" charset="0"/>
                <a:ea typeface="Verdana" panose="020B0604030504040204" pitchFamily="34" charset="0"/>
                <a:cs typeface="Poppins" panose="00000500000000000000" pitchFamily="2" charset="0"/>
              </a:rPr>
              <a:t>Time &amp; Attendance: </a:t>
            </a:r>
            <a:r>
              <a:rPr lang="en-US" sz="1200" dirty="0">
                <a:latin typeface="Poppins" panose="00000500000000000000" pitchFamily="2" charset="0"/>
                <a:ea typeface="Verdana" panose="020B0604030504040204" pitchFamily="34" charset="0"/>
                <a:cs typeface="Poppins" panose="00000500000000000000" pitchFamily="2" charset="0"/>
              </a:rPr>
              <a:t>{{fees.time_attendance}}</a:t>
            </a:r>
          </a:p>
          <a:p>
            <a:pPr>
              <a:lnSpc>
                <a:spcPct val="150000"/>
              </a:lnSpc>
            </a:pPr>
            <a:r>
              <a:rPr lang="en-US" sz="1200" b="1" dirty="0">
                <a:solidFill>
                  <a:srgbClr val="005791"/>
                </a:solidFill>
                <a:latin typeface="Poppins" panose="00000500000000000000" pitchFamily="2" charset="0"/>
                <a:ea typeface="Verdana" panose="020B0604030504040204" pitchFamily="34" charset="0"/>
                <a:cs typeface="Poppins" panose="00000500000000000000" pitchFamily="2" charset="0"/>
              </a:rPr>
              <a:t>Workers’ Comp Deposit: </a:t>
            </a:r>
            <a:r>
              <a:rPr lang="en-US" sz="1200" dirty="0">
                <a:latin typeface="Poppins" panose="00000500000000000000" pitchFamily="2" charset="0"/>
                <a:ea typeface="Verdana" panose="020B0604030504040204" pitchFamily="34" charset="0"/>
                <a:cs typeface="Poppins" panose="00000500000000000000" pitchFamily="2" charset="0"/>
              </a:rPr>
              <a:t>{{fees.workers_comp_deposit}}</a:t>
            </a:r>
          </a:p>
          <a:p>
            <a:pPr>
              <a:lnSpc>
                <a:spcPct val="150000"/>
              </a:lnSpc>
            </a:pPr>
            <a:r>
              <a:rPr lang="en-US" sz="1200" b="1" dirty="0">
                <a:solidFill>
                  <a:srgbClr val="005791"/>
                </a:solidFill>
                <a:latin typeface="Poppins" panose="00000500000000000000" pitchFamily="2" charset="0"/>
                <a:ea typeface="Verdana" panose="020B0604030504040204" pitchFamily="34" charset="0"/>
                <a:cs typeface="Poppins" panose="00000500000000000000" pitchFamily="2" charset="0"/>
              </a:rPr>
              <a:t>Galactic Admin Fee: </a:t>
            </a:r>
            <a:r>
              <a:rPr lang="en-US" sz="1200" dirty="0">
                <a:latin typeface="Poppins" panose="00000500000000000000" pitchFamily="2" charset="0"/>
                <a:ea typeface="Verdana" panose="020B0604030504040204" pitchFamily="34" charset="0"/>
                <a:cs typeface="Poppins" panose="00000500000000000000" pitchFamily="2" charset="0"/>
              </a:rPr>
              <a:t>0.80% of Gross Payroll</a:t>
            </a:r>
          </a:p>
          <a:p>
            <a:pPr>
              <a:lnSpc>
                <a:spcPct val="150000"/>
              </a:lnSpc>
            </a:pPr>
            <a:endParaRPr lang="en-US" sz="300" dirty="0">
              <a:latin typeface="Poppins" panose="00000500000000000000" pitchFamily="2" charset="0"/>
              <a:ea typeface="Verdana" panose="020B0604030504040204" pitchFamily="34" charset="0"/>
              <a:cs typeface="Poppins" panose="00000500000000000000" pitchFamily="2" charset="0"/>
            </a:endParaRPr>
          </a:p>
          <a:p>
            <a:pPr>
              <a:lnSpc>
                <a:spcPct val="150000"/>
              </a:lnSpc>
            </a:pPr>
            <a:r>
              <a:rPr lang="en-US" sz="1100" dirty="0">
                <a:latin typeface="Poppins" panose="00000500000000000000" pitchFamily="2" charset="0"/>
                <a:ea typeface="Verdana" panose="020B0604030504040204" pitchFamily="34" charset="0"/>
                <a:cs typeface="Poppins" panose="00000500000000000000" pitchFamily="2" charset="0"/>
              </a:rPr>
              <a:t>Employer Taxes including but not limited to:  **Subject to annual wage limits</a:t>
            </a:r>
          </a:p>
          <a:p>
            <a:pPr lvl="1">
              <a:lnSpc>
                <a:spcPct val="150000"/>
              </a:lnSpc>
            </a:pPr>
            <a:r>
              <a:rPr lang="en-US" sz="1050" dirty="0">
                <a:latin typeface="Poppins" panose="00000500000000000000" pitchFamily="2" charset="0"/>
                <a:ea typeface="Verdana" panose="020B0604030504040204" pitchFamily="34" charset="0"/>
                <a:cs typeface="Poppins" panose="00000500000000000000" pitchFamily="2" charset="0"/>
              </a:rPr>
              <a:t>FICA, Social Security and Medicare </a:t>
            </a:r>
            <a:r>
              <a:rPr lang="en-US" sz="1050" spc="200" dirty="0">
                <a:latin typeface="Poppins" panose="00000500000000000000" pitchFamily="2" charset="0"/>
                <a:ea typeface="Verdana" panose="020B0604030504040204" pitchFamily="34" charset="0"/>
                <a:cs typeface="Poppins" panose="00000500000000000000" pitchFamily="2" charset="0"/>
              </a:rPr>
              <a:t>................................................</a:t>
            </a:r>
            <a:r>
              <a:rPr lang="en-US" sz="1050" spc="300" dirty="0">
                <a:latin typeface="Poppins" panose="00000500000000000000" pitchFamily="2" charset="0"/>
                <a:ea typeface="Verdana" panose="020B0604030504040204" pitchFamily="34" charset="0"/>
                <a:cs typeface="Poppins" panose="00000500000000000000" pitchFamily="2" charset="0"/>
              </a:rPr>
              <a:t>.</a:t>
            </a:r>
            <a:r>
              <a:rPr lang="en-US" sz="1050" dirty="0">
                <a:latin typeface="Poppins" panose="00000500000000000000" pitchFamily="2" charset="0"/>
                <a:ea typeface="Verdana" panose="020B0604030504040204" pitchFamily="34" charset="0"/>
                <a:cs typeface="Poppins" panose="00000500000000000000" pitchFamily="2" charset="0"/>
              </a:rPr>
              <a:t>	{{fees.fica_pct}}%</a:t>
            </a:r>
          </a:p>
          <a:p>
            <a:pPr lvl="1"/>
            <a:r>
              <a:rPr lang="en-US" sz="1050" dirty="0">
                <a:latin typeface="Poppins" panose="00000500000000000000" pitchFamily="2" charset="0"/>
                <a:ea typeface="Verdana" panose="020B0604030504040204" pitchFamily="34" charset="0"/>
                <a:cs typeface="Poppins" panose="00000500000000000000" pitchFamily="2" charset="0"/>
              </a:rPr>
              <a:t>FUTA Federal Unemployment Tax </a:t>
            </a:r>
            <a:r>
              <a:rPr lang="en-US" sz="1050" spc="200" dirty="0">
                <a:latin typeface="Poppins" panose="00000500000000000000" pitchFamily="2" charset="0"/>
                <a:ea typeface="Verdana" panose="020B0604030504040204" pitchFamily="34" charset="0"/>
                <a:cs typeface="Poppins" panose="00000500000000000000" pitchFamily="2" charset="0"/>
              </a:rPr>
              <a:t>..................................................</a:t>
            </a:r>
            <a:r>
              <a:rPr lang="en-US" sz="1050" dirty="0">
                <a:latin typeface="Poppins" panose="00000500000000000000" pitchFamily="2" charset="0"/>
                <a:ea typeface="Verdana" panose="020B0604030504040204" pitchFamily="34" charset="0"/>
                <a:cs typeface="Poppins" panose="00000500000000000000" pitchFamily="2" charset="0"/>
              </a:rPr>
              <a:t>.	{{fees.futa_pct}}%</a:t>
            </a:r>
          </a:p>
          <a:p>
            <a:pPr lvl="1"/>
            <a:r>
              <a:rPr lang="en-US" sz="1050" dirty="0">
                <a:latin typeface="Poppins" panose="00000500000000000000" pitchFamily="2" charset="0"/>
                <a:ea typeface="Verdana" panose="020B0604030504040204" pitchFamily="34" charset="0"/>
                <a:cs typeface="Poppins" panose="00000500000000000000" pitchFamily="2" charset="0"/>
              </a:rPr>
              <a:t>SUTA AL State Unemployment Tax </a:t>
            </a:r>
            <a:r>
              <a:rPr lang="en-US" sz="1050" spc="200" dirty="0">
                <a:latin typeface="Poppins" panose="00000500000000000000" pitchFamily="2" charset="0"/>
                <a:ea typeface="Verdana" panose="020B0604030504040204" pitchFamily="34" charset="0"/>
                <a:cs typeface="Poppins" panose="00000500000000000000" pitchFamily="2" charset="0"/>
              </a:rPr>
              <a:t>..................................................	</a:t>
            </a:r>
            <a:r>
              <a:rPr lang="en-US" sz="1050" dirty="0">
                <a:latin typeface="Poppins" panose="00000500000000000000" pitchFamily="2" charset="0"/>
                <a:ea typeface="Verdana" panose="020B0604030504040204" pitchFamily="34" charset="0"/>
                <a:cs typeface="Poppins" panose="00000500000000000000" pitchFamily="2" charset="0"/>
              </a:rPr>
              <a:t>{{fees.suta_al_pct}}%</a:t>
            </a:r>
          </a:p>
          <a:p>
            <a:pPr lvl="1"/>
            <a:r>
              <a:rPr lang="en-US" sz="1050" dirty="0">
                <a:latin typeface="Poppins" panose="00000500000000000000" pitchFamily="2" charset="0"/>
                <a:ea typeface="Verdana" panose="020B0604030504040204" pitchFamily="34" charset="0"/>
                <a:cs typeface="Poppins" panose="00000500000000000000" pitchFamily="2" charset="0"/>
              </a:rPr>
              <a:t>SUTA GA State Unemployment Tax </a:t>
            </a:r>
            <a:r>
              <a:rPr lang="en-US" sz="1050" spc="200" dirty="0">
                <a:latin typeface="Poppins" panose="00000500000000000000" pitchFamily="2" charset="0"/>
                <a:ea typeface="Verdana" panose="020B0604030504040204" pitchFamily="34" charset="0"/>
                <a:cs typeface="Poppins" panose="00000500000000000000" pitchFamily="2" charset="0"/>
              </a:rPr>
              <a:t>................................................. </a:t>
            </a:r>
            <a:r>
              <a:rPr lang="en-US" sz="1050" dirty="0">
                <a:latin typeface="Poppins" panose="00000500000000000000" pitchFamily="2" charset="0"/>
                <a:ea typeface="Verdana" panose="020B0604030504040204" pitchFamily="34" charset="0"/>
                <a:cs typeface="Poppins" panose="00000500000000000000" pitchFamily="2" charset="0"/>
              </a:rPr>
              <a:t>{{fees.suta_ga_pct}}% SUTA FL State Unemployment Tax </a:t>
            </a:r>
            <a:r>
              <a:rPr lang="en-US" sz="1050" spc="200" dirty="0">
                <a:latin typeface="Poppins" panose="00000500000000000000" pitchFamily="2" charset="0"/>
                <a:ea typeface="Verdana" panose="020B0604030504040204" pitchFamily="34" charset="0"/>
                <a:cs typeface="Poppins" panose="00000500000000000000" pitchFamily="2" charset="0"/>
              </a:rPr>
              <a:t>...................................................	</a:t>
            </a:r>
            <a:r>
              <a:rPr lang="en-US" sz="1050" dirty="0">
                <a:latin typeface="Poppins" panose="00000500000000000000" pitchFamily="2" charset="0"/>
                <a:ea typeface="Verdana" panose="020B0604030504040204" pitchFamily="34" charset="0"/>
                <a:cs typeface="Poppins" panose="00000500000000000000" pitchFamily="2" charset="0"/>
              </a:rPr>
              <a:t>{{fees.suta_fl_pct}}% </a:t>
            </a:r>
            <a:endParaRPr lang="en-US" sz="800" dirty="0">
              <a:latin typeface="Poppins" panose="00000500000000000000" pitchFamily="2" charset="0"/>
              <a:ea typeface="Verdana" panose="020B0604030504040204" pitchFamily="34" charset="0"/>
              <a:cs typeface="Poppins" panose="00000500000000000000" pitchFamily="2" charset="0"/>
            </a:endParaRPr>
          </a:p>
          <a:p>
            <a:pPr lvl="1"/>
            <a:endParaRPr lang="en-US" sz="800" dirty="0">
              <a:latin typeface="Poppins" panose="00000500000000000000" pitchFamily="2" charset="0"/>
              <a:ea typeface="Verdana" panose="020B0604030504040204" pitchFamily="34" charset="0"/>
              <a:cs typeface="Poppins" panose="00000500000000000000" pitchFamily="2" charset="0"/>
            </a:endParaRPr>
          </a:p>
          <a:p>
            <a:pPr>
              <a:lnSpc>
                <a:spcPct val="150000"/>
              </a:lnSpc>
            </a:pPr>
            <a:r>
              <a:rPr lang="en-US" sz="1400" dirty="0">
                <a:latin typeface="Poppins" panose="00000500000000000000" pitchFamily="2" charset="0"/>
                <a:ea typeface="Verdana" panose="020B0604030504040204" pitchFamily="34" charset="0"/>
                <a:cs typeface="Poppins" panose="00000500000000000000" pitchFamily="2" charset="0"/>
              </a:rPr>
              <a:t>Workers Compensation Insurance</a:t>
            </a:r>
          </a:p>
          <a:p>
            <a:pPr lvl="1">
              <a:lnSpc>
                <a:spcPct val="150000"/>
              </a:lnSpc>
            </a:pPr>
            <a:r>
              <a:rPr lang="en-US" sz="1050" dirty="0">
                <a:latin typeface="Poppins" panose="00000500000000000000" pitchFamily="2" charset="0"/>
                <a:ea typeface="Verdana" panose="020B0604030504040204" pitchFamily="34" charset="0"/>
                <a:cs typeface="Poppins" panose="00000500000000000000" pitchFamily="2" charset="0"/>
              </a:rPr>
              <a:t>Clerical Office Employee  AL.8810 </a:t>
            </a:r>
            <a:r>
              <a:rPr lang="en-US" sz="1050" spc="200" dirty="0">
                <a:latin typeface="Poppins" panose="00000500000000000000" pitchFamily="2" charset="0"/>
                <a:ea typeface="Verdana" panose="020B0604030504040204" pitchFamily="34" charset="0"/>
                <a:cs typeface="Poppins" panose="00000500000000000000" pitchFamily="2" charset="0"/>
              </a:rPr>
              <a:t>..................................................</a:t>
            </a:r>
            <a:r>
              <a:rPr lang="en-US" sz="1050" spc="300" dirty="0">
                <a:latin typeface="Poppins" panose="00000500000000000000" pitchFamily="2" charset="0"/>
                <a:ea typeface="Verdana" panose="020B0604030504040204" pitchFamily="34" charset="0"/>
                <a:cs typeface="Poppins" panose="00000500000000000000" pitchFamily="2" charset="0"/>
              </a:rPr>
              <a:t>	</a:t>
            </a:r>
            <a:r>
              <a:rPr lang="en-US" sz="1050" dirty="0">
                <a:latin typeface="Poppins" panose="00000500000000000000" pitchFamily="2" charset="0"/>
                <a:ea typeface="Verdana" panose="020B0604030504040204" pitchFamily="34" charset="0"/>
                <a:cs typeface="Poppins" panose="00000500000000000000" pitchFamily="2" charset="0"/>
              </a:rPr>
              <a:t>{{fees.wc_8810_pct}}%</a:t>
            </a:r>
          </a:p>
          <a:p>
            <a:pPr lvl="1">
              <a:lnSpc>
                <a:spcPct val="150000"/>
              </a:lnSpc>
            </a:pPr>
            <a:r>
              <a:rPr lang="en-US" sz="1050" dirty="0">
                <a:latin typeface="Poppins" panose="00000500000000000000" pitchFamily="2" charset="0"/>
                <a:ea typeface="Verdana" panose="020B0604030504040204" pitchFamily="34" charset="0"/>
                <a:cs typeface="Poppins" panose="00000500000000000000" pitchFamily="2" charset="0"/>
              </a:rPr>
              <a:t>Outside Sales FL.8742 </a:t>
            </a:r>
            <a:r>
              <a:rPr lang="en-US" sz="1050" spc="200" dirty="0">
                <a:latin typeface="Poppins" panose="00000500000000000000" pitchFamily="2" charset="0"/>
                <a:ea typeface="Verdana" panose="020B0604030504040204" pitchFamily="34" charset="0"/>
                <a:cs typeface="Poppins" panose="00000500000000000000" pitchFamily="2" charset="0"/>
              </a:rPr>
              <a:t>................................................................</a:t>
            </a:r>
            <a:r>
              <a:rPr lang="en-US" sz="1000" spc="300" dirty="0">
                <a:latin typeface="Poppins" panose="00000500000000000000" pitchFamily="2" charset="0"/>
                <a:ea typeface="Verdana" panose="020B0604030504040204" pitchFamily="34" charset="0"/>
                <a:cs typeface="Poppins" panose="00000500000000000000" pitchFamily="2" charset="0"/>
              </a:rPr>
              <a:t>  </a:t>
            </a:r>
            <a:r>
              <a:rPr lang="en-US" sz="1050" dirty="0">
                <a:latin typeface="Poppins" panose="00000500000000000000" pitchFamily="2" charset="0"/>
                <a:ea typeface="Verdana" panose="020B0604030504040204" pitchFamily="34" charset="0"/>
                <a:cs typeface="Poppins" panose="00000500000000000000" pitchFamily="2" charset="0"/>
              </a:rPr>
              <a:t>{{fees.wc_8742_pct}}% HVAC FL.8010 </a:t>
            </a:r>
            <a:r>
              <a:rPr lang="en-US" sz="1050" spc="200" dirty="0">
                <a:latin typeface="Poppins" panose="00000500000000000000" pitchFamily="2" charset="0"/>
                <a:ea typeface="Verdana" panose="020B0604030504040204" pitchFamily="34" charset="0"/>
                <a:cs typeface="Poppins" panose="00000500000000000000" pitchFamily="2" charset="0"/>
              </a:rPr>
              <a:t>..........................................................................</a:t>
            </a:r>
            <a:r>
              <a:rPr lang="en-US" sz="1000" spc="300" dirty="0">
                <a:latin typeface="Poppins" panose="00000500000000000000" pitchFamily="2" charset="0"/>
                <a:ea typeface="Verdana" panose="020B0604030504040204" pitchFamily="34" charset="0"/>
                <a:cs typeface="Poppins" panose="00000500000000000000" pitchFamily="2" charset="0"/>
              </a:rPr>
              <a:t>	</a:t>
            </a:r>
            <a:r>
              <a:rPr lang="en-US" sz="1050" dirty="0">
                <a:latin typeface="Poppins" panose="00000500000000000000" pitchFamily="2" charset="0"/>
                <a:ea typeface="Verdana" panose="020B0604030504040204" pitchFamily="34" charset="0"/>
                <a:cs typeface="Poppins" panose="00000500000000000000" pitchFamily="2" charset="0"/>
              </a:rPr>
              <a:t>{{fees.wc_8010_pct}}% HVAC AL.8010 </a:t>
            </a:r>
            <a:r>
              <a:rPr lang="en-US" sz="1050" spc="200" dirty="0">
                <a:latin typeface="Poppins" panose="00000500000000000000" pitchFamily="2" charset="0"/>
                <a:ea typeface="Verdana" panose="020B0604030504040204" pitchFamily="34" charset="0"/>
                <a:cs typeface="Poppins" panose="00000500000000000000" pitchFamily="2" charset="0"/>
              </a:rPr>
              <a:t>.......................................................................... </a:t>
            </a:r>
            <a:r>
              <a:rPr lang="en-US" sz="1050" dirty="0">
                <a:latin typeface="Poppins" panose="00000500000000000000" pitchFamily="2" charset="0"/>
                <a:ea typeface="Verdana" panose="020B0604030504040204" pitchFamily="34" charset="0"/>
                <a:cs typeface="Poppins" panose="00000500000000000000" pitchFamily="2" charset="0"/>
              </a:rPr>
              <a:t> {{fees.wc_8010_pct}}%</a:t>
            </a:r>
          </a:p>
        </p:txBody>
      </p:sp>
      <p:sp>
        <p:nvSpPr>
          <p:cNvPr id="2057" name="Rectangle 2056">
            <a:extLst>
              <a:ext uri="{FF2B5EF4-FFF2-40B4-BE49-F238E27FC236}">
                <a16:creationId xmlns:a16="http://schemas.microsoft.com/office/drawing/2014/main" id="{51336113-42DA-5FEB-378B-FFABB9BDBA34}"/>
              </a:ext>
            </a:extLst>
          </p:cNvPr>
          <p:cNvSpPr/>
          <p:nvPr/>
        </p:nvSpPr>
        <p:spPr>
          <a:xfrm>
            <a:off x="4996639" y="1245394"/>
            <a:ext cx="295275" cy="283369"/>
          </a:xfrm>
          <a:prstGeom prst="rect">
            <a:avLst/>
          </a:prstGeom>
          <a:solidFill>
            <a:srgbClr val="0057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052A885-306A-AA5C-1043-F35B9D5DA2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4215" y="336116"/>
            <a:ext cx="8207668" cy="986702"/>
          </a:xfrm>
          <a:prstGeom prst="rect">
            <a:avLst/>
          </a:prstGeom>
        </p:spPr>
      </p:pic>
      <p:pic>
        <p:nvPicPr>
          <p:cNvPr id="6" name="Graphic 5">
            <a:extLst>
              <a:ext uri="{FF2B5EF4-FFF2-40B4-BE49-F238E27FC236}">
                <a16:creationId xmlns:a16="http://schemas.microsoft.com/office/drawing/2014/main" id="{C042BFC8-1BED-0FBB-76A8-0F21B0638D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4140" y="6466646"/>
            <a:ext cx="1774506" cy="260163"/>
          </a:xfrm>
          <a:prstGeom prst="rect">
            <a:avLst/>
          </a:prstGeom>
        </p:spPr>
      </p:pic>
      <p:pic>
        <p:nvPicPr>
          <p:cNvPr id="2050" name="Picture 2" descr="{{organizationLogo}}">
            <a:extLst>
              <a:ext uri="{FF2B5EF4-FFF2-40B4-BE49-F238E27FC236}">
                <a16:creationId xmlns:a16="http://schemas.microsoft.com/office/drawing/2014/main" id="{D8B1ECF5-1170-B6BD-B45C-30E50F0877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0321" y="2020412"/>
            <a:ext cx="3143250" cy="2447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245052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lientID xmlns="85c43a9d-6cda-47c9-aaf0-1112e7ba9f38" xsi:nil="true"/>
    <lcf76f155ced4ddcb4097134ff3c332f xmlns="85c43a9d-6cda-47c9-aaf0-1112e7ba9f38">
      <Terms xmlns="http://schemas.microsoft.com/office/infopath/2007/PartnerControls"/>
    </lcf76f155ced4ddcb4097134ff3c332f>
    <TaxCatchAll xmlns="550d6d3d-1ce9-41f1-8a08-f507340f9a1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B5702917154C449841D5ADEE1BE6017" ma:contentTypeVersion="16" ma:contentTypeDescription="Create a new document." ma:contentTypeScope="" ma:versionID="9a4daa7aed9433f9870471884ce9a2b2">
  <xsd:schema xmlns:xsd="http://www.w3.org/2001/XMLSchema" xmlns:xs="http://www.w3.org/2001/XMLSchema" xmlns:p="http://schemas.microsoft.com/office/2006/metadata/properties" xmlns:ns2="85c43a9d-6cda-47c9-aaf0-1112e7ba9f38" xmlns:ns3="550d6d3d-1ce9-41f1-8a08-f507340f9a10" targetNamespace="http://schemas.microsoft.com/office/2006/metadata/properties" ma:root="true" ma:fieldsID="3068452bbaf05bf4fde9ca3cf24bb725" ns2:_="" ns3:_="">
    <xsd:import namespace="85c43a9d-6cda-47c9-aaf0-1112e7ba9f38"/>
    <xsd:import namespace="550d6d3d-1ce9-41f1-8a08-f507340f9a1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element ref="ns3:SharedWithUsers" minOccurs="0"/>
                <xsd:element ref="ns3:SharedWithDetails" minOccurs="0"/>
                <xsd:element ref="ns2:Clien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c43a9d-6cda-47c9-aaf0-1112e7ba9f3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d5826be-6d06-4181-9563-3e972ee821a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ClientID" ma:index="23" nillable="true" ma:displayName="Client ID" ma:format="Dropdown" ma:internalName="ClientID">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50d6d3d-1ce9-41f1-8a08-f507340f9a1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9260eb2-6e1f-468c-a89f-62d18132da79}" ma:internalName="TaxCatchAll" ma:showField="CatchAllData" ma:web="550d6d3d-1ce9-41f1-8a08-f507340f9a1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4813A5-0FF4-427F-80AB-14797F94992F}">
  <ds:schemaRefs>
    <ds:schemaRef ds:uri="http://schemas.microsoft.com/sharepoint/v3/contenttype/forms"/>
  </ds:schemaRefs>
</ds:datastoreItem>
</file>

<file path=customXml/itemProps2.xml><?xml version="1.0" encoding="utf-8"?>
<ds:datastoreItem xmlns:ds="http://schemas.openxmlformats.org/officeDocument/2006/customXml" ds:itemID="{99D2170A-2633-4008-BE65-C99311A13402}">
  <ds:schemaRefs>
    <ds:schemaRef ds:uri="http://www.w3.org/XML/1998/namespace"/>
    <ds:schemaRef ds:uri="http://purl.org/dc/elements/1.1/"/>
    <ds:schemaRef ds:uri="http://schemas.microsoft.com/office/2006/documentManagement/types"/>
    <ds:schemaRef ds:uri="http://purl.org/dc/term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550d6d3d-1ce9-41f1-8a08-f507340f9a10"/>
    <ds:schemaRef ds:uri="85c43a9d-6cda-47c9-aaf0-1112e7ba9f38"/>
  </ds:schemaRefs>
</ds:datastoreItem>
</file>

<file path=customXml/itemProps3.xml><?xml version="1.0" encoding="utf-8"?>
<ds:datastoreItem xmlns:ds="http://schemas.openxmlformats.org/officeDocument/2006/customXml" ds:itemID="{D4DC200C-0D16-4321-94E0-BDA6FA7DA1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c43a9d-6cda-47c9-aaf0-1112e7ba9f38"/>
    <ds:schemaRef ds:uri="550d6d3d-1ce9-41f1-8a08-f507340f9a1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17197</TotalTime>
  <Words>1563</Words>
  <Application>Microsoft Office PowerPoint</Application>
  <PresentationFormat>Widescreen</PresentationFormat>
  <Paragraphs>169</Paragraphs>
  <Slides>13</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13</vt:i4>
      </vt:variant>
    </vt:vector>
  </HeadingPairs>
  <TitlesOfParts>
    <vt:vector size="25" baseType="lpstr">
      <vt:lpstr>Aptos</vt:lpstr>
      <vt:lpstr>Arial</vt:lpstr>
      <vt:lpstr>Cabin</vt:lpstr>
      <vt:lpstr>Calibri</vt:lpstr>
      <vt:lpstr>Calibri Light</vt:lpstr>
      <vt:lpstr>Gisha</vt:lpstr>
      <vt:lpstr>Poppins</vt:lpstr>
      <vt:lpstr>Poppins Black</vt:lpstr>
      <vt:lpstr>Poppins Light</vt:lpstr>
      <vt:lpstr>Poppins Medium</vt:lpstr>
      <vt:lpstr>Tondu Beta</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Garrett  Helmers</dc:creator>
  <cp:lastModifiedBy>Garrett  Helmers</cp:lastModifiedBy>
  <cp:revision>29</cp:revision>
  <dcterms:created xsi:type="dcterms:W3CDTF">2025-03-28T14:22:36Z</dcterms:created>
  <dcterms:modified xsi:type="dcterms:W3CDTF">2026-04-21T17:59:46Z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0x010100BB5702917154C449841D5ADEE1BE6017</vt:lpwstr>
  </property>
</Properties>
</file>